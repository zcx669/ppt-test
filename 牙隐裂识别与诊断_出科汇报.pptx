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临床上经常可以看到牙面的细小裂纹，很多患者看到裂纹后会担心牙齿是否需要根管治疗。釉质裂纹、牙隐裂和牙根纵裂并不是同一个概念。今天先讨论如何识别裂纹、如何诊断，再结合一例伴颞部牵涉痛的文献病例，说明为什么不能仅凭看到裂纹就进行不可逆治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先，看到裂纹并不能直接诊断为需要处理的牙隐裂。很多细小裂纹仅见于釉质，患者没有症状，牙髓和牙周检查也没有异常。真正需要警惕的是裂纹与咬合痛、冷热刺激痛、反复症状或局限性牙周异常同时出现。这里要回答三个问题：裂纹可能有多深、组织是否受影响、裂纹能否解释当前症状。单凭外观并不能可靠判断裂纹深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诊断应当循序进行。先问清症状与咀嚼、冷热刺激、时间的关系，再放大观察、透照和分牙尖咬合检查。之后用冷测、电测和牙周探诊判断牙髓、牙周是否受累。常规影像主要看根尖周和其他结构异常；CBCT在有指征时可辅助排除根折等，但细小裂纹可能仍无法显示。检查不一致时可以考虑诊断性局麻。任何单项检查都只能提供证据，不能独立证明裂纹是疼痛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一例公开发表的文献病例。患者为36岁女性，右侧磨牙区间歇性疼痛，进食后偶有自发痛，且向同侧颞部放散。根尖片和全景片没有显示明显根尖周病变。原先就诊时还曾怀疑上颌第二磨牙，这说明症状定位并不直观。颞部牵涉痛也不能直接归入颞下颌关节或头痛疾病，因此这里先提出问题：疼痛是否牙源性，真正的责任牙是哪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进一步检查发现右下第一磨牙舌侧有可见裂纹。冷测和电测提示牙髓敏感性正常，牙周探诊不超过3毫米。需要特别注意，原文的叩诊和咬合负荷试验是阴性，不能把它们说成阳性证据。CBCT未显示明确垂直根折、根尖周病变或牙髓受累。诊断性局麻后，咬合痛、温度痛和颞部牵涉痛暂时消失，这更有力地支持牙源性疼痛。综合所有检查，作者把釉质裂纹判断为最可能的疼痛来源，但没有声称已经证明因果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病例的价值在于治疗决策。医生没有因为见到裂纹就立即进行根管治疗。因为牙髓敏感性正常，没有明确根折或根尖病变，裂纹表现较浅，先选择微创局部处理。作者沿裂纹制备浅沟，酸蚀后用MMA基粘接材料封闭，随后定期复查。这里的处理属于个体化病例方案，并不能简单推广到所有有症状裂纹牙；若以后出现持续性牙髓症状或牙周异常，治疗路径仍需重新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裂纹封闭后症状消失，作者报告患者在三年随访期间没有疼痛复发，也未进行根管治疗，牙髓活力得以保留。这个随访结果支持当时的保守选择，也支持裂纹可能与疼痛相关。不过单个病例的治疗反应不能独立证明裂纹一定是唯一原因，心理压力、紧咬等因素也可能影响疼痛感知。汇报时应使用‘最可能的疼痛来源’，避免说成绝对确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总结，面对牙面裂纹时，不能只问‘有没有裂纹’。还要判断裂纹是否影响牙髓或牙周，以及它能否解释眼前的症状。无症状、局限于釉质的裂纹可以记录并观察；有咬合痛、冷热痛或牙周异常时，应该系统检查。多项检查相互支持时，再选择观察、粘接封闭、修复或牙髓治疗。发现裂纹本身，并不是立即做根管治疗的理由。病例来源是Healthcare 2026年的开放获取报告，诊断方法参考Dental Journal 2026年的系统综述。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总结，面对牙面裂纹时，不能只问‘有没有裂纹’。还要判断裂纹是否影响牙髓或牙周，以及它能否解释眼前的症状。无症状、局限于釉质的裂纹可以记录并观察；有咬合痛、冷热痛或牙周异常时，应该系统检查。多项检查相互支持时，再选择观察、粘接封闭、修复或牙髓治疗。发现裂纹本身，并不是立即做根管治疗的理由。病例来源是Healthcare 2026年的开放获取报告，诊断方法参考Dental Journal 2026年的系统综述。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91056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91056" y="0"/>
            <a:ext cx="91440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75688" y="1371600"/>
            <a:ext cx="640080" cy="6400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6733" y="-4318"/>
            <a:ext cx="3603413" cy="7680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84831" y="1664208"/>
            <a:ext cx="9464040" cy="8229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看到裂纹就要做根管吗？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70048"/>
            <a:ext cx="9098280" cy="62179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牙隐裂的识别与诊断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392424"/>
            <a:ext cx="8915400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一例伴颞部牵涉痛患牙的病例分析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21408" y="4370832"/>
            <a:ext cx="873252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4645152"/>
            <a:ext cx="8778240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汇报人：________    牙体牙髓科    长沙市口腔医院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971032"/>
            <a:ext cx="891540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文献病例  ·  8分钟出科汇报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81328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0"/>
            <a:ext cx="73152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38912"/>
            <a:ext cx="109728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长沙市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口腔医院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08176"/>
            <a:ext cx="713232" cy="4114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56816"/>
            <a:ext cx="1088136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识别裂纹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199632"/>
            <a:ext cx="10058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 / 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6665" y="66320"/>
            <a:ext cx="3200399" cy="682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868680"/>
            <a:ext cx="97840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釉质裂纹不等于牙隐裂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527048"/>
            <a:ext cx="992124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6501384"/>
            <a:ext cx="973836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Dent J. 2026;14:482  |  doi:10.3390/dj14080482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792224"/>
            <a:ext cx="8869680" cy="42062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看到裂纹，先回答三个问题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2313432"/>
            <a:ext cx="438912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62430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2304288"/>
            <a:ext cx="813816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裂纹是否仅限于釉质？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" y="2852927"/>
            <a:ext cx="438912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62430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843784"/>
            <a:ext cx="813816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是否有明确咬合痛或冷热刺激痛？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3392424"/>
            <a:ext cx="438912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62430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3383280"/>
            <a:ext cx="8138160" cy="4023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牙髓或牙周组织是否受影响？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75104" y="4251960"/>
            <a:ext cx="4617720" cy="1682496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39128" y="4251960"/>
            <a:ext cx="4764024" cy="1682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4462272"/>
            <a:ext cx="40233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常见釉质裂纹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4882896"/>
            <a:ext cx="4069080" cy="8961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浅表、常无症状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牙髓与牙周检查多无异常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记录、评估并观察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4462272"/>
            <a:ext cx="41148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62430"/>
                </a:solidFill>
                <a:latin typeface="微软雅黑" panose="020B0503020204020204" charset="-122"/>
              </a:defRPr>
            </a:pPr>
            <a:r>
              <a:t>需要警惕的裂纹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882896"/>
            <a:ext cx="4160520" cy="8961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咬合痛或冷热刺激痛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症状反复或难以定位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可能伴牙髓或局限性牙周异常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81328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0"/>
            <a:ext cx="73152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38912"/>
            <a:ext cx="109728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长沙市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口腔医院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08176"/>
            <a:ext cx="713232" cy="4114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56816"/>
            <a:ext cx="1088136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诊断路径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199632"/>
            <a:ext cx="10058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 / 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1110" y="141250"/>
            <a:ext cx="3200399" cy="682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868680"/>
            <a:ext cx="97840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从看见裂纹到形成诊断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527048"/>
            <a:ext cx="992124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6501384"/>
            <a:ext cx="973836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Dent J. 2026;14:482  |  doi:10.3390/dj14080482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810512"/>
            <a:ext cx="603504" cy="530352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9112" y="1883664"/>
            <a:ext cx="54864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783080"/>
            <a:ext cx="425196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病史与疼痛定位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01368"/>
            <a:ext cx="4782312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诱因、持续时间、牵涉痛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340864"/>
            <a:ext cx="22860" cy="173736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11680" y="2523744"/>
            <a:ext cx="603504" cy="530352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9112" y="2596896"/>
            <a:ext cx="54864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496312"/>
            <a:ext cx="425196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放大观察与透照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14600"/>
            <a:ext cx="4782312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裂纹位置、方向、染色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3054096"/>
            <a:ext cx="22860" cy="173736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11680" y="3236976"/>
            <a:ext cx="603504" cy="530352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9112" y="3310128"/>
            <a:ext cx="54864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209544"/>
            <a:ext cx="425196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分牙尖咬合试验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227832"/>
            <a:ext cx="4782312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疼痛是否可重复定位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767328"/>
            <a:ext cx="22860" cy="173736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011680" y="3950208"/>
            <a:ext cx="603504" cy="530352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39112" y="4023360"/>
            <a:ext cx="54864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922776"/>
            <a:ext cx="425196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牙髓检查与牙周探诊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941064"/>
            <a:ext cx="4782312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冷测、电测、局限性深袋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4480560"/>
            <a:ext cx="22860" cy="173736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011680" y="4663440"/>
            <a:ext cx="603504" cy="530352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39112" y="4736592"/>
            <a:ext cx="548640" cy="3200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636007"/>
            <a:ext cx="4251960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必要时补充检查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654296"/>
            <a:ext cx="4782312" cy="3566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根尖片／CBCT／诊断性麻醉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29968" y="5513832"/>
            <a:ext cx="9418320" cy="576072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67712" y="5614416"/>
            <a:ext cx="8915400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单项检查不确诊   ·   CBCT阴性不排除细小裂纹   ·   裂纹存在不等于致痛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81328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0"/>
            <a:ext cx="73152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38912"/>
            <a:ext cx="109728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长沙市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口腔医院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08176"/>
            <a:ext cx="713232" cy="4114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56816"/>
            <a:ext cx="1088136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病例初诊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199632"/>
            <a:ext cx="10058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 / 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4760" y="175540"/>
            <a:ext cx="3200399" cy="682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868680"/>
            <a:ext cx="97840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病例初诊：疼痛来自哪里？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527048"/>
            <a:ext cx="992124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6501384"/>
            <a:ext cx="973836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Shimizu K et al. Healthcare. 2026;14:2001  |  doi:10.3390/healthcare14132001  |  CC BY 4.0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3392" y="1874519"/>
            <a:ext cx="5989320" cy="4087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949" y="1874519"/>
            <a:ext cx="3096204" cy="40873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302752" y="1883664"/>
            <a:ext cx="3236976" cy="3227832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2084831"/>
            <a:ext cx="246888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文献病例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542032"/>
            <a:ext cx="2724912" cy="22402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36岁女性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右侧磨牙区间歇痛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进食后偶发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向同侧颞部放散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常规影像无明显根尖病变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5266944"/>
            <a:ext cx="3236976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6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376672"/>
            <a:ext cx="2980944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2430"/>
                </a:solidFill>
                <a:latin typeface="微软雅黑" panose="020B0503020204020204" charset="-122"/>
              </a:defRPr>
            </a:pPr>
            <a:r>
              <a:t>牙源性，还是非牙源性？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81328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0"/>
            <a:ext cx="73152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38912"/>
            <a:ext cx="109728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长沙市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口腔医院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08176"/>
            <a:ext cx="713232" cy="4114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56816"/>
            <a:ext cx="1088136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鉴别诊断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199632"/>
            <a:ext cx="10058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 / 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6025" y="138710"/>
            <a:ext cx="3200399" cy="682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868680"/>
            <a:ext cx="97840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关键证据：裂纹与疼痛如何关联？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527048"/>
            <a:ext cx="992124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6501384"/>
            <a:ext cx="973836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Shimizu K et al. Healthcare. 2026;14:2001  |  doi:10.3390/healthcare14132001  |  CC BY 4.0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75104" y="1865376"/>
            <a:ext cx="4773168" cy="2478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587" y="1865376"/>
            <a:ext cx="4702201" cy="247802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959352" y="4471416"/>
            <a:ext cx="19202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151" y="4471416"/>
            <a:ext cx="886641" cy="1645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993392" y="4837176"/>
            <a:ext cx="1929384" cy="58521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CBCT：未见明确病变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8" y="2194560"/>
            <a:ext cx="91440" cy="91440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2011680"/>
            <a:ext cx="43342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舌侧可见釉质裂纹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2779776"/>
            <a:ext cx="91440" cy="91440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2596896"/>
            <a:ext cx="43342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冷测、电测：正常牙髓敏感性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67728" y="3364992"/>
            <a:ext cx="91440" cy="91440"/>
          </a:xfrm>
          <a:prstGeom prst="roundRect">
            <a:avLst>
              <a:gd name="adj" fmla="val 5000"/>
            </a:avLst>
          </a:prstGeom>
          <a:solidFill>
            <a:srgbClr val="53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2" y="3182112"/>
            <a:ext cx="43342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叩诊与咬合负荷试验：阴性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67728" y="3950208"/>
            <a:ext cx="91440" cy="91440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3767328"/>
            <a:ext cx="43342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CBCT：未见明确根折或根尖病变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67728" y="4535424"/>
            <a:ext cx="91440" cy="91440"/>
          </a:xfrm>
          <a:prstGeom prst="roundRect">
            <a:avLst>
              <a:gd name="adj" fmla="val 5000"/>
            </a:avLst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4352544"/>
            <a:ext cx="4334256" cy="5303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局麻后咬合痛、温度痛和颞部牵涉痛消失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95160" y="5138928"/>
            <a:ext cx="4489704" cy="932688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5285232"/>
            <a:ext cx="4041648" cy="6400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裂纹是最可能的疼痛来源，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仍属于概率性诊断。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81328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0"/>
            <a:ext cx="73152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38912"/>
            <a:ext cx="109728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长沙市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口腔医院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08176"/>
            <a:ext cx="713232" cy="4114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56816"/>
            <a:ext cx="1088136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治疗决策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199632"/>
            <a:ext cx="10058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 / 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75540"/>
            <a:ext cx="3200399" cy="682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868680"/>
            <a:ext cx="97840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为什么选择封闭裂纹、保留牙髓？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527048"/>
            <a:ext cx="992124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6501384"/>
            <a:ext cx="973836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Shimizu K et al. Healthcare. 2026;14:2001  |  doi:10.3390/healthcare14132001  |  CC BY 4.0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1883664"/>
            <a:ext cx="4974336" cy="4187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837" y="1883664"/>
            <a:ext cx="3660580" cy="41879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42048" y="1920240"/>
            <a:ext cx="420624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决策依据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2596896"/>
            <a:ext cx="91440" cy="91440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414016"/>
            <a:ext cx="4014216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牙髓敏感性正常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3127248"/>
            <a:ext cx="91440" cy="91440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944368"/>
            <a:ext cx="4014216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未见明确根折或根尖病变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3657600"/>
            <a:ext cx="91440" cy="91440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3474720"/>
            <a:ext cx="4014216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裂纹可能局限于釉质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0336" y="4187952"/>
            <a:ext cx="91440" cy="91440"/>
          </a:xfrm>
          <a:prstGeom prst="roundRect">
            <a:avLst>
              <a:gd name="adj" fmla="val 5000"/>
            </a:avLst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4005072"/>
            <a:ext cx="4014216" cy="4754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可通过定期复查评估变化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2904" y="4709160"/>
            <a:ext cx="4288536" cy="1316736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4956048"/>
            <a:ext cx="3886200" cy="8046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浅沟处理 → 酸蚀 → MMA基粘接封闭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保留活髓，持续随访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81328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0"/>
            <a:ext cx="73152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38912"/>
            <a:ext cx="109728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长沙市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口腔医院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08176"/>
            <a:ext cx="713232" cy="4114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56816"/>
            <a:ext cx="1088136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随访反思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199632"/>
            <a:ext cx="10058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 / 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5390" y="175540"/>
            <a:ext cx="3200399" cy="682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868680"/>
            <a:ext cx="97840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三年随访：结果支持什么？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527048"/>
            <a:ext cx="992124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6501384"/>
            <a:ext cx="973836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Shimizu K et al. Healthcare. 2026;14:2001  |  doi:10.3390/healthcare14132001  |  CC BY 4.0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3392" y="1874519"/>
            <a:ext cx="4800600" cy="4169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695" y="1874519"/>
            <a:ext cx="3087993" cy="416966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23176" y="1901952"/>
            <a:ext cx="4315968" cy="2075688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2112264"/>
            <a:ext cx="36576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随访结果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2606040"/>
            <a:ext cx="3730752" cy="10972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封闭后症状消失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3年随访无疼痛复发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未行根管治疗，牙髓活力保留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23176" y="4242816"/>
            <a:ext cx="431596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4443984"/>
            <a:ext cx="361188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62430"/>
                </a:solidFill>
                <a:latin typeface="微软雅黑" panose="020B0503020204020204" charset="-122"/>
              </a:defRPr>
            </a:pPr>
            <a:r>
              <a:t>诊断边界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4" y="4928616"/>
            <a:ext cx="3657600" cy="8595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治疗反应支持裂纹为最可能来源；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F2A37"/>
                </a:solidFill>
                <a:latin typeface="微软雅黑" panose="020B0503020204020204" charset="-122"/>
              </a:defRPr>
            </a:pPr>
            <a:r>
              <a:t>单病例不能证明绝对因果关系。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81328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0"/>
            <a:ext cx="73152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38912"/>
            <a:ext cx="109728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长沙市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口腔医院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08176"/>
            <a:ext cx="713232" cy="4114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56816"/>
            <a:ext cx="1088136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临床总结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199632"/>
            <a:ext cx="10058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08 / 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75540"/>
            <a:ext cx="3200399" cy="682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868680"/>
            <a:ext cx="97840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临床总结：三层判断，逐级处理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527048"/>
            <a:ext cx="992124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6501384"/>
            <a:ext cx="973836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长沙市口腔医院  ·  牙体牙髓科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4248" y="1865376"/>
            <a:ext cx="9418320" cy="832104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011680"/>
            <a:ext cx="576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956816"/>
            <a:ext cx="3904487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裂纹是否真实存在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322576"/>
            <a:ext cx="7909560" cy="265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放大观察、透照、记录位置和方向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84248" y="2852928"/>
            <a:ext cx="9418320" cy="832104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2999232"/>
            <a:ext cx="576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9232" y="2944368"/>
            <a:ext cx="3904487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是否影响牙髓或牙周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310128"/>
            <a:ext cx="7909560" cy="265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冷测、电测、牙周探诊与影像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84248" y="3840480"/>
            <a:ext cx="9418320" cy="832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3986784"/>
            <a:ext cx="576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62430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3931920"/>
            <a:ext cx="3904487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能否解释当前症状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4297680"/>
            <a:ext cx="7909560" cy="265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结合咬合痛、牵涉痛与诊断性局麻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5047488"/>
            <a:ext cx="9400032" cy="722376"/>
          </a:xfrm>
          <a:prstGeom prst="roundRect">
            <a:avLst>
              <a:gd name="adj" fmla="val 5000"/>
            </a:avLst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1992" y="5212080"/>
            <a:ext cx="89154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发现裂纹 ≠ 立即根管治疗；治疗取决于症状、组织状态和随访。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4248" y="5971032"/>
            <a:ext cx="9537192" cy="3017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病例：Healthcare. 2026;14:2001, doi:10.3390/healthcare14132001  ·  诊断综述：Dent J. 2026, doi:10.3390/dj14080482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81328" cy="6858000"/>
          </a:xfrm>
          <a:prstGeom prst="rect">
            <a:avLst/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81328" y="0"/>
            <a:ext cx="73152" cy="6858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438912"/>
            <a:ext cx="109728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长沙市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口腔医院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408176"/>
            <a:ext cx="713232" cy="41148"/>
          </a:xfrm>
          <a:prstGeom prst="rect">
            <a:avLst/>
          </a:prstGeom>
          <a:solidFill>
            <a:srgbClr val="E6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956816"/>
            <a:ext cx="1088136" cy="10058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临床总结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199632"/>
            <a:ext cx="10058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08 / 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75540"/>
            <a:ext cx="3200399" cy="6821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868680"/>
            <a:ext cx="9784080" cy="5943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临床总结：三层判断，逐级处理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1527048"/>
            <a:ext cx="9921240" cy="22860"/>
          </a:xfrm>
          <a:prstGeom prst="rect">
            <a:avLst/>
          </a:prstGeom>
          <a:solidFill>
            <a:srgbClr val="D0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6501384"/>
            <a:ext cx="973836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长沙市口腔医院  ·  牙体牙髓科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4248" y="1865376"/>
            <a:ext cx="9418320" cy="832104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2"/>
            </p:custDataLst>
          </p:nvPr>
        </p:nvSpPr>
        <p:spPr>
          <a:xfrm>
            <a:off x="2212848" y="2011680"/>
            <a:ext cx="576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>
            <p:custDataLst>
              <p:tags r:id="rId3"/>
            </p:custDataLst>
          </p:nvPr>
        </p:nvSpPr>
        <p:spPr>
          <a:xfrm>
            <a:off x="2999232" y="1956816"/>
            <a:ext cx="3904487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裂纹是否真实存在</a:t>
            </a:r>
          </a:p>
        </p:txBody>
      </p:sp>
      <p:sp>
        <p:nvSpPr>
          <p:cNvPr id="17" name="TextBox 16"/>
          <p:cNvSpPr txBox="1"/>
          <p:nvPr>
            <p:custDataLst>
              <p:tags r:id="rId4"/>
            </p:custDataLst>
          </p:nvPr>
        </p:nvSpPr>
        <p:spPr>
          <a:xfrm>
            <a:off x="2999232" y="1614424"/>
            <a:ext cx="7909560" cy="9779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rPr lang="zh-CN" altLang="en-US"/>
              <a:t>裂纹封闭后症状消失，作者报告患者在三年随访期间没有疼痛复发，也未进行根管治疗，牙髓活力得以保留。这个随访结果支持当时的保守选择，也支持裂纹可能与疼痛相关。不过单个病例的治疗反应不能独立证明裂纹一定是唯一原因，心理压力、紧咬等因素也可能影响疼痛感知。汇报时应使用‘最可能的疼痛来源’，避免说成绝对确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84248" y="2852928"/>
            <a:ext cx="9418320" cy="832104"/>
          </a:xfrm>
          <a:prstGeom prst="roundRect">
            <a:avLst>
              <a:gd name="adj" fmla="val 5000"/>
            </a:avLst>
          </a:prstGeom>
          <a:solidFill>
            <a:srgbClr val="EC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5"/>
            </p:custDataLst>
          </p:nvPr>
        </p:nvSpPr>
        <p:spPr>
          <a:xfrm>
            <a:off x="2212848" y="2999232"/>
            <a:ext cx="576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E419C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>
            <p:custDataLst>
              <p:tags r:id="rId6"/>
            </p:custDataLst>
          </p:nvPr>
        </p:nvSpPr>
        <p:spPr>
          <a:xfrm>
            <a:off x="2999232" y="2944368"/>
            <a:ext cx="3904487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是否影响牙髓或牙周</a:t>
            </a:r>
          </a:p>
        </p:txBody>
      </p:sp>
      <p:sp>
        <p:nvSpPr>
          <p:cNvPr id="21" name="TextBox 20"/>
          <p:cNvSpPr txBox="1"/>
          <p:nvPr>
            <p:custDataLst>
              <p:tags r:id="rId7"/>
            </p:custDataLst>
          </p:nvPr>
        </p:nvSpPr>
        <p:spPr>
          <a:xfrm>
            <a:off x="2999232" y="3310128"/>
            <a:ext cx="7909560" cy="265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冷测、电测、牙周探诊与影像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84248" y="3840480"/>
            <a:ext cx="9418320" cy="832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0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8"/>
            </p:custDataLst>
          </p:nvPr>
        </p:nvSpPr>
        <p:spPr>
          <a:xfrm>
            <a:off x="2212848" y="3986784"/>
            <a:ext cx="57607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E62430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>
            <p:custDataLst>
              <p:tags r:id="rId9"/>
            </p:custDataLst>
          </p:nvPr>
        </p:nvSpPr>
        <p:spPr>
          <a:xfrm>
            <a:off x="2999232" y="3931920"/>
            <a:ext cx="3904487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22E66"/>
                </a:solidFill>
                <a:latin typeface="微软雅黑" panose="020B0503020204020204" charset="-122"/>
              </a:defRPr>
            </a:pPr>
            <a:r>
              <a:t>能否解释当前症状</a:t>
            </a:r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2999232" y="4297680"/>
            <a:ext cx="7909560" cy="2651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结合咬合痛、牵涉痛与诊断性局麻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5047488"/>
            <a:ext cx="9400032" cy="722376"/>
          </a:xfrm>
          <a:prstGeom prst="roundRect">
            <a:avLst>
              <a:gd name="adj" fmla="val 5000"/>
            </a:avLst>
          </a:prstGeom>
          <a:solidFill>
            <a:srgbClr val="12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1992" y="5212080"/>
            <a:ext cx="89154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发现裂纹 ≠ 立即根管治疗；治疗取决于症状、组织状态和随访。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4248" y="5971032"/>
            <a:ext cx="9537192" cy="30175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36070"/>
                </a:solidFill>
                <a:latin typeface="微软雅黑" panose="020B0503020204020204" charset="-122"/>
              </a:defRPr>
            </a:pPr>
            <a:r>
              <a:t>病例：Healthcare. 2026;14:2001, doi:10.3390/healthcare14132001  ·  诊断综述：Dent J. 2026, doi:10.3390/dj14080482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ags/tag2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ags/tag3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ags/tag4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ags/tag5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ags/tag6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ags/tag7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ags/tag8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ags/tag9.xml><?xml version="1.0" encoding="utf-8"?>
<p:tagLst xmlns:p="http://schemas.openxmlformats.org/presentationml/2006/main">
  <p:tag name="KSO_WM_DIAGRAM_VIRTUALLY_FRAME" val="{&quot;height&quot;:205.20000000000005,&quot;left&quot;:174.23999999999998,&quot;top&quot;:154.07999999999998,&quot;width&quot;:684.7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1926</Words>
  <Application>WPS 演示</Application>
  <PresentationFormat>On-screen Show (4:3)</PresentationFormat>
  <Paragraphs>249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落鸢</cp:lastModifiedBy>
  <cp:revision>7</cp:revision>
  <dcterms:created xsi:type="dcterms:W3CDTF">2013-01-27T09:14:00Z</dcterms:created>
  <dcterms:modified xsi:type="dcterms:W3CDTF">2026-10-04T16:37:42Z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58A711F977E648ACBCF6DA2E3625A400_12</vt:lpwstr>
  </property>
</Properties>
</file>