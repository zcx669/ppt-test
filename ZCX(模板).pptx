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3"/>
    <p:sldId id="258" r:id="rId4"/>
    <p:sldId id="315" r:id="rId5"/>
    <p:sldId id="316" r:id="rId6"/>
    <p:sldId id="319" r:id="rId7"/>
    <p:sldId id="317" r:id="rId8"/>
    <p:sldId id="320" r:id="rId9"/>
    <p:sldId id="321" r:id="rId10"/>
    <p:sldId id="283" r:id="rId11"/>
    <p:sldId id="284" r:id="rId12"/>
    <p:sldId id="285" r:id="rId13"/>
    <p:sldId id="271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72" r:id="rId22"/>
    <p:sldId id="302" r:id="rId24"/>
    <p:sldId id="275" r:id="rId25"/>
    <p:sldId id="304" r:id="rId26"/>
    <p:sldId id="309" r:id="rId27"/>
    <p:sldId id="322" r:id="rId28"/>
    <p:sldId id="323" r:id="rId29"/>
    <p:sldId id="324" r:id="rId30"/>
    <p:sldId id="325" r:id="rId31"/>
    <p:sldId id="273" r:id="rId32"/>
    <p:sldId id="310" r:id="rId33"/>
    <p:sldId id="327" r:id="rId34"/>
    <p:sldId id="276" r:id="rId35"/>
    <p:sldId id="267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7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60" y="219"/>
      </p:cViewPr>
      <p:guideLst>
        <p:guide orient="horz" pos="2165"/>
        <p:guide pos="37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689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#1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#1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9CC7B2-680F-4DB1-97C6-A72AEDD07D2E}" type="doc">
      <dgm:prSet loTypeId="urn:microsoft.com/office/officeart/2005/8/layout/vList3" qsTypeId="urn:microsoft.com/office/officeart/2005/8/quickstyle/simple5#1" csTypeId="urn:microsoft.com/office/officeart/2005/8/colors/accent1_2#1" phldr="1"/>
      <dgm:spPr/>
      <dgm:t>
        <a:bodyPr/>
        <a:lstStyle/>
        <a:p>
          <a:endParaRPr altLang="en-US"/>
        </a:p>
      </dgm:t>
    </dgm:pt>
    <dgm:pt modelId="{BE5B10DC-4DA7-4CD1-92B9-5658AB442AF5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（-）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无荧光；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（±）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极弱的可疑荧光；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荧光较弱，但清楚可见；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荧光明亮；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（+++ --++++）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荧光闪亮。</a:t>
          </a:r>
          <a:endParaRPr lang="zh-CN" sz="1400" b="0" i="0" u="none" baseline="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rtl val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  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待检标本特异性荧光染色强度达“++”以上，而各种对照显示为（±）或（-），即可判定为阳性。</a:t>
          </a:r>
          <a:endParaRPr lang="zh-CN" altLang="en-US" sz="1400" b="1" i="0" u="none" baseline="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rtl val="0"/>
          </a:endParaRPr>
        </a:p>
      </dgm:t>
    </dgm:pt>
    <dgm:pt modelId="{9F95FD7B-E809-45DB-8FB3-16BFDA1CC071}" cxnId="{AA5D37CF-F39A-4E64-BA14-BE2DB72CEAC1}" type="parTrans">
      <dgm:prSet/>
      <dgm:spPr/>
      <dgm:t>
        <a:bodyPr/>
        <a:lstStyle/>
        <a:p>
          <a:endParaRPr lang="zh-CN" altLang="en-US"/>
        </a:p>
      </dgm:t>
    </dgm:pt>
    <dgm:pt modelId="{027862F3-3DF8-4F8B-A5C0-5A16C9F486F2}" cxnId="{AA5D37CF-F39A-4E64-BA14-BE2DB72CEAC1}" type="sibTrans">
      <dgm:prSet/>
      <dgm:spPr/>
      <dgm:t>
        <a:bodyPr/>
        <a:lstStyle/>
        <a:p>
          <a:endParaRPr lang="zh-CN" altLang="en-US"/>
        </a:p>
      </dgm:t>
    </dgm:pt>
    <dgm:pt modelId="{F0BB5661-9FB7-4ACF-80A4-FF806194D317}" type="pres">
      <dgm:prSet presAssocID="{4F9CC7B2-680F-4DB1-97C6-A72AEDD07D2E}" presName="linearFlow" presStyleCnt="0">
        <dgm:presLayoutVars>
          <dgm:dir/>
          <dgm:resizeHandles val="exact"/>
        </dgm:presLayoutVars>
      </dgm:prSet>
      <dgm:spPr/>
    </dgm:pt>
    <dgm:pt modelId="{287A057F-141B-49FE-A93A-7D5F08E56F7D}" type="pres">
      <dgm:prSet presAssocID="{BE5B10DC-4DA7-4CD1-92B9-5658AB442AF5}" presName="composite" presStyleCnt="0"/>
      <dgm:spPr/>
    </dgm:pt>
    <dgm:pt modelId="{4DB6199A-2013-4486-940D-8E5E3DC29AC2}" type="pres">
      <dgm:prSet presAssocID="{BE5B10DC-4DA7-4CD1-92B9-5658AB442AF5}" presName="imgShp" presStyleLbl="fgImgPlace1" presStyleIdx="0" presStyleCnt="1" custLinFactNeighborX="-83831" custLinFactNeighborY="-3771"/>
      <dgm:spPr/>
    </dgm:pt>
    <dgm:pt modelId="{8C795695-C199-47DA-8B08-2161CB0C58D5}" type="pres">
      <dgm:prSet presAssocID="{BE5B10DC-4DA7-4CD1-92B9-5658AB442AF5}" presName="txShp" presStyleLbl="node1" presStyleIdx="0" presStyleCnt="1" custScaleX="145050">
        <dgm:presLayoutVars>
          <dgm:bulletEnabled val="1"/>
        </dgm:presLayoutVars>
      </dgm:prSet>
      <dgm:spPr/>
    </dgm:pt>
  </dgm:ptLst>
  <dgm:cxnLst>
    <dgm:cxn modelId="{1142D69B-01C3-4A09-AB64-E4FE7325F374}" type="presOf" srcId="{4F9CC7B2-680F-4DB1-97C6-A72AEDD07D2E}" destId="{F0BB5661-9FB7-4ACF-80A4-FF806194D317}" srcOrd="0" destOrd="0" presId="urn:microsoft.com/office/officeart/2005/8/layout/vList3"/>
    <dgm:cxn modelId="{9A8553B1-754B-421A-87FE-739FBA0664AF}" type="presOf" srcId="{BE5B10DC-4DA7-4CD1-92B9-5658AB442AF5}" destId="{8C795695-C199-47DA-8B08-2161CB0C58D5}" srcOrd="0" destOrd="0" presId="urn:microsoft.com/office/officeart/2005/8/layout/vList3"/>
    <dgm:cxn modelId="{AA5D37CF-F39A-4E64-BA14-BE2DB72CEAC1}" srcId="{4F9CC7B2-680F-4DB1-97C6-A72AEDD07D2E}" destId="{BE5B10DC-4DA7-4CD1-92B9-5658AB442AF5}" srcOrd="0" destOrd="0" parTransId="{9F95FD7B-E809-45DB-8FB3-16BFDA1CC071}" sibTransId="{027862F3-3DF8-4F8B-A5C0-5A16C9F486F2}"/>
    <dgm:cxn modelId="{1B938E78-099D-4902-A7C5-B5F544DE1F32}" type="presParOf" srcId="{F0BB5661-9FB7-4ACF-80A4-FF806194D317}" destId="{287A057F-141B-49FE-A93A-7D5F08E56F7D}" srcOrd="0" destOrd="0" presId="urn:microsoft.com/office/officeart/2005/8/layout/vList3"/>
    <dgm:cxn modelId="{36FDDFCA-8498-467E-8E84-BA95E8B31463}" type="presParOf" srcId="{287A057F-141B-49FE-A93A-7D5F08E56F7D}" destId="{4DB6199A-2013-4486-940D-8E5E3DC29AC2}" srcOrd="0" destOrd="0" presId="urn:microsoft.com/office/officeart/2005/8/layout/vList3"/>
    <dgm:cxn modelId="{33BA127B-A912-4BB1-8888-FC2FB279BCB4}" type="presParOf" srcId="{287A057F-141B-49FE-A93A-7D5F08E56F7D}" destId="{8C795695-C199-47DA-8B08-2161CB0C58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986AB8-CE2B-437D-B247-1D7492900092}" type="doc">
      <dgm:prSet loTypeId="urn:microsoft.com/office/officeart/2005/8/layout/hList7#1" loCatId="list" qsTypeId="urn:microsoft.com/office/officeart/2005/8/quickstyle/simple3#1" qsCatId="simple" csTypeId="urn:microsoft.com/office/officeart/2005/8/colors/accent4_2#1" csCatId="accent1" phldr="0"/>
      <dgm:spPr/>
    </dgm:pt>
    <dgm:pt modelId="{6CE3E4C2-268E-4618-B3EF-0D0CAABDC9CC}">
      <dgm:prSet phldrT="[文本]" phldr="0" custT="0"/>
      <dgm:spPr/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08453653-370C-4F4C-B22D-B4A05A9ACCB0}" cxnId="{F29BA958-B87C-49EA-8650-C7DA28B6BA84}" type="parTrans">
      <dgm:prSet/>
      <dgm:spPr/>
    </dgm:pt>
    <dgm:pt modelId="{EDB536BA-108F-46C4-9FBC-8B920BCBF9E0}" cxnId="{F29BA958-B87C-49EA-8650-C7DA28B6BA84}" type="sibTrans">
      <dgm:prSet/>
      <dgm:spPr/>
    </dgm:pt>
    <dgm:pt modelId="{5FC67689-F0F0-46C8-B25E-0FFC1D3CEC09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b="1">
            <a:solidFill>
              <a:srgbClr val="00000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2F238837-BBB8-4679-AB60-77ABE886322A}" cxnId="{EAC48399-341A-408A-B3BA-338CAB33D62C}" type="parTrans">
      <dgm:prSet/>
      <dgm:spPr/>
    </dgm:pt>
    <dgm:pt modelId="{85F7ABD1-6887-4C07-B641-A21CADACAD08}" cxnId="{EAC48399-341A-408A-B3BA-338CAB33D62C}" type="sibTrans">
      <dgm:prSet/>
      <dgm:spPr/>
    </dgm:pt>
    <dgm:pt modelId="{3233AD9C-5A3B-4498-8EED-4E9E30BBD6BD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gm:t>
    </dgm:pt>
    <dgm:pt modelId="{B0020B45-FC3D-4248-B0E2-80B50CAF7D91}" cxnId="{673185DF-C1DE-4F41-944F-1DBD1B66D26A}" type="parTrans">
      <dgm:prSet/>
      <dgm:spPr/>
    </dgm:pt>
    <dgm:pt modelId="{19424A60-1A16-4140-BF60-69D1BCCEB283}" cxnId="{673185DF-C1DE-4F41-944F-1DBD1B66D26A}" type="sibTrans">
      <dgm:prSet/>
      <dgm:spPr/>
    </dgm:pt>
    <dgm:pt modelId="{A86FA0AE-41AA-4A64-85D8-00F69A68EE06}">
      <dgm:prSet/>
      <dgm:spPr/>
      <dgm:t>
        <a:bodyPr/>
        <a:lstStyle/>
        <a:p>
          <a:endParaRPr altLang="en-US"/>
        </a:p>
      </dgm:t>
    </dgm:pt>
    <dgm:pt modelId="{F68B532B-8504-4322-B487-676C572B801C}" cxnId="{01AA44AC-5F8B-43B0-8E94-732ED5182376}" type="parTrans">
      <dgm:prSet/>
      <dgm:spPr/>
    </dgm:pt>
    <dgm:pt modelId="{72E9C7C1-E2E2-4F50-B46F-08451B4649C5}" cxnId="{01AA44AC-5F8B-43B0-8E94-732ED5182376}" type="sibTrans">
      <dgm:prSet/>
      <dgm:spPr/>
    </dgm:pt>
    <dgm:pt modelId="{A1E64E3B-CB5A-4701-A8B7-4889E926FE4A}">
      <dgm:prSet/>
      <dgm:spPr/>
      <dgm:t>
        <a:bodyPr/>
        <a:lstStyle/>
        <a:p>
          <a:endParaRPr altLang="en-US"/>
        </a:p>
      </dgm:t>
    </dgm:pt>
    <dgm:pt modelId="{8C458ECA-09B9-4A34-AE6E-2D3B85813793}" cxnId="{7BD426CE-CC89-43DC-B4AA-D6260605DB36}" type="parTrans">
      <dgm:prSet/>
      <dgm:spPr/>
    </dgm:pt>
    <dgm:pt modelId="{54F99C30-F038-47EF-80F2-715CDDFCF2A9}" cxnId="{7BD426CE-CC89-43DC-B4AA-D6260605DB36}" type="sibTrans">
      <dgm:prSet/>
      <dgm:spPr/>
    </dgm:pt>
    <dgm:pt modelId="{27A34616-815A-409B-A55C-1466D74A0EC1}">
      <dgm:prSet/>
      <dgm:spPr/>
      <dgm:t>
        <a:bodyPr/>
        <a:lstStyle/>
        <a:p>
          <a:endParaRPr altLang="en-US"/>
        </a:p>
      </dgm:t>
    </dgm:pt>
    <dgm:pt modelId="{960F1606-0B01-4D27-AAE0-8CA344E6A326}" cxnId="{8BB388FF-276F-497B-85C9-18808A57CCFF}" type="parTrans">
      <dgm:prSet/>
      <dgm:spPr/>
    </dgm:pt>
    <dgm:pt modelId="{683437A3-951E-4742-8175-B1BE06C13CFE}" cxnId="{8BB388FF-276F-497B-85C9-18808A57CCFF}" type="sibTrans">
      <dgm:prSet/>
      <dgm:spPr/>
    </dgm:pt>
    <dgm:pt modelId="{12381135-4F47-4ECC-991C-F180EF7F1C8A}">
      <dgm:prSet/>
      <dgm:spPr/>
      <dgm:t>
        <a:bodyPr/>
        <a:lstStyle/>
        <a:p>
          <a:endParaRPr altLang="en-US"/>
        </a:p>
      </dgm:t>
    </dgm:pt>
    <dgm:pt modelId="{DB81796E-F83F-4003-AF53-5FD005E486EB}" cxnId="{0B935435-EBF6-48FD-ADFB-C951065DF122}" type="parTrans">
      <dgm:prSet/>
      <dgm:spPr/>
    </dgm:pt>
    <dgm:pt modelId="{C9872AE3-39A3-4F5B-83E7-6D53FACE7C1D}" cxnId="{0B935435-EBF6-48FD-ADFB-C951065DF122}" type="sibTrans">
      <dgm:prSet/>
      <dgm:spPr/>
    </dgm:pt>
    <dgm:pt modelId="{523FE743-2657-4FB3-9849-E79551DAB1B6}" type="pres">
      <dgm:prSet presAssocID="{87986AB8-CE2B-437D-B247-1D7492900092}" presName="Name0" presStyleCnt="0">
        <dgm:presLayoutVars>
          <dgm:dir/>
          <dgm:resizeHandles val="exact"/>
        </dgm:presLayoutVars>
      </dgm:prSet>
      <dgm:spPr/>
    </dgm:pt>
    <dgm:pt modelId="{960387AD-826E-41E3-8FC4-D1E72BC4E8D5}" type="pres">
      <dgm:prSet presAssocID="{87986AB8-CE2B-437D-B247-1D7492900092}" presName="fgShape" presStyleLbl="fgShp" presStyleIdx="0" presStyleCnt="1"/>
      <dgm:spPr/>
    </dgm:pt>
    <dgm:pt modelId="{CF0B136A-086D-4B3D-B4D2-7089D8D4472E}" type="pres">
      <dgm:prSet presAssocID="{87986AB8-CE2B-437D-B247-1D7492900092}" presName="linComp" presStyleCnt="0"/>
      <dgm:spPr/>
    </dgm:pt>
    <dgm:pt modelId="{DA91AC89-4E09-485E-8418-FC2DB88B9A77}" type="pres">
      <dgm:prSet presAssocID="{6CE3E4C2-268E-4618-B3EF-0D0CAABDC9CC}" presName="compNode" presStyleCnt="0"/>
      <dgm:spPr/>
    </dgm:pt>
    <dgm:pt modelId="{DB6C46E2-89FD-433D-9892-A957ECA1F70E}" type="pres">
      <dgm:prSet presAssocID="{6CE3E4C2-268E-4618-B3EF-0D0CAABDC9CC}" presName="bkgdShape" presStyleLbl="node1" presStyleIdx="0" presStyleCnt="6"/>
      <dgm:spPr/>
    </dgm:pt>
    <dgm:pt modelId="{5B800275-29D3-497B-A49D-2279870AFF6D}" type="pres">
      <dgm:prSet presAssocID="{6CE3E4C2-268E-4618-B3EF-0D0CAABDC9CC}" presName="nodeTx" presStyleLbl="node1" presStyleIdx="0" presStyleCnt="6">
        <dgm:presLayoutVars>
          <dgm:bulletEnabled val="1"/>
        </dgm:presLayoutVars>
      </dgm:prSet>
      <dgm:spPr/>
    </dgm:pt>
    <dgm:pt modelId="{0FC7D2A3-4D17-4316-AF38-B89A74E54D32}" type="pres">
      <dgm:prSet presAssocID="{6CE3E4C2-268E-4618-B3EF-0D0CAABDC9CC}" presName="invisiNode" presStyleLbl="node1" presStyleIdx="0" presStyleCnt="6"/>
      <dgm:spPr/>
    </dgm:pt>
    <dgm:pt modelId="{34C4D57C-2D9C-46C5-9165-35089BD2A3CE}" type="pres">
      <dgm:prSet presAssocID="{6CE3E4C2-268E-4618-B3EF-0D0CAABDC9CC}" presName="imagNode" presStyleLbl="fgImgPlace1" presStyleIdx="0" presStyleCnt="6"/>
      <dgm:spPr/>
    </dgm:pt>
    <dgm:pt modelId="{990C17EF-4BB5-4C06-BDA9-36C3CDE16289}" type="pres">
      <dgm:prSet presAssocID="{EDB536BA-108F-46C4-9FBC-8B920BCBF9E0}" presName="sibTrans" presStyleLbl="sibTrans2D1" presStyleIdx="0" presStyleCnt="0"/>
      <dgm:spPr/>
    </dgm:pt>
    <dgm:pt modelId="{9B73191B-537D-4142-AB4F-64304604CCDB}" type="pres">
      <dgm:prSet presAssocID="{5FC67689-F0F0-46C8-B25E-0FFC1D3CEC09}" presName="compNode" presStyleCnt="0"/>
      <dgm:spPr/>
    </dgm:pt>
    <dgm:pt modelId="{FE345B2C-80C6-4694-BA1E-DCBA70F59951}" type="pres">
      <dgm:prSet presAssocID="{5FC67689-F0F0-46C8-B25E-0FFC1D3CEC09}" presName="bkgdShape" presStyleLbl="node1" presStyleIdx="1" presStyleCnt="6"/>
      <dgm:spPr/>
    </dgm:pt>
    <dgm:pt modelId="{BEB71E5B-8123-4D6F-A301-3929FB174526}" type="pres">
      <dgm:prSet presAssocID="{5FC67689-F0F0-46C8-B25E-0FFC1D3CEC09}" presName="nodeTx" presStyleLbl="node1" presStyleIdx="1" presStyleCnt="6">
        <dgm:presLayoutVars>
          <dgm:bulletEnabled val="1"/>
        </dgm:presLayoutVars>
      </dgm:prSet>
      <dgm:spPr/>
    </dgm:pt>
    <dgm:pt modelId="{A2D820F5-38EB-4922-8875-5EC5D39E2E19}" type="pres">
      <dgm:prSet presAssocID="{5FC67689-F0F0-46C8-B25E-0FFC1D3CEC09}" presName="invisiNode" presStyleLbl="node1" presStyleIdx="1" presStyleCnt="6"/>
      <dgm:spPr/>
    </dgm:pt>
    <dgm:pt modelId="{78C78F91-F63C-43B6-B4C3-8EC6FEB9C986}" type="pres">
      <dgm:prSet presAssocID="{5FC67689-F0F0-46C8-B25E-0FFC1D3CEC09}" presName="imagNode" presStyleLbl="fgImgPlace1" presStyleIdx="1" presStyleCnt="6"/>
      <dgm:spPr/>
    </dgm:pt>
    <dgm:pt modelId="{117F7FB2-AAEF-4146-A62C-74F974C512BA}" type="pres">
      <dgm:prSet presAssocID="{85F7ABD1-6887-4C07-B641-A21CADACAD08}" presName="sibTrans" presStyleLbl="sibTrans2D1" presStyleIdx="0" presStyleCnt="0"/>
      <dgm:spPr/>
    </dgm:pt>
    <dgm:pt modelId="{3F6D32DF-A9D1-493E-B242-E9D92BDB3F81}" type="pres">
      <dgm:prSet presAssocID="{3233AD9C-5A3B-4498-8EED-4E9E30BBD6BD}" presName="compNode" presStyleCnt="0"/>
      <dgm:spPr/>
    </dgm:pt>
    <dgm:pt modelId="{E29438BD-0CFB-46C3-93A0-B9DEF5EC2BDA}" type="pres">
      <dgm:prSet presAssocID="{3233AD9C-5A3B-4498-8EED-4E9E30BBD6BD}" presName="bkgdShape" presStyleLbl="node1" presStyleIdx="2" presStyleCnt="6"/>
      <dgm:spPr/>
    </dgm:pt>
    <dgm:pt modelId="{599E7A11-0926-4C7B-A8F2-4CAE95D8C713}" type="pres">
      <dgm:prSet presAssocID="{3233AD9C-5A3B-4498-8EED-4E9E30BBD6BD}" presName="nodeTx" presStyleLbl="node1" presStyleIdx="2" presStyleCnt="6">
        <dgm:presLayoutVars>
          <dgm:bulletEnabled val="1"/>
        </dgm:presLayoutVars>
      </dgm:prSet>
      <dgm:spPr/>
    </dgm:pt>
    <dgm:pt modelId="{C46648A1-2692-4A84-ABF2-888E56A643EB}" type="pres">
      <dgm:prSet presAssocID="{3233AD9C-5A3B-4498-8EED-4E9E30BBD6BD}" presName="invisiNode" presStyleLbl="node1" presStyleIdx="2" presStyleCnt="6"/>
      <dgm:spPr/>
    </dgm:pt>
    <dgm:pt modelId="{CE96911A-9ECA-48D8-9FCD-DD0ACED698C2}" type="pres">
      <dgm:prSet presAssocID="{3233AD9C-5A3B-4498-8EED-4E9E30BBD6BD}" presName="imagNode" presStyleLbl="fgImgPlace1" presStyleIdx="2" presStyleCnt="6"/>
      <dgm:spPr/>
    </dgm:pt>
    <dgm:pt modelId="{BFBE7CFC-B320-466B-A884-2AEB0FB2D241}" type="pres">
      <dgm:prSet presAssocID="{19424A60-1A16-4140-BF60-69D1BCCEB283}" presName="sibTrans" presStyleLbl="sibTrans2D1" presStyleIdx="0" presStyleCnt="0"/>
      <dgm:spPr/>
    </dgm:pt>
    <dgm:pt modelId="{5A77996A-2ED0-4207-9400-A233944BC686}" type="pres">
      <dgm:prSet presAssocID="{A86FA0AE-41AA-4A64-85D8-00F69A68EE06}" presName="compNode" presStyleCnt="0"/>
      <dgm:spPr/>
    </dgm:pt>
    <dgm:pt modelId="{D457D6DC-7D7D-4C6C-8768-6022ADFBB5E2}" type="pres">
      <dgm:prSet presAssocID="{A86FA0AE-41AA-4A64-85D8-00F69A68EE06}" presName="bkgdShape" presStyleLbl="node1" presStyleIdx="3" presStyleCnt="6"/>
      <dgm:spPr/>
    </dgm:pt>
    <dgm:pt modelId="{EF1DF662-7A40-4074-BC58-2876E72AFBD6}" type="pres">
      <dgm:prSet presAssocID="{A86FA0AE-41AA-4A64-85D8-00F69A68EE06}" presName="nodeTx" presStyleLbl="node1" presStyleIdx="3" presStyleCnt="6">
        <dgm:presLayoutVars>
          <dgm:bulletEnabled val="1"/>
        </dgm:presLayoutVars>
      </dgm:prSet>
      <dgm:spPr/>
    </dgm:pt>
    <dgm:pt modelId="{82C41F6E-2304-4A34-9660-DA44315D4E4B}" type="pres">
      <dgm:prSet presAssocID="{A86FA0AE-41AA-4A64-85D8-00F69A68EE06}" presName="invisiNode" presStyleLbl="node1" presStyleIdx="3" presStyleCnt="6"/>
      <dgm:spPr/>
    </dgm:pt>
    <dgm:pt modelId="{7A7FD608-C092-4C7D-81EA-38CC99053848}" type="pres">
      <dgm:prSet presAssocID="{A86FA0AE-41AA-4A64-85D8-00F69A68EE06}" presName="imagNode" presStyleLbl="fgImgPlace1" presStyleIdx="3" presStyleCnt="6"/>
      <dgm:spPr/>
    </dgm:pt>
    <dgm:pt modelId="{B57EA86E-A0B1-4D18-B0EF-BFEB071C818A}" type="pres">
      <dgm:prSet presAssocID="{72E9C7C1-E2E2-4F50-B46F-08451B4649C5}" presName="sibTrans" presStyleLbl="sibTrans2D1" presStyleIdx="0" presStyleCnt="0"/>
      <dgm:spPr/>
    </dgm:pt>
    <dgm:pt modelId="{5E48458D-7C93-48D0-AB9C-9F2856D1CE61}" type="pres">
      <dgm:prSet presAssocID="{A1E64E3B-CB5A-4701-A8B7-4889E926FE4A}" presName="compNode" presStyleCnt="0"/>
      <dgm:spPr/>
    </dgm:pt>
    <dgm:pt modelId="{14F8F794-8E30-445F-9E56-77CAF1F25FB4}" type="pres">
      <dgm:prSet presAssocID="{A1E64E3B-CB5A-4701-A8B7-4889E926FE4A}" presName="bkgdShape" presStyleLbl="node1" presStyleIdx="4" presStyleCnt="6"/>
      <dgm:spPr/>
    </dgm:pt>
    <dgm:pt modelId="{73F00CE6-10C8-40DF-8F93-E06AD4056C8A}" type="pres">
      <dgm:prSet presAssocID="{A1E64E3B-CB5A-4701-A8B7-4889E926FE4A}" presName="nodeTx" presStyleLbl="node1" presStyleIdx="4" presStyleCnt="6">
        <dgm:presLayoutVars>
          <dgm:bulletEnabled val="1"/>
        </dgm:presLayoutVars>
      </dgm:prSet>
      <dgm:spPr/>
    </dgm:pt>
    <dgm:pt modelId="{174DC31A-356F-471C-A0CB-DCFC2FE7C4F5}" type="pres">
      <dgm:prSet presAssocID="{A1E64E3B-CB5A-4701-A8B7-4889E926FE4A}" presName="invisiNode" presStyleLbl="node1" presStyleIdx="4" presStyleCnt="6"/>
      <dgm:spPr/>
    </dgm:pt>
    <dgm:pt modelId="{710F1ABD-DBFB-4DDB-B356-B9E58D0B950C}" type="pres">
      <dgm:prSet presAssocID="{A1E64E3B-CB5A-4701-A8B7-4889E926FE4A}" presName="imagNode" presStyleLbl="fgImgPlace1" presStyleIdx="4" presStyleCnt="6"/>
      <dgm:spPr/>
    </dgm:pt>
    <dgm:pt modelId="{69CDCC9D-1B70-44C5-B11E-C326EFE25160}" type="pres">
      <dgm:prSet presAssocID="{54F99C30-F038-47EF-80F2-715CDDFCF2A9}" presName="sibTrans" presStyleLbl="sibTrans2D1" presStyleIdx="0" presStyleCnt="0"/>
      <dgm:spPr/>
    </dgm:pt>
    <dgm:pt modelId="{4A7B1683-5F50-458C-9E4E-A364F504CE44}" type="pres">
      <dgm:prSet presAssocID="{27A34616-815A-409B-A55C-1466D74A0EC1}" presName="compNode" presStyleCnt="0"/>
      <dgm:spPr/>
    </dgm:pt>
    <dgm:pt modelId="{B8B834D6-4CEA-40CC-A89B-F74E97066C09}" type="pres">
      <dgm:prSet presAssocID="{27A34616-815A-409B-A55C-1466D74A0EC1}" presName="bkgdShape" presStyleLbl="node1" presStyleIdx="5" presStyleCnt="6"/>
      <dgm:spPr/>
    </dgm:pt>
    <dgm:pt modelId="{09B88E1E-6F1C-476C-AA9E-26883FA12CBD}" type="pres">
      <dgm:prSet presAssocID="{27A34616-815A-409B-A55C-1466D74A0EC1}" presName="nodeTx" presStyleLbl="node1" presStyleIdx="5" presStyleCnt="6">
        <dgm:presLayoutVars>
          <dgm:bulletEnabled val="1"/>
        </dgm:presLayoutVars>
      </dgm:prSet>
      <dgm:spPr/>
    </dgm:pt>
    <dgm:pt modelId="{F98906DF-7E58-4288-B003-DBCE7370AB41}" type="pres">
      <dgm:prSet presAssocID="{27A34616-815A-409B-A55C-1466D74A0EC1}" presName="invisiNode" presStyleLbl="node1" presStyleIdx="5" presStyleCnt="6"/>
      <dgm:spPr/>
    </dgm:pt>
    <dgm:pt modelId="{B28419F3-447B-4D15-819C-3C2AB0F393CC}" type="pres">
      <dgm:prSet presAssocID="{27A34616-815A-409B-A55C-1466D74A0EC1}" presName="imagNode" presStyleLbl="fgImgPlace1" presStyleIdx="5" presStyleCnt="6"/>
      <dgm:spPr/>
    </dgm:pt>
  </dgm:ptLst>
  <dgm:cxnLst>
    <dgm:cxn modelId="{1711D12A-4725-41A2-902D-9757812A0A84}" type="presOf" srcId="{87986AB8-CE2B-437D-B247-1D7492900092}" destId="{523FE743-2657-4FB3-9849-E79551DAB1B6}" srcOrd="0" destOrd="0" presId="urn:microsoft.com/office/officeart/2005/8/layout/hList7#1"/>
    <dgm:cxn modelId="{A249442C-D60B-493E-8E71-0AE14A31422D}" type="presOf" srcId="{3233AD9C-5A3B-4498-8EED-4E9E30BBD6BD}" destId="{E29438BD-0CFB-46C3-93A0-B9DEF5EC2BDA}" srcOrd="0" destOrd="0" presId="urn:microsoft.com/office/officeart/2005/8/layout/hList7#1"/>
    <dgm:cxn modelId="{0B935435-EBF6-48FD-ADFB-C951065DF122}" srcId="{27A34616-815A-409B-A55C-1466D74A0EC1}" destId="{12381135-4F47-4ECC-991C-F180EF7F1C8A}" srcOrd="0" destOrd="0" parTransId="{DB81796E-F83F-4003-AF53-5FD005E486EB}" sibTransId="{C9872AE3-39A3-4F5B-83E7-6D53FACE7C1D}"/>
    <dgm:cxn modelId="{ADC0F440-2E5B-406F-82C4-663B9DB56FFF}" type="presOf" srcId="{A86FA0AE-41AA-4A64-85D8-00F69A68EE06}" destId="{EF1DF662-7A40-4074-BC58-2876E72AFBD6}" srcOrd="1" destOrd="0" presId="urn:microsoft.com/office/officeart/2005/8/layout/hList7#1"/>
    <dgm:cxn modelId="{89ADEA5D-A13A-414F-9F15-56BB394D5CD7}" type="presOf" srcId="{12381135-4F47-4ECC-991C-F180EF7F1C8A}" destId="{09B88E1E-6F1C-476C-AA9E-26883FA12CBD}" srcOrd="1" destOrd="1" presId="urn:microsoft.com/office/officeart/2005/8/layout/hList7#1"/>
    <dgm:cxn modelId="{3E4E535E-D1EF-4BD0-BBED-1AC07A7B5E3D}" type="presOf" srcId="{6CE3E4C2-268E-4618-B3EF-0D0CAABDC9CC}" destId="{DB6C46E2-89FD-433D-9892-A957ECA1F70E}" srcOrd="0" destOrd="0" presId="urn:microsoft.com/office/officeart/2005/8/layout/hList7#1"/>
    <dgm:cxn modelId="{DE8D564C-0CBD-4B25-859A-48E066ECFA10}" type="presOf" srcId="{EDB536BA-108F-46C4-9FBC-8B920BCBF9E0}" destId="{990C17EF-4BB5-4C06-BDA9-36C3CDE16289}" srcOrd="0" destOrd="0" presId="urn:microsoft.com/office/officeart/2005/8/layout/hList7#1"/>
    <dgm:cxn modelId="{D1C8396D-2A77-4F7C-AC14-BEAAD02001E8}" type="presOf" srcId="{3233AD9C-5A3B-4498-8EED-4E9E30BBD6BD}" destId="{599E7A11-0926-4C7B-A8F2-4CAE95D8C713}" srcOrd="1" destOrd="0" presId="urn:microsoft.com/office/officeart/2005/8/layout/hList7#1"/>
    <dgm:cxn modelId="{7FC4D86F-2BA4-40AF-99E8-F0498DDA2162}" type="presOf" srcId="{72E9C7C1-E2E2-4F50-B46F-08451B4649C5}" destId="{B57EA86E-A0B1-4D18-B0EF-BFEB071C818A}" srcOrd="0" destOrd="0" presId="urn:microsoft.com/office/officeart/2005/8/layout/hList7#1"/>
    <dgm:cxn modelId="{F29BA958-B87C-49EA-8650-C7DA28B6BA84}" srcId="{87986AB8-CE2B-437D-B247-1D7492900092}" destId="{6CE3E4C2-268E-4618-B3EF-0D0CAABDC9CC}" srcOrd="0" destOrd="0" parTransId="{08453653-370C-4F4C-B22D-B4A05A9ACCB0}" sibTransId="{EDB536BA-108F-46C4-9FBC-8B920BCBF9E0}"/>
    <dgm:cxn modelId="{2BF7A383-145F-4123-99D1-F118F84D699B}" type="presOf" srcId="{85F7ABD1-6887-4C07-B641-A21CADACAD08}" destId="{117F7FB2-AAEF-4146-A62C-74F974C512BA}" srcOrd="0" destOrd="0" presId="urn:microsoft.com/office/officeart/2005/8/layout/hList7#1"/>
    <dgm:cxn modelId="{5FC00588-EA33-4A4D-A957-3D373F32FC57}" type="presOf" srcId="{5FC67689-F0F0-46C8-B25E-0FFC1D3CEC09}" destId="{BEB71E5B-8123-4D6F-A301-3929FB174526}" srcOrd="1" destOrd="0" presId="urn:microsoft.com/office/officeart/2005/8/layout/hList7#1"/>
    <dgm:cxn modelId="{EAC48399-341A-408A-B3BA-338CAB33D62C}" srcId="{87986AB8-CE2B-437D-B247-1D7492900092}" destId="{5FC67689-F0F0-46C8-B25E-0FFC1D3CEC09}" srcOrd="1" destOrd="0" parTransId="{2F238837-BBB8-4679-AB60-77ABE886322A}" sibTransId="{85F7ABD1-6887-4C07-B641-A21CADACAD08}"/>
    <dgm:cxn modelId="{4ADF7F9B-A5D9-4EBF-B940-97F03CF31552}" type="presOf" srcId="{5FC67689-F0F0-46C8-B25E-0FFC1D3CEC09}" destId="{FE345B2C-80C6-4694-BA1E-DCBA70F59951}" srcOrd="0" destOrd="0" presId="urn:microsoft.com/office/officeart/2005/8/layout/hList7#1"/>
    <dgm:cxn modelId="{701EED9E-6158-4F5B-96BE-6C273835E609}" type="presOf" srcId="{A1E64E3B-CB5A-4701-A8B7-4889E926FE4A}" destId="{73F00CE6-10C8-40DF-8F93-E06AD4056C8A}" srcOrd="1" destOrd="0" presId="urn:microsoft.com/office/officeart/2005/8/layout/hList7#1"/>
    <dgm:cxn modelId="{6095F2A4-E4AF-4AD3-B2B9-79D554CA2DEA}" type="presOf" srcId="{27A34616-815A-409B-A55C-1466D74A0EC1}" destId="{B8B834D6-4CEA-40CC-A89B-F74E97066C09}" srcOrd="0" destOrd="0" presId="urn:microsoft.com/office/officeart/2005/8/layout/hList7#1"/>
    <dgm:cxn modelId="{80AB1DAB-CAA7-4A11-8103-384B74BF60C0}" type="presOf" srcId="{A86FA0AE-41AA-4A64-85D8-00F69A68EE06}" destId="{D457D6DC-7D7D-4C6C-8768-6022ADFBB5E2}" srcOrd="0" destOrd="0" presId="urn:microsoft.com/office/officeart/2005/8/layout/hList7#1"/>
    <dgm:cxn modelId="{01AA44AC-5F8B-43B0-8E94-732ED5182376}" srcId="{87986AB8-CE2B-437D-B247-1D7492900092}" destId="{A86FA0AE-41AA-4A64-85D8-00F69A68EE06}" srcOrd="3" destOrd="0" parTransId="{F68B532B-8504-4322-B487-676C572B801C}" sibTransId="{72E9C7C1-E2E2-4F50-B46F-08451B4649C5}"/>
    <dgm:cxn modelId="{CA4102B3-0C35-487D-B210-77B8D8DE511F}" type="presOf" srcId="{54F99C30-F038-47EF-80F2-715CDDFCF2A9}" destId="{69CDCC9D-1B70-44C5-B11E-C326EFE25160}" srcOrd="0" destOrd="0" presId="urn:microsoft.com/office/officeart/2005/8/layout/hList7#1"/>
    <dgm:cxn modelId="{C212A3B3-4D7A-4BB5-B3A9-FF4814E0602D}" type="presOf" srcId="{A1E64E3B-CB5A-4701-A8B7-4889E926FE4A}" destId="{14F8F794-8E30-445F-9E56-77CAF1F25FB4}" srcOrd="0" destOrd="0" presId="urn:microsoft.com/office/officeart/2005/8/layout/hList7#1"/>
    <dgm:cxn modelId="{288E0BB5-B88A-4045-8E94-A3BFB99F1F71}" type="presOf" srcId="{19424A60-1A16-4140-BF60-69D1BCCEB283}" destId="{BFBE7CFC-B320-466B-A884-2AEB0FB2D241}" srcOrd="0" destOrd="0" presId="urn:microsoft.com/office/officeart/2005/8/layout/hList7#1"/>
    <dgm:cxn modelId="{7BD426CE-CC89-43DC-B4AA-D6260605DB36}" srcId="{87986AB8-CE2B-437D-B247-1D7492900092}" destId="{A1E64E3B-CB5A-4701-A8B7-4889E926FE4A}" srcOrd="4" destOrd="0" parTransId="{8C458ECA-09B9-4A34-AE6E-2D3B85813793}" sibTransId="{54F99C30-F038-47EF-80F2-715CDDFCF2A9}"/>
    <dgm:cxn modelId="{673185DF-C1DE-4F41-944F-1DBD1B66D26A}" srcId="{87986AB8-CE2B-437D-B247-1D7492900092}" destId="{3233AD9C-5A3B-4498-8EED-4E9E30BBD6BD}" srcOrd="2" destOrd="0" parTransId="{B0020B45-FC3D-4248-B0E2-80B50CAF7D91}" sibTransId="{19424A60-1A16-4140-BF60-69D1BCCEB283}"/>
    <dgm:cxn modelId="{3A2BCDEB-ECCE-4D31-9AAF-939985B0876D}" type="presOf" srcId="{6CE3E4C2-268E-4618-B3EF-0D0CAABDC9CC}" destId="{5B800275-29D3-497B-A49D-2279870AFF6D}" srcOrd="1" destOrd="0" presId="urn:microsoft.com/office/officeart/2005/8/layout/hList7#1"/>
    <dgm:cxn modelId="{940451EE-9AB8-4382-898A-F25EB52192FF}" type="presOf" srcId="{12381135-4F47-4ECC-991C-F180EF7F1C8A}" destId="{B8B834D6-4CEA-40CC-A89B-F74E97066C09}" srcOrd="0" destOrd="1" presId="urn:microsoft.com/office/officeart/2005/8/layout/hList7#1"/>
    <dgm:cxn modelId="{C4154FF2-C09B-48DE-A915-4AB2AC595C2E}" type="presOf" srcId="{27A34616-815A-409B-A55C-1466D74A0EC1}" destId="{09B88E1E-6F1C-476C-AA9E-26883FA12CBD}" srcOrd="1" destOrd="0" presId="urn:microsoft.com/office/officeart/2005/8/layout/hList7#1"/>
    <dgm:cxn modelId="{8BB388FF-276F-497B-85C9-18808A57CCFF}" srcId="{87986AB8-CE2B-437D-B247-1D7492900092}" destId="{27A34616-815A-409B-A55C-1466D74A0EC1}" srcOrd="5" destOrd="0" parTransId="{960F1606-0B01-4D27-AAE0-8CA344E6A326}" sibTransId="{683437A3-951E-4742-8175-B1BE06C13CFE}"/>
    <dgm:cxn modelId="{753CE968-478C-4940-A01E-90DB4B0E1BB5}" type="presParOf" srcId="{523FE743-2657-4FB3-9849-E79551DAB1B6}" destId="{960387AD-826E-41E3-8FC4-D1E72BC4E8D5}" srcOrd="0" destOrd="0" presId="urn:microsoft.com/office/officeart/2005/8/layout/hList7#1"/>
    <dgm:cxn modelId="{484F8475-05DE-4676-A144-6B6094F4E761}" type="presParOf" srcId="{523FE743-2657-4FB3-9849-E79551DAB1B6}" destId="{CF0B136A-086D-4B3D-B4D2-7089D8D4472E}" srcOrd="1" destOrd="0" presId="urn:microsoft.com/office/officeart/2005/8/layout/hList7#1"/>
    <dgm:cxn modelId="{4F9EDFAB-AEE7-4515-A4B4-B5DB110EDF21}" type="presParOf" srcId="{CF0B136A-086D-4B3D-B4D2-7089D8D4472E}" destId="{DA91AC89-4E09-485E-8418-FC2DB88B9A77}" srcOrd="0" destOrd="0" presId="urn:microsoft.com/office/officeart/2005/8/layout/hList7#1"/>
    <dgm:cxn modelId="{90441239-C7A1-46BF-81D7-8EED5C2B41D4}" type="presParOf" srcId="{DA91AC89-4E09-485E-8418-FC2DB88B9A77}" destId="{DB6C46E2-89FD-433D-9892-A957ECA1F70E}" srcOrd="0" destOrd="0" presId="urn:microsoft.com/office/officeart/2005/8/layout/hList7#1"/>
    <dgm:cxn modelId="{DACD2C0D-6275-4D3C-8079-CD90624BCBD4}" type="presParOf" srcId="{DA91AC89-4E09-485E-8418-FC2DB88B9A77}" destId="{5B800275-29D3-497B-A49D-2279870AFF6D}" srcOrd="1" destOrd="0" presId="urn:microsoft.com/office/officeart/2005/8/layout/hList7#1"/>
    <dgm:cxn modelId="{9A022D6A-A9F1-4769-9848-B43AB0EFB1BC}" type="presParOf" srcId="{DA91AC89-4E09-485E-8418-FC2DB88B9A77}" destId="{0FC7D2A3-4D17-4316-AF38-B89A74E54D32}" srcOrd="2" destOrd="0" presId="urn:microsoft.com/office/officeart/2005/8/layout/hList7#1"/>
    <dgm:cxn modelId="{D825EC79-B081-41B0-9348-93319E9D0F52}" type="presParOf" srcId="{DA91AC89-4E09-485E-8418-FC2DB88B9A77}" destId="{34C4D57C-2D9C-46C5-9165-35089BD2A3CE}" srcOrd="3" destOrd="0" presId="urn:microsoft.com/office/officeart/2005/8/layout/hList7#1"/>
    <dgm:cxn modelId="{548AD8C5-78A6-422F-AFCD-41C1F501C13D}" type="presParOf" srcId="{CF0B136A-086D-4B3D-B4D2-7089D8D4472E}" destId="{990C17EF-4BB5-4C06-BDA9-36C3CDE16289}" srcOrd="1" destOrd="0" presId="urn:microsoft.com/office/officeart/2005/8/layout/hList7#1"/>
    <dgm:cxn modelId="{2DD41930-D8EA-435B-BBA5-93CCB315592A}" type="presParOf" srcId="{CF0B136A-086D-4B3D-B4D2-7089D8D4472E}" destId="{9B73191B-537D-4142-AB4F-64304604CCDB}" srcOrd="2" destOrd="0" presId="urn:microsoft.com/office/officeart/2005/8/layout/hList7#1"/>
    <dgm:cxn modelId="{CD9929E3-EA12-4141-A180-1CDF75DAF6AE}" type="presParOf" srcId="{9B73191B-537D-4142-AB4F-64304604CCDB}" destId="{FE345B2C-80C6-4694-BA1E-DCBA70F59951}" srcOrd="0" destOrd="0" presId="urn:microsoft.com/office/officeart/2005/8/layout/hList7#1"/>
    <dgm:cxn modelId="{B979CF34-934B-499A-94A9-629BCCE7D99C}" type="presParOf" srcId="{9B73191B-537D-4142-AB4F-64304604CCDB}" destId="{BEB71E5B-8123-4D6F-A301-3929FB174526}" srcOrd="1" destOrd="0" presId="urn:microsoft.com/office/officeart/2005/8/layout/hList7#1"/>
    <dgm:cxn modelId="{0F8CE9D2-FBB5-429D-BD27-F323DF94F934}" type="presParOf" srcId="{9B73191B-537D-4142-AB4F-64304604CCDB}" destId="{A2D820F5-38EB-4922-8875-5EC5D39E2E19}" srcOrd="2" destOrd="0" presId="urn:microsoft.com/office/officeart/2005/8/layout/hList7#1"/>
    <dgm:cxn modelId="{E44C5EA1-4F19-49C7-97C5-926DCE00B2C3}" type="presParOf" srcId="{9B73191B-537D-4142-AB4F-64304604CCDB}" destId="{78C78F91-F63C-43B6-B4C3-8EC6FEB9C986}" srcOrd="3" destOrd="0" presId="urn:microsoft.com/office/officeart/2005/8/layout/hList7#1"/>
    <dgm:cxn modelId="{19E68ADD-58BC-463A-8A05-1CD2954DCFC9}" type="presParOf" srcId="{CF0B136A-086D-4B3D-B4D2-7089D8D4472E}" destId="{117F7FB2-AAEF-4146-A62C-74F974C512BA}" srcOrd="3" destOrd="0" presId="urn:microsoft.com/office/officeart/2005/8/layout/hList7#1"/>
    <dgm:cxn modelId="{C4C8D46A-F9B4-4802-B8B5-48407FE0C66F}" type="presParOf" srcId="{CF0B136A-086D-4B3D-B4D2-7089D8D4472E}" destId="{3F6D32DF-A9D1-493E-B242-E9D92BDB3F81}" srcOrd="4" destOrd="0" presId="urn:microsoft.com/office/officeart/2005/8/layout/hList7#1"/>
    <dgm:cxn modelId="{D1E3D2F3-5840-4CEA-8045-1693280E85AA}" type="presParOf" srcId="{3F6D32DF-A9D1-493E-B242-E9D92BDB3F81}" destId="{E29438BD-0CFB-46C3-93A0-B9DEF5EC2BDA}" srcOrd="0" destOrd="0" presId="urn:microsoft.com/office/officeart/2005/8/layout/hList7#1"/>
    <dgm:cxn modelId="{1E9E3AEF-A760-4360-AFAE-6C3A05ADD420}" type="presParOf" srcId="{3F6D32DF-A9D1-493E-B242-E9D92BDB3F81}" destId="{599E7A11-0926-4C7B-A8F2-4CAE95D8C713}" srcOrd="1" destOrd="0" presId="urn:microsoft.com/office/officeart/2005/8/layout/hList7#1"/>
    <dgm:cxn modelId="{C97E531A-5CC4-4C37-A00F-29C77755AAB5}" type="presParOf" srcId="{3F6D32DF-A9D1-493E-B242-E9D92BDB3F81}" destId="{C46648A1-2692-4A84-ABF2-888E56A643EB}" srcOrd="2" destOrd="0" presId="urn:microsoft.com/office/officeart/2005/8/layout/hList7#1"/>
    <dgm:cxn modelId="{6C0F79FB-689C-42A2-BFD1-B181775DE53E}" type="presParOf" srcId="{3F6D32DF-A9D1-493E-B242-E9D92BDB3F81}" destId="{CE96911A-9ECA-48D8-9FCD-DD0ACED698C2}" srcOrd="3" destOrd="0" presId="urn:microsoft.com/office/officeart/2005/8/layout/hList7#1"/>
    <dgm:cxn modelId="{0AE321BF-FDB7-4CAA-B05A-D55AB020FC27}" type="presParOf" srcId="{CF0B136A-086D-4B3D-B4D2-7089D8D4472E}" destId="{BFBE7CFC-B320-466B-A884-2AEB0FB2D241}" srcOrd="5" destOrd="0" presId="urn:microsoft.com/office/officeart/2005/8/layout/hList7#1"/>
    <dgm:cxn modelId="{94AC7AC0-98C1-4948-86A4-EB013F0DD8F7}" type="presParOf" srcId="{CF0B136A-086D-4B3D-B4D2-7089D8D4472E}" destId="{5A77996A-2ED0-4207-9400-A233944BC686}" srcOrd="6" destOrd="0" presId="urn:microsoft.com/office/officeart/2005/8/layout/hList7#1"/>
    <dgm:cxn modelId="{F849B628-7AEB-4A3A-90C4-CD5DF9678869}" type="presParOf" srcId="{5A77996A-2ED0-4207-9400-A233944BC686}" destId="{D457D6DC-7D7D-4C6C-8768-6022ADFBB5E2}" srcOrd="0" destOrd="0" presId="urn:microsoft.com/office/officeart/2005/8/layout/hList7#1"/>
    <dgm:cxn modelId="{30DCC516-815A-4EDE-8A69-002AF94029FC}" type="presParOf" srcId="{5A77996A-2ED0-4207-9400-A233944BC686}" destId="{EF1DF662-7A40-4074-BC58-2876E72AFBD6}" srcOrd="1" destOrd="0" presId="urn:microsoft.com/office/officeart/2005/8/layout/hList7#1"/>
    <dgm:cxn modelId="{8B1D4242-6F30-493F-989F-536E3F6B2F45}" type="presParOf" srcId="{5A77996A-2ED0-4207-9400-A233944BC686}" destId="{82C41F6E-2304-4A34-9660-DA44315D4E4B}" srcOrd="2" destOrd="0" presId="urn:microsoft.com/office/officeart/2005/8/layout/hList7#1"/>
    <dgm:cxn modelId="{2C10871E-01DF-4D56-A020-16D09A29C713}" type="presParOf" srcId="{5A77996A-2ED0-4207-9400-A233944BC686}" destId="{7A7FD608-C092-4C7D-81EA-38CC99053848}" srcOrd="3" destOrd="0" presId="urn:microsoft.com/office/officeart/2005/8/layout/hList7#1"/>
    <dgm:cxn modelId="{E80C5327-FB75-4CD3-AA15-E9DCF9D97AEB}" type="presParOf" srcId="{CF0B136A-086D-4B3D-B4D2-7089D8D4472E}" destId="{B57EA86E-A0B1-4D18-B0EF-BFEB071C818A}" srcOrd="7" destOrd="0" presId="urn:microsoft.com/office/officeart/2005/8/layout/hList7#1"/>
    <dgm:cxn modelId="{194376F5-6A1A-49EE-80F3-E40C249EC478}" type="presParOf" srcId="{CF0B136A-086D-4B3D-B4D2-7089D8D4472E}" destId="{5E48458D-7C93-48D0-AB9C-9F2856D1CE61}" srcOrd="8" destOrd="0" presId="urn:microsoft.com/office/officeart/2005/8/layout/hList7#1"/>
    <dgm:cxn modelId="{E6EED60F-4BC7-473C-93D6-3A7FB7753B07}" type="presParOf" srcId="{5E48458D-7C93-48D0-AB9C-9F2856D1CE61}" destId="{14F8F794-8E30-445F-9E56-77CAF1F25FB4}" srcOrd="0" destOrd="0" presId="urn:microsoft.com/office/officeart/2005/8/layout/hList7#1"/>
    <dgm:cxn modelId="{32E67875-F8D2-47FD-90B5-3F7610B897BC}" type="presParOf" srcId="{5E48458D-7C93-48D0-AB9C-9F2856D1CE61}" destId="{73F00CE6-10C8-40DF-8F93-E06AD4056C8A}" srcOrd="1" destOrd="0" presId="urn:microsoft.com/office/officeart/2005/8/layout/hList7#1"/>
    <dgm:cxn modelId="{8D09C44B-C224-4178-9413-1B454C9D1965}" type="presParOf" srcId="{5E48458D-7C93-48D0-AB9C-9F2856D1CE61}" destId="{174DC31A-356F-471C-A0CB-DCFC2FE7C4F5}" srcOrd="2" destOrd="0" presId="urn:microsoft.com/office/officeart/2005/8/layout/hList7#1"/>
    <dgm:cxn modelId="{170EAC14-905F-49C3-A622-BC7150178A37}" type="presParOf" srcId="{5E48458D-7C93-48D0-AB9C-9F2856D1CE61}" destId="{710F1ABD-DBFB-4DDB-B356-B9E58D0B950C}" srcOrd="3" destOrd="0" presId="urn:microsoft.com/office/officeart/2005/8/layout/hList7#1"/>
    <dgm:cxn modelId="{76548E9C-F59B-416E-A46D-289542E51C93}" type="presParOf" srcId="{CF0B136A-086D-4B3D-B4D2-7089D8D4472E}" destId="{69CDCC9D-1B70-44C5-B11E-C326EFE25160}" srcOrd="9" destOrd="0" presId="urn:microsoft.com/office/officeart/2005/8/layout/hList7#1"/>
    <dgm:cxn modelId="{96B90AFE-CD2F-4A75-AA52-ECF43CCD35AD}" type="presParOf" srcId="{CF0B136A-086D-4B3D-B4D2-7089D8D4472E}" destId="{4A7B1683-5F50-458C-9E4E-A364F504CE44}" srcOrd="10" destOrd="0" presId="urn:microsoft.com/office/officeart/2005/8/layout/hList7#1"/>
    <dgm:cxn modelId="{BD6DA63E-7981-4C36-8DCB-3910A1C069C2}" type="presParOf" srcId="{4A7B1683-5F50-458C-9E4E-A364F504CE44}" destId="{B8B834D6-4CEA-40CC-A89B-F74E97066C09}" srcOrd="0" destOrd="0" presId="urn:microsoft.com/office/officeart/2005/8/layout/hList7#1"/>
    <dgm:cxn modelId="{D381BE16-65C0-458D-837C-28C90AE03866}" type="presParOf" srcId="{4A7B1683-5F50-458C-9E4E-A364F504CE44}" destId="{09B88E1E-6F1C-476C-AA9E-26883FA12CBD}" srcOrd="1" destOrd="0" presId="urn:microsoft.com/office/officeart/2005/8/layout/hList7#1"/>
    <dgm:cxn modelId="{7A7041C3-B41F-4A7F-A64F-B93ED61DA027}" type="presParOf" srcId="{4A7B1683-5F50-458C-9E4E-A364F504CE44}" destId="{F98906DF-7E58-4288-B003-DBCE7370AB41}" srcOrd="2" destOrd="0" presId="urn:microsoft.com/office/officeart/2005/8/layout/hList7#1"/>
    <dgm:cxn modelId="{725CD562-AE98-49A9-A6E4-FEA57ADB1E12}" type="presParOf" srcId="{4A7B1683-5F50-458C-9E4E-A364F504CE44}" destId="{B28419F3-447B-4D15-819C-3C2AB0F393CC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2D156B-72BE-4E7B-9195-4D7E893CB6FC}" type="doc">
      <dgm:prSet loTypeId="urn:microsoft.com/office/officeart/2005/8/layout/pList2" loCatId="list" qsTypeId="urn:microsoft.com/office/officeart/2005/8/quickstyle/simple5#2" qsCatId="simple" csTypeId="urn:microsoft.com/office/officeart/2005/8/colors/accent1_3#1" csCatId="accent1" phldr="0"/>
      <dgm:spPr/>
    </dgm:pt>
    <dgm:pt modelId="{D1DCD1F2-5FBF-4777-A12D-27F80D0A4073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1.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细胞计数</a:t>
          </a:r>
        </a:p>
      </dgm:t>
    </dgm:pt>
    <dgm:pt modelId="{705BDBAB-692C-410D-9B06-364708995FED}" cxnId="{D80F749A-78E9-473A-9E0C-758DBFE5001F}" type="parTrans">
      <dgm:prSet/>
      <dgm:spPr/>
    </dgm:pt>
    <dgm:pt modelId="{ADD7B0E8-636E-453F-BEC4-311BBCD921C3}" cxnId="{D80F749A-78E9-473A-9E0C-758DBFE5001F}" type="sibTrans">
      <dgm:prSet/>
      <dgm:spPr/>
    </dgm:pt>
    <dgm:pt modelId="{DCD58F39-64A3-4366-8BDD-68D977B25749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2</a:t>
          </a: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.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配制GSH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标准液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9DC54AFC-9599-43DF-A19C-D21110C7019F}" cxnId="{528070A2-7E57-4868-B080-FB39B1FF9E9E}" type="parTrans">
      <dgm:prSet/>
      <dgm:spPr/>
    </dgm:pt>
    <dgm:pt modelId="{D23B20D7-9D01-4A0E-B63D-E62C30B04B04}" cxnId="{528070A2-7E57-4868-B080-FB39B1FF9E9E}" type="sibTrans">
      <dgm:prSet/>
      <dgm:spPr/>
    </dgm:pt>
    <dgm:pt modelId="{27C12049-4CB2-4536-8227-B0DF616360E0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3</a:t>
          </a: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.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配制不同浓度GSH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标准品稀释液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B9D20506-986B-4FCE-B518-F60E38157794}" cxnId="{BEF6C889-0491-4501-96C1-452089971239}" type="parTrans">
      <dgm:prSet/>
      <dgm:spPr/>
    </dgm:pt>
    <dgm:pt modelId="{DD65B93B-058B-42A3-9283-43D14A0D5F1A}" cxnId="{BEF6C889-0491-4501-96C1-452089971239}" type="sibTrans">
      <dgm:prSet/>
      <dgm:spPr/>
    </dgm:pt>
    <dgm:pt modelId="{EBB83C33-9568-435D-89BC-495BBB4DCAFC}">
      <dgm:prSet/>
      <dgm:spPr/>
      <dgm:t>
        <a:bodyPr/>
        <a:lstStyle/>
        <a:p>
          <a:endParaRPr altLang="en-US"/>
        </a:p>
      </dgm:t>
    </dgm:pt>
    <dgm:pt modelId="{6A3A413C-EA50-431A-AF35-9D7F5B463800}" cxnId="{FD290120-FA90-4CDC-82CA-112CC80F2EEF}" type="parTrans">
      <dgm:prSet/>
      <dgm:spPr/>
    </dgm:pt>
    <dgm:pt modelId="{81FFC09E-A930-4C20-B5D7-010B8DC7CCB4}" cxnId="{FD290120-FA90-4CDC-82CA-112CC80F2EEF}" type="sibTrans">
      <dgm:prSet/>
      <dgm:spPr/>
    </dgm:pt>
    <dgm:pt modelId="{E9B00DD5-625B-4ABC-B58B-BDECC081C7C9}">
      <dgm:prSet/>
      <dgm:spPr/>
      <dgm:t>
        <a:bodyPr/>
        <a:lstStyle/>
        <a:p>
          <a:endParaRPr altLang="en-US"/>
        </a:p>
      </dgm:t>
    </dgm:pt>
    <dgm:pt modelId="{EAA9DDB7-A684-43EE-B3DC-F187C89D4FAF}" cxnId="{C104F6B6-4F8A-4B7B-BFA7-07249A4D3B65}" type="parTrans">
      <dgm:prSet/>
      <dgm:spPr/>
    </dgm:pt>
    <dgm:pt modelId="{A3B5FEB8-BA6C-42A3-89B7-1AD43B8724F5}" cxnId="{C104F6B6-4F8A-4B7B-BFA7-07249A4D3B65}" type="sibTrans">
      <dgm:prSet/>
      <dgm:spPr/>
    </dgm:pt>
    <dgm:pt modelId="{64605542-82D8-4CAF-A6D6-A3577C527216}">
      <dgm:prSet/>
      <dgm:spPr/>
      <dgm:t>
        <a:bodyPr/>
        <a:lstStyle/>
        <a:p>
          <a:endParaRPr altLang="en-US"/>
        </a:p>
      </dgm:t>
    </dgm:pt>
    <dgm:pt modelId="{46299465-CA2D-4AD5-8C86-471C1BBD76D5}" cxnId="{51D9933E-AB30-4B6F-8D7E-A584D1F0FA85}" type="parTrans">
      <dgm:prSet/>
      <dgm:spPr/>
    </dgm:pt>
    <dgm:pt modelId="{903A0946-FB39-414F-BAA0-375B634DB41A}" cxnId="{51D9933E-AB30-4B6F-8D7E-A584D1F0FA85}" type="sibTrans">
      <dgm:prSet/>
      <dgm:spPr/>
    </dgm:pt>
    <dgm:pt modelId="{4F7A1418-FBBD-4D99-993B-714DCDF7C8B7}">
      <dgm:prSet/>
      <dgm:spPr/>
      <dgm:t>
        <a:bodyPr/>
        <a:lstStyle/>
        <a:p>
          <a:endParaRPr altLang="en-US"/>
        </a:p>
      </dgm:t>
    </dgm:pt>
    <dgm:pt modelId="{1B67574E-275B-4E04-86E7-F2BB0624244B}" cxnId="{92FF171D-0E1D-4ED9-97B4-D894C95D75FD}" type="parTrans">
      <dgm:prSet/>
      <dgm:spPr/>
    </dgm:pt>
    <dgm:pt modelId="{4485C471-4919-460C-8F89-BCF2A95E45CA}" cxnId="{92FF171D-0E1D-4ED9-97B4-D894C95D75FD}" type="sibTrans">
      <dgm:prSet/>
      <dgm:spPr/>
    </dgm:pt>
    <dgm:pt modelId="{E82381C5-9686-46B0-9297-1D8A141D1ED7}">
      <dgm:prSet/>
      <dgm:spPr/>
      <dgm:t>
        <a:bodyPr/>
        <a:lstStyle/>
        <a:p>
          <a:endParaRPr altLang="en-US"/>
        </a:p>
      </dgm:t>
    </dgm:pt>
    <dgm:pt modelId="{EA0480F2-7C9C-4DCA-9AF7-5E203BEEC54A}" cxnId="{B3988F40-7146-41AA-8AE4-638E65178C3D}" type="parTrans">
      <dgm:prSet/>
      <dgm:spPr/>
    </dgm:pt>
    <dgm:pt modelId="{0A0668F4-7C7A-4ADA-8475-3149A8FB860B}" cxnId="{B3988F40-7146-41AA-8AE4-638E65178C3D}" type="sibTrans">
      <dgm:prSet/>
      <dgm:spPr/>
    </dgm:pt>
    <dgm:pt modelId="{D19C45FC-68D7-418C-8249-1768A2F24F1F}" type="pres">
      <dgm:prSet presAssocID="{442D156B-72BE-4E7B-9195-4D7E893CB6FC}" presName="Name0" presStyleCnt="0">
        <dgm:presLayoutVars>
          <dgm:dir/>
          <dgm:resizeHandles val="exact"/>
        </dgm:presLayoutVars>
      </dgm:prSet>
      <dgm:spPr/>
    </dgm:pt>
    <dgm:pt modelId="{949F2D2B-5CA9-49AF-8788-3F9CF9022990}" type="pres">
      <dgm:prSet presAssocID="{442D156B-72BE-4E7B-9195-4D7E893CB6FC}" presName="bkgdShp" presStyleLbl="alignAccFollowNode1" presStyleIdx="0" presStyleCnt="1"/>
      <dgm:spPr/>
    </dgm:pt>
    <dgm:pt modelId="{EFABCFA1-5CBA-465A-954D-EEAD0C9E0DFC}" type="pres">
      <dgm:prSet presAssocID="{442D156B-72BE-4E7B-9195-4D7E893CB6FC}" presName="linComp" presStyleCnt="0"/>
      <dgm:spPr/>
    </dgm:pt>
    <dgm:pt modelId="{1E529111-1AB5-4CBE-AFFE-E570B65BD2F4}" type="pres">
      <dgm:prSet presAssocID="{D1DCD1F2-5FBF-4777-A12D-27F80D0A4073}" presName="compNode" presStyleCnt="0"/>
      <dgm:spPr/>
    </dgm:pt>
    <dgm:pt modelId="{2B19FBE7-970E-4A8C-A672-C621E2491735}" type="pres">
      <dgm:prSet presAssocID="{D1DCD1F2-5FBF-4777-A12D-27F80D0A4073}" presName="node" presStyleLbl="node1" presStyleIdx="0" presStyleCnt="6">
        <dgm:presLayoutVars>
          <dgm:bulletEnabled val="1"/>
        </dgm:presLayoutVars>
      </dgm:prSet>
      <dgm:spPr/>
    </dgm:pt>
    <dgm:pt modelId="{934766A7-F88E-4FEA-B096-528254CECB45}" type="pres">
      <dgm:prSet presAssocID="{D1DCD1F2-5FBF-4777-A12D-27F80D0A4073}" presName="invisiNode" presStyleLbl="node1" presStyleIdx="0" presStyleCnt="6"/>
      <dgm:spPr/>
    </dgm:pt>
    <dgm:pt modelId="{184746F7-D345-4B9C-9538-78DDF8B73A21}" type="pres">
      <dgm:prSet presAssocID="{D1DCD1F2-5FBF-4777-A12D-27F80D0A4073}" presName="imagNode" presStyleLbl="fgImgPlace1" presStyleIdx="0" presStyleCnt="6"/>
      <dgm:spPr/>
    </dgm:pt>
    <dgm:pt modelId="{8D211F80-D554-4704-81D7-0389FFA7AB28}" type="pres">
      <dgm:prSet presAssocID="{ADD7B0E8-636E-453F-BEC4-311BBCD921C3}" presName="sibTrans" presStyleLbl="sibTrans2D1" presStyleIdx="0" presStyleCnt="0"/>
      <dgm:spPr/>
    </dgm:pt>
    <dgm:pt modelId="{D91FC77B-5DFC-48AA-84EC-4FCF744DC5B3}" type="pres">
      <dgm:prSet presAssocID="{DCD58F39-64A3-4366-8BDD-68D977B25749}" presName="compNode" presStyleCnt="0"/>
      <dgm:spPr/>
    </dgm:pt>
    <dgm:pt modelId="{96A8B75F-79AB-4B29-9F1D-3C622EFEC09C}" type="pres">
      <dgm:prSet presAssocID="{DCD58F39-64A3-4366-8BDD-68D977B25749}" presName="node" presStyleLbl="node1" presStyleIdx="1" presStyleCnt="6">
        <dgm:presLayoutVars>
          <dgm:bulletEnabled val="1"/>
        </dgm:presLayoutVars>
      </dgm:prSet>
      <dgm:spPr/>
    </dgm:pt>
    <dgm:pt modelId="{4795F39C-70F8-4217-81C0-7811B0640504}" type="pres">
      <dgm:prSet presAssocID="{DCD58F39-64A3-4366-8BDD-68D977B25749}" presName="invisiNode" presStyleLbl="node1" presStyleIdx="1" presStyleCnt="6"/>
      <dgm:spPr/>
    </dgm:pt>
    <dgm:pt modelId="{EAB0D035-4E75-474F-AE2D-6C374B752B4C}" type="pres">
      <dgm:prSet presAssocID="{DCD58F39-64A3-4366-8BDD-68D977B25749}" presName="imagNode" presStyleLbl="fgImgPlace1" presStyleIdx="1" presStyleCnt="6"/>
      <dgm:spPr/>
    </dgm:pt>
    <dgm:pt modelId="{F37B8259-20B4-43DC-B8E3-5F00AD11D000}" type="pres">
      <dgm:prSet presAssocID="{D23B20D7-9D01-4A0E-B63D-E62C30B04B04}" presName="sibTrans" presStyleLbl="sibTrans2D1" presStyleIdx="0" presStyleCnt="0"/>
      <dgm:spPr/>
    </dgm:pt>
    <dgm:pt modelId="{FC8CD350-B7AF-4362-915A-1C9D4876012D}" type="pres">
      <dgm:prSet presAssocID="{27C12049-4CB2-4536-8227-B0DF616360E0}" presName="compNode" presStyleCnt="0"/>
      <dgm:spPr/>
    </dgm:pt>
    <dgm:pt modelId="{A89A6491-DE88-4E3C-9A90-22F5EB697CEE}" type="pres">
      <dgm:prSet presAssocID="{27C12049-4CB2-4536-8227-B0DF616360E0}" presName="node" presStyleLbl="node1" presStyleIdx="2" presStyleCnt="6">
        <dgm:presLayoutVars>
          <dgm:bulletEnabled val="1"/>
        </dgm:presLayoutVars>
      </dgm:prSet>
      <dgm:spPr/>
    </dgm:pt>
    <dgm:pt modelId="{A3745797-7DED-472A-BA2B-7809339AB1D9}" type="pres">
      <dgm:prSet presAssocID="{27C12049-4CB2-4536-8227-B0DF616360E0}" presName="invisiNode" presStyleLbl="node1" presStyleIdx="2" presStyleCnt="6"/>
      <dgm:spPr/>
    </dgm:pt>
    <dgm:pt modelId="{A81AEBCC-ADDF-4B24-BAF0-CA1EC5381367}" type="pres">
      <dgm:prSet presAssocID="{27C12049-4CB2-4536-8227-B0DF616360E0}" presName="imagNode" presStyleLbl="fgImgPlace1" presStyleIdx="2" presStyleCnt="6"/>
      <dgm:spPr/>
    </dgm:pt>
    <dgm:pt modelId="{02B8B49B-1BCA-4ED4-B5E2-06368B34F3D8}" type="pres">
      <dgm:prSet presAssocID="{DD65B93B-058B-42A3-9283-43D14A0D5F1A}" presName="sibTrans" presStyleLbl="sibTrans2D1" presStyleIdx="0" presStyleCnt="0"/>
      <dgm:spPr/>
    </dgm:pt>
    <dgm:pt modelId="{B6199001-38FD-4138-A992-CF22E6C4F2EC}" type="pres">
      <dgm:prSet presAssocID="{EBB83C33-9568-435D-89BC-495BBB4DCAFC}" presName="compNode" presStyleCnt="0"/>
      <dgm:spPr/>
    </dgm:pt>
    <dgm:pt modelId="{4E425CF7-0775-4552-878B-77A4620A72B2}" type="pres">
      <dgm:prSet presAssocID="{EBB83C33-9568-435D-89BC-495BBB4DCAFC}" presName="node" presStyleLbl="node1" presStyleIdx="3" presStyleCnt="6">
        <dgm:presLayoutVars>
          <dgm:bulletEnabled val="1"/>
        </dgm:presLayoutVars>
      </dgm:prSet>
      <dgm:spPr/>
    </dgm:pt>
    <dgm:pt modelId="{D29B0DDA-BCB0-49F7-8DE2-998F2D05B093}" type="pres">
      <dgm:prSet presAssocID="{EBB83C33-9568-435D-89BC-495BBB4DCAFC}" presName="invisiNode" presStyleLbl="node1" presStyleIdx="3" presStyleCnt="6"/>
      <dgm:spPr/>
    </dgm:pt>
    <dgm:pt modelId="{3393888E-152B-4D11-A4E7-41A859A1B650}" type="pres">
      <dgm:prSet presAssocID="{EBB83C33-9568-435D-89BC-495BBB4DCAFC}" presName="imagNode" presStyleLbl="fgImgPlace1" presStyleIdx="3" presStyleCnt="6"/>
      <dgm:spPr/>
    </dgm:pt>
    <dgm:pt modelId="{513B5D00-B571-4A21-BD1B-B8820E0C068B}" type="pres">
      <dgm:prSet presAssocID="{81FFC09E-A930-4C20-B5D7-010B8DC7CCB4}" presName="sibTrans" presStyleLbl="sibTrans2D1" presStyleIdx="0" presStyleCnt="0"/>
      <dgm:spPr/>
    </dgm:pt>
    <dgm:pt modelId="{DF80FF8A-A206-44E6-8B46-198AE627E688}" type="pres">
      <dgm:prSet presAssocID="{E9B00DD5-625B-4ABC-B58B-BDECC081C7C9}" presName="compNode" presStyleCnt="0"/>
      <dgm:spPr/>
    </dgm:pt>
    <dgm:pt modelId="{0ADAF495-82FC-4DBB-AACD-F68EAD270C12}" type="pres">
      <dgm:prSet presAssocID="{E9B00DD5-625B-4ABC-B58B-BDECC081C7C9}" presName="node" presStyleLbl="node1" presStyleIdx="4" presStyleCnt="6">
        <dgm:presLayoutVars>
          <dgm:bulletEnabled val="1"/>
        </dgm:presLayoutVars>
      </dgm:prSet>
      <dgm:spPr/>
    </dgm:pt>
    <dgm:pt modelId="{D10F8662-E74D-4DAD-934A-FC3706AD6391}" type="pres">
      <dgm:prSet presAssocID="{E9B00DD5-625B-4ABC-B58B-BDECC081C7C9}" presName="invisiNode" presStyleLbl="node1" presStyleIdx="4" presStyleCnt="6"/>
      <dgm:spPr/>
    </dgm:pt>
    <dgm:pt modelId="{B4AF088C-B1E0-4C6E-836E-877925B433BF}" type="pres">
      <dgm:prSet presAssocID="{E9B00DD5-625B-4ABC-B58B-BDECC081C7C9}" presName="imagNode" presStyleLbl="fgImgPlace1" presStyleIdx="4" presStyleCnt="6"/>
      <dgm:spPr/>
    </dgm:pt>
    <dgm:pt modelId="{1A346C60-6F91-4F36-98D6-6BB262059B54}" type="pres">
      <dgm:prSet presAssocID="{A3B5FEB8-BA6C-42A3-89B7-1AD43B8724F5}" presName="sibTrans" presStyleLbl="sibTrans2D1" presStyleIdx="0" presStyleCnt="0"/>
      <dgm:spPr/>
    </dgm:pt>
    <dgm:pt modelId="{3575D2F6-C30C-47E8-B78B-46E44A23B963}" type="pres">
      <dgm:prSet presAssocID="{64605542-82D8-4CAF-A6D6-A3577C527216}" presName="compNode" presStyleCnt="0"/>
      <dgm:spPr/>
    </dgm:pt>
    <dgm:pt modelId="{4CE04AA6-A12F-432D-8BC4-3D3B5BC01F8A}" type="pres">
      <dgm:prSet presAssocID="{64605542-82D8-4CAF-A6D6-A3577C527216}" presName="node" presStyleLbl="node1" presStyleIdx="5" presStyleCnt="6">
        <dgm:presLayoutVars>
          <dgm:bulletEnabled val="1"/>
        </dgm:presLayoutVars>
      </dgm:prSet>
      <dgm:spPr/>
    </dgm:pt>
    <dgm:pt modelId="{36507890-A741-47CA-9609-32A064637984}" type="pres">
      <dgm:prSet presAssocID="{64605542-82D8-4CAF-A6D6-A3577C527216}" presName="invisiNode" presStyleLbl="node1" presStyleIdx="5" presStyleCnt="6"/>
      <dgm:spPr/>
    </dgm:pt>
    <dgm:pt modelId="{C4F237D0-5040-4B14-80EB-F2D374625C62}" type="pres">
      <dgm:prSet presAssocID="{64605542-82D8-4CAF-A6D6-A3577C527216}" presName="imagNode" presStyleLbl="fgImgPlace1" presStyleIdx="5" presStyleCnt="6"/>
      <dgm:spPr/>
    </dgm:pt>
  </dgm:ptLst>
  <dgm:cxnLst>
    <dgm:cxn modelId="{78127B01-1CD5-44EB-99C7-F74D6945B339}" type="presOf" srcId="{A3B5FEB8-BA6C-42A3-89B7-1AD43B8724F5}" destId="{1A346C60-6F91-4F36-98D6-6BB262059B54}" srcOrd="0" destOrd="0" presId="urn:microsoft.com/office/officeart/2005/8/layout/pList2"/>
    <dgm:cxn modelId="{EE27C009-7CBB-492C-992A-FD1823F78ADB}" type="presOf" srcId="{ADD7B0E8-636E-453F-BEC4-311BBCD921C3}" destId="{8D211F80-D554-4704-81D7-0389FFA7AB28}" srcOrd="0" destOrd="0" presId="urn:microsoft.com/office/officeart/2005/8/layout/pList2"/>
    <dgm:cxn modelId="{92FF171D-0E1D-4ED9-97B4-D894C95D75FD}" srcId="{64605542-82D8-4CAF-A6D6-A3577C527216}" destId="{4F7A1418-FBBD-4D99-993B-714DCDF7C8B7}" srcOrd="0" destOrd="0" parTransId="{1B67574E-275B-4E04-86E7-F2BB0624244B}" sibTransId="{4485C471-4919-460C-8F89-BCF2A95E45CA}"/>
    <dgm:cxn modelId="{FD290120-FA90-4CDC-82CA-112CC80F2EEF}" srcId="{442D156B-72BE-4E7B-9195-4D7E893CB6FC}" destId="{EBB83C33-9568-435D-89BC-495BBB4DCAFC}" srcOrd="3" destOrd="0" parTransId="{6A3A413C-EA50-431A-AF35-9D7F5B463800}" sibTransId="{81FFC09E-A930-4C20-B5D7-010B8DC7CCB4}"/>
    <dgm:cxn modelId="{B4E1342A-C37B-45C5-BA28-0EA5A3A2CE29}" type="presOf" srcId="{DCD58F39-64A3-4366-8BDD-68D977B25749}" destId="{96A8B75F-79AB-4B29-9F1D-3C622EFEC09C}" srcOrd="0" destOrd="0" presId="urn:microsoft.com/office/officeart/2005/8/layout/pList2"/>
    <dgm:cxn modelId="{3981CB2C-48CF-4D18-ABDB-B53436AABF3C}" type="presOf" srcId="{64605542-82D8-4CAF-A6D6-A3577C527216}" destId="{4CE04AA6-A12F-432D-8BC4-3D3B5BC01F8A}" srcOrd="0" destOrd="0" presId="urn:microsoft.com/office/officeart/2005/8/layout/pList2"/>
    <dgm:cxn modelId="{EE8FBC31-C5E6-4BB4-B65B-AF3355E9903A}" type="presOf" srcId="{EBB83C33-9568-435D-89BC-495BBB4DCAFC}" destId="{4E425CF7-0775-4552-878B-77A4620A72B2}" srcOrd="0" destOrd="0" presId="urn:microsoft.com/office/officeart/2005/8/layout/pList2"/>
    <dgm:cxn modelId="{51D9933E-AB30-4B6F-8D7E-A584D1F0FA85}" srcId="{442D156B-72BE-4E7B-9195-4D7E893CB6FC}" destId="{64605542-82D8-4CAF-A6D6-A3577C527216}" srcOrd="5" destOrd="0" parTransId="{46299465-CA2D-4AD5-8C86-471C1BBD76D5}" sibTransId="{903A0946-FB39-414F-BAA0-375B634DB41A}"/>
    <dgm:cxn modelId="{B3988F40-7146-41AA-8AE4-638E65178C3D}" srcId="{4F7A1418-FBBD-4D99-993B-714DCDF7C8B7}" destId="{E82381C5-9686-46B0-9297-1D8A141D1ED7}" srcOrd="0" destOrd="0" parTransId="{EA0480F2-7C9C-4DCA-9AF7-5E203BEEC54A}" sibTransId="{0A0668F4-7C7A-4ADA-8475-3149A8FB860B}"/>
    <dgm:cxn modelId="{89F6CC63-9EA4-48A6-8AA5-A1ACC11E9D82}" type="presOf" srcId="{DD65B93B-058B-42A3-9283-43D14A0D5F1A}" destId="{02B8B49B-1BCA-4ED4-B5E2-06368B34F3D8}" srcOrd="0" destOrd="0" presId="urn:microsoft.com/office/officeart/2005/8/layout/pList2"/>
    <dgm:cxn modelId="{EAC29C47-0513-44E5-8F52-9E7D218EBB4F}" type="presOf" srcId="{D23B20D7-9D01-4A0E-B63D-E62C30B04B04}" destId="{F37B8259-20B4-43DC-B8E3-5F00AD11D000}" srcOrd="0" destOrd="0" presId="urn:microsoft.com/office/officeart/2005/8/layout/pList2"/>
    <dgm:cxn modelId="{A32A7C4E-FD98-48D9-9495-ADAA522CCE8E}" type="presOf" srcId="{442D156B-72BE-4E7B-9195-4D7E893CB6FC}" destId="{D19C45FC-68D7-418C-8249-1768A2F24F1F}" srcOrd="0" destOrd="0" presId="urn:microsoft.com/office/officeart/2005/8/layout/pList2"/>
    <dgm:cxn modelId="{BA2DAB71-A60A-4528-8FCD-F8357FE67264}" type="presOf" srcId="{4F7A1418-FBBD-4D99-993B-714DCDF7C8B7}" destId="{4CE04AA6-A12F-432D-8BC4-3D3B5BC01F8A}" srcOrd="0" destOrd="1" presId="urn:microsoft.com/office/officeart/2005/8/layout/pList2"/>
    <dgm:cxn modelId="{BEF6C889-0491-4501-96C1-452089971239}" srcId="{442D156B-72BE-4E7B-9195-4D7E893CB6FC}" destId="{27C12049-4CB2-4536-8227-B0DF616360E0}" srcOrd="2" destOrd="0" parTransId="{B9D20506-986B-4FCE-B518-F60E38157794}" sibTransId="{DD65B93B-058B-42A3-9283-43D14A0D5F1A}"/>
    <dgm:cxn modelId="{D80F749A-78E9-473A-9E0C-758DBFE5001F}" srcId="{442D156B-72BE-4E7B-9195-4D7E893CB6FC}" destId="{D1DCD1F2-5FBF-4777-A12D-27F80D0A4073}" srcOrd="0" destOrd="0" parTransId="{705BDBAB-692C-410D-9B06-364708995FED}" sibTransId="{ADD7B0E8-636E-453F-BEC4-311BBCD921C3}"/>
    <dgm:cxn modelId="{D700859A-854C-4B60-9ACF-DA0388E70261}" type="presOf" srcId="{E82381C5-9686-46B0-9297-1D8A141D1ED7}" destId="{4CE04AA6-A12F-432D-8BC4-3D3B5BC01F8A}" srcOrd="0" destOrd="2" presId="urn:microsoft.com/office/officeart/2005/8/layout/pList2"/>
    <dgm:cxn modelId="{1456F09F-54EA-448B-AA80-24B440BAFD3D}" type="presOf" srcId="{81FFC09E-A930-4C20-B5D7-010B8DC7CCB4}" destId="{513B5D00-B571-4A21-BD1B-B8820E0C068B}" srcOrd="0" destOrd="0" presId="urn:microsoft.com/office/officeart/2005/8/layout/pList2"/>
    <dgm:cxn modelId="{528070A2-7E57-4868-B080-FB39B1FF9E9E}" srcId="{442D156B-72BE-4E7B-9195-4D7E893CB6FC}" destId="{DCD58F39-64A3-4366-8BDD-68D977B25749}" srcOrd="1" destOrd="0" parTransId="{9DC54AFC-9599-43DF-A19C-D21110C7019F}" sibTransId="{D23B20D7-9D01-4A0E-B63D-E62C30B04B04}"/>
    <dgm:cxn modelId="{C104F6B6-4F8A-4B7B-BFA7-07249A4D3B65}" srcId="{442D156B-72BE-4E7B-9195-4D7E893CB6FC}" destId="{E9B00DD5-625B-4ABC-B58B-BDECC081C7C9}" srcOrd="4" destOrd="0" parTransId="{EAA9DDB7-A684-43EE-B3DC-F187C89D4FAF}" sibTransId="{A3B5FEB8-BA6C-42A3-89B7-1AD43B8724F5}"/>
    <dgm:cxn modelId="{58332FBE-F556-4376-974F-C564F8F0B7A7}" type="presOf" srcId="{E9B00DD5-625B-4ABC-B58B-BDECC081C7C9}" destId="{0ADAF495-82FC-4DBB-AACD-F68EAD270C12}" srcOrd="0" destOrd="0" presId="urn:microsoft.com/office/officeart/2005/8/layout/pList2"/>
    <dgm:cxn modelId="{3E3122C5-DE6D-4541-B55D-B4EB3788357E}" type="presOf" srcId="{D1DCD1F2-5FBF-4777-A12D-27F80D0A4073}" destId="{2B19FBE7-970E-4A8C-A672-C621E2491735}" srcOrd="0" destOrd="0" presId="urn:microsoft.com/office/officeart/2005/8/layout/pList2"/>
    <dgm:cxn modelId="{0E77B4F5-A6B1-4A38-AD21-B31D6EBDF65E}" type="presOf" srcId="{27C12049-4CB2-4536-8227-B0DF616360E0}" destId="{A89A6491-DE88-4E3C-9A90-22F5EB697CEE}" srcOrd="0" destOrd="0" presId="urn:microsoft.com/office/officeart/2005/8/layout/pList2"/>
    <dgm:cxn modelId="{988CEC8C-572D-4AC2-BEDC-CD25729CA540}" type="presParOf" srcId="{D19C45FC-68D7-418C-8249-1768A2F24F1F}" destId="{949F2D2B-5CA9-49AF-8788-3F9CF9022990}" srcOrd="0" destOrd="0" presId="urn:microsoft.com/office/officeart/2005/8/layout/pList2"/>
    <dgm:cxn modelId="{87BA427F-1B65-4C92-9154-7A5A485FE2B1}" type="presParOf" srcId="{D19C45FC-68D7-418C-8249-1768A2F24F1F}" destId="{EFABCFA1-5CBA-465A-954D-EEAD0C9E0DFC}" srcOrd="1" destOrd="0" presId="urn:microsoft.com/office/officeart/2005/8/layout/pList2"/>
    <dgm:cxn modelId="{29026988-DEE3-4EA1-9507-E76E6BF0DEBA}" type="presParOf" srcId="{EFABCFA1-5CBA-465A-954D-EEAD0C9E0DFC}" destId="{1E529111-1AB5-4CBE-AFFE-E570B65BD2F4}" srcOrd="0" destOrd="0" presId="urn:microsoft.com/office/officeart/2005/8/layout/pList2"/>
    <dgm:cxn modelId="{7B35DF3A-306A-4816-AF2C-43980D5C649C}" type="presParOf" srcId="{1E529111-1AB5-4CBE-AFFE-E570B65BD2F4}" destId="{2B19FBE7-970E-4A8C-A672-C621E2491735}" srcOrd="0" destOrd="0" presId="urn:microsoft.com/office/officeart/2005/8/layout/pList2"/>
    <dgm:cxn modelId="{B7D97896-CB91-436E-B3FF-40E4D83820DF}" type="presParOf" srcId="{1E529111-1AB5-4CBE-AFFE-E570B65BD2F4}" destId="{934766A7-F88E-4FEA-B096-528254CECB45}" srcOrd="1" destOrd="0" presId="urn:microsoft.com/office/officeart/2005/8/layout/pList2"/>
    <dgm:cxn modelId="{46908CB9-D626-4EE1-A7B4-497A1AA89212}" type="presParOf" srcId="{1E529111-1AB5-4CBE-AFFE-E570B65BD2F4}" destId="{184746F7-D345-4B9C-9538-78DDF8B73A21}" srcOrd="2" destOrd="0" presId="urn:microsoft.com/office/officeart/2005/8/layout/pList2"/>
    <dgm:cxn modelId="{09D2EA79-8C16-4265-8E47-88A6BF0D582C}" type="presParOf" srcId="{EFABCFA1-5CBA-465A-954D-EEAD0C9E0DFC}" destId="{8D211F80-D554-4704-81D7-0389FFA7AB28}" srcOrd="1" destOrd="0" presId="urn:microsoft.com/office/officeart/2005/8/layout/pList2"/>
    <dgm:cxn modelId="{3D3068E8-9971-4292-8478-38F4613A5D85}" type="presParOf" srcId="{EFABCFA1-5CBA-465A-954D-EEAD0C9E0DFC}" destId="{D91FC77B-5DFC-48AA-84EC-4FCF744DC5B3}" srcOrd="2" destOrd="0" presId="urn:microsoft.com/office/officeart/2005/8/layout/pList2"/>
    <dgm:cxn modelId="{202DFD37-583E-4285-8DC2-E072F816450E}" type="presParOf" srcId="{D91FC77B-5DFC-48AA-84EC-4FCF744DC5B3}" destId="{96A8B75F-79AB-4B29-9F1D-3C622EFEC09C}" srcOrd="0" destOrd="0" presId="urn:microsoft.com/office/officeart/2005/8/layout/pList2"/>
    <dgm:cxn modelId="{8F402FE6-2B31-4115-8F35-F4B6E0306064}" type="presParOf" srcId="{D91FC77B-5DFC-48AA-84EC-4FCF744DC5B3}" destId="{4795F39C-70F8-4217-81C0-7811B0640504}" srcOrd="1" destOrd="0" presId="urn:microsoft.com/office/officeart/2005/8/layout/pList2"/>
    <dgm:cxn modelId="{7A2DBC56-041D-4788-80DB-C2C8EDE7852F}" type="presParOf" srcId="{D91FC77B-5DFC-48AA-84EC-4FCF744DC5B3}" destId="{EAB0D035-4E75-474F-AE2D-6C374B752B4C}" srcOrd="2" destOrd="0" presId="urn:microsoft.com/office/officeart/2005/8/layout/pList2"/>
    <dgm:cxn modelId="{C618EE2D-EDD4-479F-BF04-915F48DB1BE3}" type="presParOf" srcId="{EFABCFA1-5CBA-465A-954D-EEAD0C9E0DFC}" destId="{F37B8259-20B4-43DC-B8E3-5F00AD11D000}" srcOrd="3" destOrd="0" presId="urn:microsoft.com/office/officeart/2005/8/layout/pList2"/>
    <dgm:cxn modelId="{46BDBB1D-9AE3-44B3-9AA3-47724ADB062E}" type="presParOf" srcId="{EFABCFA1-5CBA-465A-954D-EEAD0C9E0DFC}" destId="{FC8CD350-B7AF-4362-915A-1C9D4876012D}" srcOrd="4" destOrd="0" presId="urn:microsoft.com/office/officeart/2005/8/layout/pList2"/>
    <dgm:cxn modelId="{494FBF0B-F50E-4E4E-B2A7-1522B588986C}" type="presParOf" srcId="{FC8CD350-B7AF-4362-915A-1C9D4876012D}" destId="{A89A6491-DE88-4E3C-9A90-22F5EB697CEE}" srcOrd="0" destOrd="0" presId="urn:microsoft.com/office/officeart/2005/8/layout/pList2"/>
    <dgm:cxn modelId="{000457D2-9AE9-4D89-873D-F9BB44BAD6A8}" type="presParOf" srcId="{FC8CD350-B7AF-4362-915A-1C9D4876012D}" destId="{A3745797-7DED-472A-BA2B-7809339AB1D9}" srcOrd="1" destOrd="0" presId="urn:microsoft.com/office/officeart/2005/8/layout/pList2"/>
    <dgm:cxn modelId="{D4E18E61-AF25-4C40-9773-23D548C8A26B}" type="presParOf" srcId="{FC8CD350-B7AF-4362-915A-1C9D4876012D}" destId="{A81AEBCC-ADDF-4B24-BAF0-CA1EC5381367}" srcOrd="2" destOrd="0" presId="urn:microsoft.com/office/officeart/2005/8/layout/pList2"/>
    <dgm:cxn modelId="{6F940AC5-ACD5-40CD-B698-B7C8D0195038}" type="presParOf" srcId="{EFABCFA1-5CBA-465A-954D-EEAD0C9E0DFC}" destId="{02B8B49B-1BCA-4ED4-B5E2-06368B34F3D8}" srcOrd="5" destOrd="0" presId="urn:microsoft.com/office/officeart/2005/8/layout/pList2"/>
    <dgm:cxn modelId="{91CDEC9A-8317-4336-B1F5-39AB5CC10277}" type="presParOf" srcId="{EFABCFA1-5CBA-465A-954D-EEAD0C9E0DFC}" destId="{B6199001-38FD-4138-A992-CF22E6C4F2EC}" srcOrd="6" destOrd="0" presId="urn:microsoft.com/office/officeart/2005/8/layout/pList2"/>
    <dgm:cxn modelId="{C4E06AC6-8273-4807-A930-138406F30333}" type="presParOf" srcId="{B6199001-38FD-4138-A992-CF22E6C4F2EC}" destId="{4E425CF7-0775-4552-878B-77A4620A72B2}" srcOrd="0" destOrd="0" presId="urn:microsoft.com/office/officeart/2005/8/layout/pList2"/>
    <dgm:cxn modelId="{0256D266-7E26-4BBC-8A4D-A62D9342A60D}" type="presParOf" srcId="{B6199001-38FD-4138-A992-CF22E6C4F2EC}" destId="{D29B0DDA-BCB0-49F7-8DE2-998F2D05B093}" srcOrd="1" destOrd="0" presId="urn:microsoft.com/office/officeart/2005/8/layout/pList2"/>
    <dgm:cxn modelId="{32FD3ED7-8551-45E4-AEDD-3B3B7F35BE59}" type="presParOf" srcId="{B6199001-38FD-4138-A992-CF22E6C4F2EC}" destId="{3393888E-152B-4D11-A4E7-41A859A1B650}" srcOrd="2" destOrd="0" presId="urn:microsoft.com/office/officeart/2005/8/layout/pList2"/>
    <dgm:cxn modelId="{7C4B9F09-1820-42BD-954A-CC01316F0F14}" type="presParOf" srcId="{EFABCFA1-5CBA-465A-954D-EEAD0C9E0DFC}" destId="{513B5D00-B571-4A21-BD1B-B8820E0C068B}" srcOrd="7" destOrd="0" presId="urn:microsoft.com/office/officeart/2005/8/layout/pList2"/>
    <dgm:cxn modelId="{13BD5470-51CA-495E-B29A-5EF84C10315B}" type="presParOf" srcId="{EFABCFA1-5CBA-465A-954D-EEAD0C9E0DFC}" destId="{DF80FF8A-A206-44E6-8B46-198AE627E688}" srcOrd="8" destOrd="0" presId="urn:microsoft.com/office/officeart/2005/8/layout/pList2"/>
    <dgm:cxn modelId="{4EFD90AE-EAF2-428B-B6F1-2377AB7D335E}" type="presParOf" srcId="{DF80FF8A-A206-44E6-8B46-198AE627E688}" destId="{0ADAF495-82FC-4DBB-AACD-F68EAD270C12}" srcOrd="0" destOrd="0" presId="urn:microsoft.com/office/officeart/2005/8/layout/pList2"/>
    <dgm:cxn modelId="{57944659-6CB3-4472-BE89-FEACFA8A0747}" type="presParOf" srcId="{DF80FF8A-A206-44E6-8B46-198AE627E688}" destId="{D10F8662-E74D-4DAD-934A-FC3706AD6391}" srcOrd="1" destOrd="0" presId="urn:microsoft.com/office/officeart/2005/8/layout/pList2"/>
    <dgm:cxn modelId="{3C9CFE6F-34CC-4E4C-9AC5-2A7EDBCD6707}" type="presParOf" srcId="{DF80FF8A-A206-44E6-8B46-198AE627E688}" destId="{B4AF088C-B1E0-4C6E-836E-877925B433BF}" srcOrd="2" destOrd="0" presId="urn:microsoft.com/office/officeart/2005/8/layout/pList2"/>
    <dgm:cxn modelId="{4A8E54B3-D7D2-4C9F-A95A-73067F21F373}" type="presParOf" srcId="{EFABCFA1-5CBA-465A-954D-EEAD0C9E0DFC}" destId="{1A346C60-6F91-4F36-98D6-6BB262059B54}" srcOrd="9" destOrd="0" presId="urn:microsoft.com/office/officeart/2005/8/layout/pList2"/>
    <dgm:cxn modelId="{BA579341-7509-4DD8-9984-E647F824EBF8}" type="presParOf" srcId="{EFABCFA1-5CBA-465A-954D-EEAD0C9E0DFC}" destId="{3575D2F6-C30C-47E8-B78B-46E44A23B963}" srcOrd="10" destOrd="0" presId="urn:microsoft.com/office/officeart/2005/8/layout/pList2"/>
    <dgm:cxn modelId="{E955BFF8-E3B8-4583-9ED1-AB8A7A1F469E}" type="presParOf" srcId="{3575D2F6-C30C-47E8-B78B-46E44A23B963}" destId="{4CE04AA6-A12F-432D-8BC4-3D3B5BC01F8A}" srcOrd="0" destOrd="0" presId="urn:microsoft.com/office/officeart/2005/8/layout/pList2"/>
    <dgm:cxn modelId="{681A8E1B-F68C-4E76-89EE-1D5B2108D575}" type="presParOf" srcId="{3575D2F6-C30C-47E8-B78B-46E44A23B963}" destId="{36507890-A741-47CA-9609-32A064637984}" srcOrd="1" destOrd="0" presId="urn:microsoft.com/office/officeart/2005/8/layout/pList2"/>
    <dgm:cxn modelId="{7D6B763F-5734-419A-8CE3-B9CB0BB12B63}" type="presParOf" srcId="{3575D2F6-C30C-47E8-B78B-46E44A23B963}" destId="{C4F237D0-5040-4B14-80EB-F2D374625C6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175115" cy="1097915"/>
        <a:chOff x="0" y="0"/>
        <a:chExt cx="9175115" cy="1097915"/>
      </a:xfrm>
    </dsp:grpSpPr>
    <dsp:sp modelId="{8C795695-C199-47DA-8B08-2161CB0C58D5}">
      <dsp:nvSpPr>
        <dsp:cNvPr id="4" name="五边形 3"/>
        <dsp:cNvSpPr/>
      </dsp:nvSpPr>
      <dsp:spPr bwMode="white">
        <a:xfrm rot="10800000">
          <a:off x="1811311" y="0"/>
          <a:ext cx="6101451" cy="1097915"/>
        </a:xfrm>
        <a:prstGeom prst="homePlate">
          <a:avLst/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rot="10800000" vert="horz" wrap="square" lIns="484150" tIns="53340" rIns="99568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（-）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无荧光；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（±）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极弱的可疑荧光；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荧光较弱，但清楚可见；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荧光明亮；</a:t>
          </a:r>
          <a:r>
            <a:rPr lang="zh-CN" sz="1400" b="1" i="0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（+++ --++++）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荧光闪亮。</a:t>
          </a:r>
          <a:endParaRPr lang="zh-CN" sz="1400" b="0" i="0" u="none" baseline="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rtl val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  </a:t>
          </a:r>
          <a:r>
            <a:rPr lang="zh-CN" sz="1400" b="1" i="0" u="none" baseline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rtl val="0"/>
            </a:rPr>
            <a:t>待检标本特异性荧光染色强度达“++”以上，而各种对照显示为（±）或（-），即可判定为阳性。</a:t>
          </a:r>
          <a:endParaRPr lang="zh-CN" altLang="en-US" sz="1400" b="1" i="0" u="none" baseline="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rtl val="0"/>
          </a:endParaRPr>
        </a:p>
      </dsp:txBody>
      <dsp:txXfrm rot="10800000">
        <a:off x="1811311" y="0"/>
        <a:ext cx="6101451" cy="1097915"/>
      </dsp:txXfrm>
    </dsp:sp>
    <dsp:sp modelId="{4DB6199A-2013-4486-940D-8E5E3DC29AC2}">
      <dsp:nvSpPr>
        <dsp:cNvPr id="3" name="椭圆 2"/>
        <dsp:cNvSpPr/>
      </dsp:nvSpPr>
      <dsp:spPr bwMode="white">
        <a:xfrm>
          <a:off x="341960" y="0"/>
          <a:ext cx="1097915" cy="1097915"/>
        </a:xfrm>
        <a:prstGeom prst="ellipse">
          <a:avLst/>
        </a:prstGeom>
      </dsp:spPr>
      <dsp:style>
        <a:lnRef idx="0">
          <a:schemeClr val="lt1"/>
        </a:lnRef>
        <a:fillRef idx="1">
          <a:schemeClr val="accent1">
            <a:tint val="50000"/>
          </a:schemeClr>
        </a:fillRef>
        <a:effectRef idx="3">
          <a:scrgbClr r="0" g="0" b="0"/>
        </a:effectRef>
        <a:fontRef idx="minor"/>
      </dsp:style>
      <dsp:txXfrm>
        <a:off x="341960" y="0"/>
        <a:ext cx="1097915" cy="1097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827645" cy="2204085"/>
        <a:chOff x="0" y="0"/>
        <a:chExt cx="7827645" cy="2204085"/>
      </a:xfrm>
    </dsp:grpSpPr>
    <dsp:sp modelId="{DB6C46E2-89FD-433D-9892-A957ECA1F70E}">
      <dsp:nvSpPr>
        <dsp:cNvPr id="4" name="圆角矩形 3"/>
        <dsp:cNvSpPr/>
      </dsp:nvSpPr>
      <dsp:spPr bwMode="white">
        <a:xfrm>
          <a:off x="0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28016" tIns="128016" rIns="128016" bIns="128016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0" y="0"/>
        <a:ext cx="1272788" cy="2204085"/>
      </dsp:txXfrm>
    </dsp:sp>
    <dsp:sp modelId="{34C4D57C-2D9C-46C5-9165-35089BD2A3CE}">
      <dsp:nvSpPr>
        <dsp:cNvPr id="6" name="椭圆 5"/>
        <dsp:cNvSpPr/>
      </dsp:nvSpPr>
      <dsp:spPr bwMode="white">
        <a:xfrm>
          <a:off x="269414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269414" y="132245"/>
        <a:ext cx="733960" cy="733960"/>
      </dsp:txXfrm>
    </dsp:sp>
    <dsp:sp modelId="{FE345B2C-80C6-4694-BA1E-DCBA70F59951}">
      <dsp:nvSpPr>
        <dsp:cNvPr id="8" name="圆角矩形 7"/>
        <dsp:cNvSpPr/>
      </dsp:nvSpPr>
      <dsp:spPr bwMode="white">
        <a:xfrm>
          <a:off x="1310971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28016" tIns="128016" rIns="128016" bIns="128016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b="1">
            <a:solidFill>
              <a:srgbClr val="00000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1310971" y="0"/>
        <a:ext cx="1272788" cy="2204085"/>
      </dsp:txXfrm>
    </dsp:sp>
    <dsp:sp modelId="{78C78F91-F63C-43B6-B4C3-8EC6FEB9C986}">
      <dsp:nvSpPr>
        <dsp:cNvPr id="10" name="椭圆 9"/>
        <dsp:cNvSpPr/>
      </dsp:nvSpPr>
      <dsp:spPr bwMode="white">
        <a:xfrm>
          <a:off x="1580385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1580385" y="132245"/>
        <a:ext cx="733960" cy="733960"/>
      </dsp:txXfrm>
    </dsp:sp>
    <dsp:sp modelId="{E29438BD-0CFB-46C3-93A0-B9DEF5EC2BDA}">
      <dsp:nvSpPr>
        <dsp:cNvPr id="12" name="圆角矩形 11"/>
        <dsp:cNvSpPr/>
      </dsp:nvSpPr>
      <dsp:spPr bwMode="white">
        <a:xfrm>
          <a:off x="2621943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28016" tIns="128016" rIns="128016" bIns="128016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621943" y="0"/>
        <a:ext cx="1272788" cy="2204085"/>
      </dsp:txXfrm>
    </dsp:sp>
    <dsp:sp modelId="{CE96911A-9ECA-48D8-9FCD-DD0ACED698C2}">
      <dsp:nvSpPr>
        <dsp:cNvPr id="14" name="椭圆 13"/>
        <dsp:cNvSpPr/>
      </dsp:nvSpPr>
      <dsp:spPr bwMode="white">
        <a:xfrm>
          <a:off x="2891357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2891357" y="132245"/>
        <a:ext cx="733960" cy="733960"/>
      </dsp:txXfrm>
    </dsp:sp>
    <dsp:sp modelId="{D457D6DC-7D7D-4C6C-8768-6022ADFBB5E2}">
      <dsp:nvSpPr>
        <dsp:cNvPr id="16" name="圆角矩形 15"/>
        <dsp:cNvSpPr/>
      </dsp:nvSpPr>
      <dsp:spPr bwMode="white">
        <a:xfrm>
          <a:off x="3932914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lIns="128016" tIns="128016" rIns="128016" bIns="128016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</dsp:txBody>
      <dsp:txXfrm>
        <a:off x="3932914" y="0"/>
        <a:ext cx="1272788" cy="2204085"/>
      </dsp:txXfrm>
    </dsp:sp>
    <dsp:sp modelId="{7A7FD608-C092-4C7D-81EA-38CC99053848}">
      <dsp:nvSpPr>
        <dsp:cNvPr id="18" name="椭圆 17"/>
        <dsp:cNvSpPr/>
      </dsp:nvSpPr>
      <dsp:spPr bwMode="white">
        <a:xfrm>
          <a:off x="4202328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4202328" y="132245"/>
        <a:ext cx="733960" cy="733960"/>
      </dsp:txXfrm>
    </dsp:sp>
    <dsp:sp modelId="{14F8F794-8E30-445F-9E56-77CAF1F25FB4}">
      <dsp:nvSpPr>
        <dsp:cNvPr id="20" name="圆角矩形 19"/>
        <dsp:cNvSpPr/>
      </dsp:nvSpPr>
      <dsp:spPr bwMode="white">
        <a:xfrm>
          <a:off x="5243886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lIns="128016" tIns="128016" rIns="128016" bIns="128016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</dsp:txBody>
      <dsp:txXfrm>
        <a:off x="5243886" y="0"/>
        <a:ext cx="1272788" cy="2204085"/>
      </dsp:txXfrm>
    </dsp:sp>
    <dsp:sp modelId="{710F1ABD-DBFB-4DDB-B356-B9E58D0B950C}">
      <dsp:nvSpPr>
        <dsp:cNvPr id="22" name="椭圆 21"/>
        <dsp:cNvSpPr/>
      </dsp:nvSpPr>
      <dsp:spPr bwMode="white">
        <a:xfrm>
          <a:off x="5513300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5513300" y="132245"/>
        <a:ext cx="733960" cy="733960"/>
      </dsp:txXfrm>
    </dsp:sp>
    <dsp:sp modelId="{B8B834D6-4CEA-40CC-A89B-F74E97066C09}">
      <dsp:nvSpPr>
        <dsp:cNvPr id="24" name="圆角矩形 23"/>
        <dsp:cNvSpPr/>
      </dsp:nvSpPr>
      <dsp:spPr bwMode="white">
        <a:xfrm>
          <a:off x="6554857" y="0"/>
          <a:ext cx="1272788" cy="220408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/>
        </a:fillRef>
        <a:effectRef idx="1">
          <a:scrgbClr r="0" g="0" b="0"/>
        </a:effectRef>
        <a:fontRef idx="minor">
          <a:schemeClr val="dk1"/>
        </a:fontRef>
      </dsp:style>
      <dsp:txBody>
        <a:bodyPr lIns="128016" tIns="128016" rIns="128016" bIns="128016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altLang="en-US"/>
        </a:p>
      </dsp:txBody>
      <dsp:txXfrm>
        <a:off x="6554857" y="0"/>
        <a:ext cx="1272788" cy="2204085"/>
      </dsp:txXfrm>
    </dsp:sp>
    <dsp:sp modelId="{B28419F3-447B-4D15-819C-3C2AB0F393CC}">
      <dsp:nvSpPr>
        <dsp:cNvPr id="26" name="椭圆 25"/>
        <dsp:cNvSpPr/>
      </dsp:nvSpPr>
      <dsp:spPr bwMode="white">
        <a:xfrm>
          <a:off x="6824271" y="132245"/>
          <a:ext cx="733960" cy="733960"/>
        </a:xfrm>
        <a:prstGeom prst="ellipse">
          <a:avLst/>
        </a:prstGeom>
      </dsp:spPr>
      <dsp:style>
        <a:lnRef idx="1">
          <a:schemeClr val="lt1"/>
        </a:lnRef>
        <a:fillRef idx="1">
          <a:schemeClr val="accent4">
            <a:tint val="50000"/>
          </a:schemeClr>
        </a:fillRef>
        <a:effectRef idx="1">
          <a:scrgbClr r="0" g="0" b="0"/>
        </a:effectRef>
        <a:fontRef idx="minor"/>
      </dsp:style>
      <dsp:txXfrm>
        <a:off x="6824271" y="132245"/>
        <a:ext cx="733960" cy="733960"/>
      </dsp:txXfrm>
    </dsp:sp>
    <dsp:sp modelId="{960387AD-826E-41E3-8FC4-D1E72BC4E8D5}">
      <dsp:nvSpPr>
        <dsp:cNvPr id="3" name="左右箭头 2"/>
        <dsp:cNvSpPr/>
      </dsp:nvSpPr>
      <dsp:spPr bwMode="white">
        <a:xfrm>
          <a:off x="313106" y="1763268"/>
          <a:ext cx="7201433" cy="330613"/>
        </a:xfrm>
        <a:prstGeom prst="leftRightArrow">
          <a:avLst/>
        </a:prstGeom>
        <a:sp3d prstMaterial="dkEdge">
          <a:bevelT w="8200" h="38100"/>
        </a:sp3d>
      </dsp:spPr>
      <dsp:style>
        <a:lnRef idx="1">
          <a:schemeClr val="lt1"/>
        </a:lnRef>
        <a:fillRef idx="2">
          <a:schemeClr val="accent4">
            <a:tint val="60000"/>
          </a:schemeClr>
        </a:fillRef>
        <a:effectRef idx="1">
          <a:scrgbClr r="0" g="0" b="0"/>
        </a:effectRef>
        <a:fontRef idx="minor"/>
      </dsp:style>
      <dsp:txXfrm>
        <a:off x="313106" y="1763268"/>
        <a:ext cx="7201433" cy="330613"/>
      </dsp:txXfrm>
    </dsp:sp>
    <dsp:sp modelId="{0FC7D2A3-4D17-4316-AF38-B89A74E54D32}">
      <dsp:nvSpPr>
        <dsp:cNvPr id="5" name="圆角矩形 4" hidden="1"/>
        <dsp:cNvSpPr/>
      </dsp:nvSpPr>
      <dsp:spPr>
        <a:xfrm>
          <a:off x="630030" y="0"/>
          <a:ext cx="12728" cy="132245"/>
        </a:xfrm>
        <a:prstGeom prst="roundRect">
          <a:avLst>
            <a:gd name="adj" fmla="val 10000"/>
          </a:avLst>
        </a:prstGeom>
      </dsp:spPr>
      <dsp:txXfrm>
        <a:off x="630030" y="0"/>
        <a:ext cx="12728" cy="132245"/>
      </dsp:txXfrm>
    </dsp:sp>
    <dsp:sp modelId="{990C17EF-4BB5-4C06-BDA9-36C3CDE16289}">
      <dsp:nvSpPr>
        <dsp:cNvPr id="7" name="矩形 6" hidden="1"/>
        <dsp:cNvSpPr/>
      </dsp:nvSpPr>
      <dsp:spPr>
        <a:xfrm>
          <a:off x="1272788" y="1102043"/>
          <a:ext cx="38184" cy="0"/>
        </a:xfrm>
        <a:prstGeom prst="rect">
          <a:avLst/>
        </a:prstGeom>
      </dsp:spPr>
      <dsp:txXfrm>
        <a:off x="1272788" y="1102043"/>
        <a:ext cx="38184" cy="0"/>
      </dsp:txXfrm>
    </dsp:sp>
    <dsp:sp modelId="{A2D820F5-38EB-4922-8875-5EC5D39E2E19}">
      <dsp:nvSpPr>
        <dsp:cNvPr id="9" name="圆角矩形 8" hidden="1"/>
        <dsp:cNvSpPr/>
      </dsp:nvSpPr>
      <dsp:spPr>
        <a:xfrm>
          <a:off x="1941001" y="0"/>
          <a:ext cx="12728" cy="132245"/>
        </a:xfrm>
        <a:prstGeom prst="roundRect">
          <a:avLst>
            <a:gd name="adj" fmla="val 10000"/>
          </a:avLst>
        </a:prstGeom>
      </dsp:spPr>
      <dsp:txXfrm>
        <a:off x="1941001" y="0"/>
        <a:ext cx="12728" cy="132245"/>
      </dsp:txXfrm>
    </dsp:sp>
    <dsp:sp modelId="{117F7FB2-AAEF-4146-A62C-74F974C512BA}">
      <dsp:nvSpPr>
        <dsp:cNvPr id="11" name="矩形 10" hidden="1"/>
        <dsp:cNvSpPr/>
      </dsp:nvSpPr>
      <dsp:spPr>
        <a:xfrm>
          <a:off x="2583759" y="1102043"/>
          <a:ext cx="38184" cy="0"/>
        </a:xfrm>
        <a:prstGeom prst="rect">
          <a:avLst/>
        </a:prstGeom>
      </dsp:spPr>
      <dsp:txXfrm>
        <a:off x="2583759" y="1102043"/>
        <a:ext cx="38184" cy="0"/>
      </dsp:txXfrm>
    </dsp:sp>
    <dsp:sp modelId="{C46648A1-2692-4A84-ABF2-888E56A643EB}">
      <dsp:nvSpPr>
        <dsp:cNvPr id="13" name="圆角矩形 12" hidden="1"/>
        <dsp:cNvSpPr/>
      </dsp:nvSpPr>
      <dsp:spPr>
        <a:xfrm>
          <a:off x="3251973" y="0"/>
          <a:ext cx="12728" cy="132245"/>
        </a:xfrm>
        <a:prstGeom prst="roundRect">
          <a:avLst>
            <a:gd name="adj" fmla="val 10000"/>
          </a:avLst>
        </a:prstGeom>
      </dsp:spPr>
      <dsp:txXfrm>
        <a:off x="3251973" y="0"/>
        <a:ext cx="12728" cy="132245"/>
      </dsp:txXfrm>
    </dsp:sp>
    <dsp:sp modelId="{BFBE7CFC-B320-466B-A884-2AEB0FB2D241}">
      <dsp:nvSpPr>
        <dsp:cNvPr id="15" name="矩形 14" hidden="1"/>
        <dsp:cNvSpPr/>
      </dsp:nvSpPr>
      <dsp:spPr>
        <a:xfrm>
          <a:off x="3894731" y="1102043"/>
          <a:ext cx="38184" cy="0"/>
        </a:xfrm>
        <a:prstGeom prst="rect">
          <a:avLst/>
        </a:prstGeom>
      </dsp:spPr>
      <dsp:txXfrm>
        <a:off x="3894731" y="1102043"/>
        <a:ext cx="38184" cy="0"/>
      </dsp:txXfrm>
    </dsp:sp>
    <dsp:sp modelId="{82C41F6E-2304-4A34-9660-DA44315D4E4B}">
      <dsp:nvSpPr>
        <dsp:cNvPr id="17" name="圆角矩形 16" hidden="1"/>
        <dsp:cNvSpPr/>
      </dsp:nvSpPr>
      <dsp:spPr>
        <a:xfrm>
          <a:off x="4562944" y="0"/>
          <a:ext cx="12728" cy="132245"/>
        </a:xfrm>
        <a:prstGeom prst="roundRect">
          <a:avLst>
            <a:gd name="adj" fmla="val 10000"/>
          </a:avLst>
        </a:prstGeom>
      </dsp:spPr>
      <dsp:txXfrm>
        <a:off x="4562944" y="0"/>
        <a:ext cx="12728" cy="132245"/>
      </dsp:txXfrm>
    </dsp:sp>
    <dsp:sp modelId="{B57EA86E-A0B1-4D18-B0EF-BFEB071C818A}">
      <dsp:nvSpPr>
        <dsp:cNvPr id="19" name="矩形 18" hidden="1"/>
        <dsp:cNvSpPr/>
      </dsp:nvSpPr>
      <dsp:spPr>
        <a:xfrm>
          <a:off x="5205702" y="1102043"/>
          <a:ext cx="38184" cy="0"/>
        </a:xfrm>
        <a:prstGeom prst="rect">
          <a:avLst/>
        </a:prstGeom>
      </dsp:spPr>
      <dsp:txXfrm>
        <a:off x="5205702" y="1102043"/>
        <a:ext cx="38184" cy="0"/>
      </dsp:txXfrm>
    </dsp:sp>
    <dsp:sp modelId="{174DC31A-356F-471C-A0CB-DCFC2FE7C4F5}">
      <dsp:nvSpPr>
        <dsp:cNvPr id="21" name="圆角矩形 20" hidden="1"/>
        <dsp:cNvSpPr/>
      </dsp:nvSpPr>
      <dsp:spPr>
        <a:xfrm>
          <a:off x="5873916" y="0"/>
          <a:ext cx="12728" cy="132245"/>
        </a:xfrm>
        <a:prstGeom prst="roundRect">
          <a:avLst>
            <a:gd name="adj" fmla="val 10000"/>
          </a:avLst>
        </a:prstGeom>
      </dsp:spPr>
      <dsp:txXfrm>
        <a:off x="5873916" y="0"/>
        <a:ext cx="12728" cy="132245"/>
      </dsp:txXfrm>
    </dsp:sp>
    <dsp:sp modelId="{69CDCC9D-1B70-44C5-B11E-C326EFE25160}">
      <dsp:nvSpPr>
        <dsp:cNvPr id="23" name="矩形 22" hidden="1"/>
        <dsp:cNvSpPr/>
      </dsp:nvSpPr>
      <dsp:spPr>
        <a:xfrm>
          <a:off x="6516674" y="1102043"/>
          <a:ext cx="38184" cy="0"/>
        </a:xfrm>
        <a:prstGeom prst="rect">
          <a:avLst/>
        </a:prstGeom>
      </dsp:spPr>
      <dsp:txXfrm>
        <a:off x="6516674" y="1102043"/>
        <a:ext cx="38184" cy="0"/>
      </dsp:txXfrm>
    </dsp:sp>
    <dsp:sp modelId="{F98906DF-7E58-4288-B003-DBCE7370AB41}">
      <dsp:nvSpPr>
        <dsp:cNvPr id="25" name="圆角矩形 24" hidden="1"/>
        <dsp:cNvSpPr/>
      </dsp:nvSpPr>
      <dsp:spPr>
        <a:xfrm>
          <a:off x="7184887" y="0"/>
          <a:ext cx="12728" cy="132245"/>
        </a:xfrm>
        <a:prstGeom prst="roundRect">
          <a:avLst>
            <a:gd name="adj" fmla="val 10000"/>
          </a:avLst>
        </a:prstGeom>
      </dsp:spPr>
      <dsp:txXfrm>
        <a:off x="7184887" y="0"/>
        <a:ext cx="12728" cy="1322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346950" cy="2490470"/>
        <a:chOff x="0" y="0"/>
        <a:chExt cx="7346950" cy="2490470"/>
      </a:xfrm>
    </dsp:grpSpPr>
    <dsp:sp modelId="{949F2D2B-5CA9-49AF-8788-3F9CF9022990}">
      <dsp:nvSpPr>
        <dsp:cNvPr id="3" name="圆角矩形 2"/>
        <dsp:cNvSpPr/>
      </dsp:nvSpPr>
      <dsp:spPr bwMode="white">
        <a:xfrm>
          <a:off x="0" y="0"/>
          <a:ext cx="7346950" cy="1120712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Xfrm>
        <a:off x="0" y="0"/>
        <a:ext cx="7346950" cy="1120712"/>
      </dsp:txXfrm>
    </dsp:sp>
    <dsp:sp modelId="{184746F7-D345-4B9C-9538-78DDF8B73A21}">
      <dsp:nvSpPr>
        <dsp:cNvPr id="6" name="圆角矩形 5"/>
        <dsp:cNvSpPr/>
      </dsp:nvSpPr>
      <dsp:spPr bwMode="white">
        <a:xfrm>
          <a:off x="22040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/>
      </dsp:style>
      <dsp:txXfrm>
        <a:off x="220409" y="149428"/>
        <a:ext cx="1062482" cy="821855"/>
      </dsp:txXfrm>
    </dsp:sp>
    <dsp:sp modelId="{2B19FBE7-970E-4A8C-A672-C621E2491735}">
      <dsp:nvSpPr>
        <dsp:cNvPr id="4" name="同侧圆角矩形 3"/>
        <dsp:cNvSpPr/>
      </dsp:nvSpPr>
      <dsp:spPr bwMode="white">
        <a:xfrm rot="10800000">
          <a:off x="22040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vert="horz" wrap="square" lIns="85344" tIns="85344" rIns="85344" bIns="85344" anchor="t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1.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细胞计数</a:t>
          </a:r>
        </a:p>
      </dsp:txBody>
      <dsp:txXfrm rot="10800000">
        <a:off x="220409" y="1120711"/>
        <a:ext cx="1062482" cy="1369759"/>
      </dsp:txXfrm>
    </dsp:sp>
    <dsp:sp modelId="{EAB0D035-4E75-474F-AE2D-6C374B752B4C}">
      <dsp:nvSpPr>
        <dsp:cNvPr id="10" name="圆角矩形 9"/>
        <dsp:cNvSpPr/>
      </dsp:nvSpPr>
      <dsp:spPr bwMode="white">
        <a:xfrm>
          <a:off x="138913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-12000"/>
            <a:satOff val="-470"/>
            <a:lumOff val="2196"/>
            <a:alpha val="100000"/>
          </a:schemeClr>
        </a:fillRef>
        <a:effectRef idx="3">
          <a:scrgbClr r="0" g="0" b="0"/>
        </a:effectRef>
        <a:fontRef idx="minor"/>
      </dsp:style>
      <dsp:txXfrm>
        <a:off x="1389139" y="149428"/>
        <a:ext cx="1062482" cy="821855"/>
      </dsp:txXfrm>
    </dsp:sp>
    <dsp:sp modelId="{96A8B75F-79AB-4B29-9F1D-3C622EFEC09C}">
      <dsp:nvSpPr>
        <dsp:cNvPr id="8" name="同侧圆角矩形 7"/>
        <dsp:cNvSpPr/>
      </dsp:nvSpPr>
      <dsp:spPr bwMode="white">
        <a:xfrm rot="10800000">
          <a:off x="138913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60000"/>
            <a:satOff val="-313"/>
            <a:lumOff val="5176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vert="horz" wrap="square" lIns="85344" tIns="85344" rIns="85344" bIns="85344" anchor="t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2</a:t>
          </a: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.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配制GSH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标准液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 rot="10800000">
        <a:off x="1389139" y="1120711"/>
        <a:ext cx="1062482" cy="1369759"/>
      </dsp:txXfrm>
    </dsp:sp>
    <dsp:sp modelId="{A81AEBCC-ADDF-4B24-BAF0-CA1EC5381367}">
      <dsp:nvSpPr>
        <dsp:cNvPr id="14" name="圆角矩形 13"/>
        <dsp:cNvSpPr/>
      </dsp:nvSpPr>
      <dsp:spPr bwMode="white">
        <a:xfrm>
          <a:off x="255786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-24000"/>
            <a:satOff val="-940"/>
            <a:lumOff val="4392"/>
            <a:alpha val="100000"/>
          </a:schemeClr>
        </a:fillRef>
        <a:effectRef idx="3">
          <a:scrgbClr r="0" g="0" b="0"/>
        </a:effectRef>
        <a:fontRef idx="minor"/>
      </dsp:style>
      <dsp:txXfrm>
        <a:off x="2557869" y="149428"/>
        <a:ext cx="1062482" cy="821855"/>
      </dsp:txXfrm>
    </dsp:sp>
    <dsp:sp modelId="{A89A6491-DE88-4E3C-9A90-22F5EB697CEE}">
      <dsp:nvSpPr>
        <dsp:cNvPr id="12" name="同侧圆角矩形 11"/>
        <dsp:cNvSpPr/>
      </dsp:nvSpPr>
      <dsp:spPr bwMode="white">
        <a:xfrm rot="10800000">
          <a:off x="255786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120000"/>
            <a:satOff val="-626"/>
            <a:lumOff val="10353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vert="horz" wrap="square" lIns="85344" tIns="85344" rIns="85344" bIns="85344" anchor="t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3</a:t>
          </a: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.</a:t>
          </a:r>
          <a:endParaRPr lang="zh-CN" altLang="en-US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配制不同浓度GSH</a:t>
          </a:r>
          <a:endParaRPr lang="zh-CN" altLang="en-US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rPr>
            <a:t>标准品稀释液</a:t>
          </a:r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 rot="10800000">
        <a:off x="2557869" y="1120711"/>
        <a:ext cx="1062482" cy="1369759"/>
      </dsp:txXfrm>
    </dsp:sp>
    <dsp:sp modelId="{3393888E-152B-4D11-A4E7-41A859A1B650}">
      <dsp:nvSpPr>
        <dsp:cNvPr id="18" name="圆角矩形 17"/>
        <dsp:cNvSpPr/>
      </dsp:nvSpPr>
      <dsp:spPr bwMode="white">
        <a:xfrm>
          <a:off x="372659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-36000"/>
            <a:satOff val="-1411"/>
            <a:lumOff val="6588"/>
            <a:alpha val="100000"/>
          </a:schemeClr>
        </a:fillRef>
        <a:effectRef idx="3">
          <a:scrgbClr r="0" g="0" b="0"/>
        </a:effectRef>
        <a:fontRef idx="minor"/>
      </dsp:style>
      <dsp:txXfrm>
        <a:off x="3726599" y="149428"/>
        <a:ext cx="1062482" cy="821855"/>
      </dsp:txXfrm>
    </dsp:sp>
    <dsp:sp modelId="{4E425CF7-0775-4552-878B-77A4620A72B2}">
      <dsp:nvSpPr>
        <dsp:cNvPr id="16" name="同侧圆角矩形 15"/>
        <dsp:cNvSpPr/>
      </dsp:nvSpPr>
      <dsp:spPr bwMode="white">
        <a:xfrm rot="10800000">
          <a:off x="372659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180000"/>
            <a:satOff val="-940"/>
            <a:lumOff val="15529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lIns="85344" tIns="85344" rIns="85344" bIns="85344" anchor="t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</dsp:txBody>
      <dsp:txXfrm rot="10800000">
        <a:off x="3726599" y="1120711"/>
        <a:ext cx="1062482" cy="1369759"/>
      </dsp:txXfrm>
    </dsp:sp>
    <dsp:sp modelId="{B4AF088C-B1E0-4C6E-836E-877925B433BF}">
      <dsp:nvSpPr>
        <dsp:cNvPr id="22" name="圆角矩形 21"/>
        <dsp:cNvSpPr/>
      </dsp:nvSpPr>
      <dsp:spPr bwMode="white">
        <a:xfrm>
          <a:off x="489532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-48000"/>
            <a:satOff val="-1881"/>
            <a:lumOff val="8784"/>
            <a:alpha val="100000"/>
          </a:schemeClr>
        </a:fillRef>
        <a:effectRef idx="3">
          <a:scrgbClr r="0" g="0" b="0"/>
        </a:effectRef>
        <a:fontRef idx="minor"/>
      </dsp:style>
      <dsp:txXfrm>
        <a:off x="4895329" y="149428"/>
        <a:ext cx="1062482" cy="821855"/>
      </dsp:txXfrm>
    </dsp:sp>
    <dsp:sp modelId="{0ADAF495-82FC-4DBB-AACD-F68EAD270C12}">
      <dsp:nvSpPr>
        <dsp:cNvPr id="20" name="同侧圆角矩形 19"/>
        <dsp:cNvSpPr/>
      </dsp:nvSpPr>
      <dsp:spPr bwMode="white">
        <a:xfrm rot="10800000">
          <a:off x="489532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240000"/>
            <a:satOff val="-1254"/>
            <a:lumOff val="20706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lIns="85344" tIns="85344" rIns="85344" bIns="85344" anchor="t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</dsp:txBody>
      <dsp:txXfrm rot="10800000">
        <a:off x="4895329" y="1120711"/>
        <a:ext cx="1062482" cy="1369759"/>
      </dsp:txXfrm>
    </dsp:sp>
    <dsp:sp modelId="{C4F237D0-5040-4B14-80EB-F2D374625C62}">
      <dsp:nvSpPr>
        <dsp:cNvPr id="26" name="圆角矩形 25"/>
        <dsp:cNvSpPr/>
      </dsp:nvSpPr>
      <dsp:spPr bwMode="white">
        <a:xfrm>
          <a:off x="6064059" y="149428"/>
          <a:ext cx="1062482" cy="821855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1">
          <a:schemeClr val="accent1">
            <a:tint val="50000"/>
            <a:hueOff val="-60000"/>
            <a:satOff val="-2352"/>
            <a:lumOff val="10980"/>
            <a:alpha val="100000"/>
          </a:schemeClr>
        </a:fillRef>
        <a:effectRef idx="3">
          <a:scrgbClr r="0" g="0" b="0"/>
        </a:effectRef>
        <a:fontRef idx="minor"/>
      </dsp:style>
      <dsp:txXfrm>
        <a:off x="6064059" y="149428"/>
        <a:ext cx="1062482" cy="821855"/>
      </dsp:txXfrm>
    </dsp:sp>
    <dsp:sp modelId="{4CE04AA6-A12F-432D-8BC4-3D3B5BC01F8A}">
      <dsp:nvSpPr>
        <dsp:cNvPr id="24" name="同侧圆角矩形 23"/>
        <dsp:cNvSpPr/>
      </dsp:nvSpPr>
      <dsp:spPr bwMode="white">
        <a:xfrm rot="10800000">
          <a:off x="6064059" y="1120711"/>
          <a:ext cx="1062482" cy="1369759"/>
        </a:xfrm>
        <a:prstGeom prst="round2SameRect">
          <a:avLst>
            <a:gd name="adj1" fmla="val 10500"/>
            <a:gd name="adj2" fmla="val 0"/>
          </a:avLst>
        </a:prstGeom>
      </dsp:spPr>
      <dsp:style>
        <a:lnRef idx="0">
          <a:schemeClr val="lt1"/>
        </a:lnRef>
        <a:fillRef idx="3">
          <a:schemeClr val="accent1">
            <a:shade val="80000"/>
            <a:hueOff val="300000"/>
            <a:satOff val="-1568"/>
            <a:lumOff val="25882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lIns="85344" tIns="85344" rIns="85344" bIns="85344" anchor="t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altLang="en-US"/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altLang="en-US"/>
        </a:p>
      </dsp:txBody>
      <dsp:txXfrm rot="10800000">
        <a:off x="6064059" y="1120711"/>
        <a:ext cx="1062482" cy="1369759"/>
      </dsp:txXfrm>
    </dsp:sp>
    <dsp:sp modelId="{934766A7-F88E-4FEA-B096-528254CECB45}">
      <dsp:nvSpPr>
        <dsp:cNvPr id="5" name="圆角矩形 4" hidden="1"/>
        <dsp:cNvSpPr/>
      </dsp:nvSpPr>
      <dsp:spPr>
        <a:xfrm>
          <a:off x="220409" y="0"/>
          <a:ext cx="796861" cy="149428"/>
        </a:xfrm>
        <a:prstGeom prst="roundRect">
          <a:avLst>
            <a:gd name="adj" fmla="val 10000"/>
          </a:avLst>
        </a:prstGeom>
      </dsp:spPr>
      <dsp:txXfrm>
        <a:off x="220409" y="0"/>
        <a:ext cx="796861" cy="149428"/>
      </dsp:txXfrm>
    </dsp:sp>
    <dsp:sp modelId="{8D211F80-D554-4704-81D7-0389FFA7AB28}">
      <dsp:nvSpPr>
        <dsp:cNvPr id="7" name="矩形 6" hidden="1"/>
        <dsp:cNvSpPr/>
      </dsp:nvSpPr>
      <dsp:spPr>
        <a:xfrm>
          <a:off x="1282891" y="1245235"/>
          <a:ext cx="106248" cy="0"/>
        </a:xfrm>
        <a:prstGeom prst="rect">
          <a:avLst/>
        </a:prstGeom>
      </dsp:spPr>
      <dsp:txXfrm>
        <a:off x="1282891" y="1245235"/>
        <a:ext cx="106248" cy="0"/>
      </dsp:txXfrm>
    </dsp:sp>
    <dsp:sp modelId="{4795F39C-70F8-4217-81C0-7811B0640504}">
      <dsp:nvSpPr>
        <dsp:cNvPr id="9" name="圆角矩形 8" hidden="1"/>
        <dsp:cNvSpPr/>
      </dsp:nvSpPr>
      <dsp:spPr>
        <a:xfrm>
          <a:off x="1389139" y="0"/>
          <a:ext cx="796861" cy="149428"/>
        </a:xfrm>
        <a:prstGeom prst="roundRect">
          <a:avLst>
            <a:gd name="adj" fmla="val 10000"/>
          </a:avLst>
        </a:prstGeom>
      </dsp:spPr>
      <dsp:txXfrm>
        <a:off x="1389139" y="0"/>
        <a:ext cx="796861" cy="149428"/>
      </dsp:txXfrm>
    </dsp:sp>
    <dsp:sp modelId="{F37B8259-20B4-43DC-B8E3-5F00AD11D000}">
      <dsp:nvSpPr>
        <dsp:cNvPr id="11" name="矩形 10" hidden="1"/>
        <dsp:cNvSpPr/>
      </dsp:nvSpPr>
      <dsp:spPr>
        <a:xfrm>
          <a:off x="2451621" y="1245235"/>
          <a:ext cx="106248" cy="0"/>
        </a:xfrm>
        <a:prstGeom prst="rect">
          <a:avLst/>
        </a:prstGeom>
      </dsp:spPr>
      <dsp:txXfrm>
        <a:off x="2451621" y="1245235"/>
        <a:ext cx="106248" cy="0"/>
      </dsp:txXfrm>
    </dsp:sp>
    <dsp:sp modelId="{A3745797-7DED-472A-BA2B-7809339AB1D9}">
      <dsp:nvSpPr>
        <dsp:cNvPr id="13" name="圆角矩形 12" hidden="1"/>
        <dsp:cNvSpPr/>
      </dsp:nvSpPr>
      <dsp:spPr>
        <a:xfrm>
          <a:off x="2557869" y="0"/>
          <a:ext cx="796861" cy="149428"/>
        </a:xfrm>
        <a:prstGeom prst="roundRect">
          <a:avLst>
            <a:gd name="adj" fmla="val 10000"/>
          </a:avLst>
        </a:prstGeom>
      </dsp:spPr>
      <dsp:txXfrm>
        <a:off x="2557869" y="0"/>
        <a:ext cx="796861" cy="149428"/>
      </dsp:txXfrm>
    </dsp:sp>
    <dsp:sp modelId="{02B8B49B-1BCA-4ED4-B5E2-06368B34F3D8}">
      <dsp:nvSpPr>
        <dsp:cNvPr id="15" name="矩形 14" hidden="1"/>
        <dsp:cNvSpPr/>
      </dsp:nvSpPr>
      <dsp:spPr>
        <a:xfrm>
          <a:off x="3620351" y="1245235"/>
          <a:ext cx="106248" cy="0"/>
        </a:xfrm>
        <a:prstGeom prst="rect">
          <a:avLst/>
        </a:prstGeom>
      </dsp:spPr>
      <dsp:txXfrm>
        <a:off x="3620351" y="1245235"/>
        <a:ext cx="106248" cy="0"/>
      </dsp:txXfrm>
    </dsp:sp>
    <dsp:sp modelId="{D29B0DDA-BCB0-49F7-8DE2-998F2D05B093}">
      <dsp:nvSpPr>
        <dsp:cNvPr id="17" name="圆角矩形 16" hidden="1"/>
        <dsp:cNvSpPr/>
      </dsp:nvSpPr>
      <dsp:spPr>
        <a:xfrm>
          <a:off x="3726599" y="0"/>
          <a:ext cx="796861" cy="149428"/>
        </a:xfrm>
        <a:prstGeom prst="roundRect">
          <a:avLst>
            <a:gd name="adj" fmla="val 10000"/>
          </a:avLst>
        </a:prstGeom>
      </dsp:spPr>
      <dsp:txXfrm>
        <a:off x="3726599" y="0"/>
        <a:ext cx="796861" cy="149428"/>
      </dsp:txXfrm>
    </dsp:sp>
    <dsp:sp modelId="{513B5D00-B571-4A21-BD1B-B8820E0C068B}">
      <dsp:nvSpPr>
        <dsp:cNvPr id="19" name="矩形 18" hidden="1"/>
        <dsp:cNvSpPr/>
      </dsp:nvSpPr>
      <dsp:spPr>
        <a:xfrm>
          <a:off x="4789081" y="1245235"/>
          <a:ext cx="106248" cy="0"/>
        </a:xfrm>
        <a:prstGeom prst="rect">
          <a:avLst/>
        </a:prstGeom>
      </dsp:spPr>
      <dsp:txXfrm>
        <a:off x="4789081" y="1245235"/>
        <a:ext cx="106248" cy="0"/>
      </dsp:txXfrm>
    </dsp:sp>
    <dsp:sp modelId="{D10F8662-E74D-4DAD-934A-FC3706AD6391}">
      <dsp:nvSpPr>
        <dsp:cNvPr id="21" name="圆角矩形 20" hidden="1"/>
        <dsp:cNvSpPr/>
      </dsp:nvSpPr>
      <dsp:spPr>
        <a:xfrm>
          <a:off x="4895329" y="0"/>
          <a:ext cx="796861" cy="149428"/>
        </a:xfrm>
        <a:prstGeom prst="roundRect">
          <a:avLst>
            <a:gd name="adj" fmla="val 10000"/>
          </a:avLst>
        </a:prstGeom>
      </dsp:spPr>
      <dsp:txXfrm>
        <a:off x="4895329" y="0"/>
        <a:ext cx="796861" cy="149428"/>
      </dsp:txXfrm>
    </dsp:sp>
    <dsp:sp modelId="{1A346C60-6F91-4F36-98D6-6BB262059B54}">
      <dsp:nvSpPr>
        <dsp:cNvPr id="23" name="矩形 22" hidden="1"/>
        <dsp:cNvSpPr/>
      </dsp:nvSpPr>
      <dsp:spPr>
        <a:xfrm>
          <a:off x="5957811" y="1245235"/>
          <a:ext cx="106248" cy="0"/>
        </a:xfrm>
        <a:prstGeom prst="rect">
          <a:avLst/>
        </a:prstGeom>
      </dsp:spPr>
      <dsp:txXfrm>
        <a:off x="5957811" y="1245235"/>
        <a:ext cx="106248" cy="0"/>
      </dsp:txXfrm>
    </dsp:sp>
    <dsp:sp modelId="{36507890-A741-47CA-9609-32A064637984}">
      <dsp:nvSpPr>
        <dsp:cNvPr id="25" name="圆角矩形 24" hidden="1"/>
        <dsp:cNvSpPr/>
      </dsp:nvSpPr>
      <dsp:spPr>
        <a:xfrm>
          <a:off x="6064059" y="0"/>
          <a:ext cx="796861" cy="149428"/>
        </a:xfrm>
        <a:prstGeom prst="roundRect">
          <a:avLst>
            <a:gd name="adj" fmla="val 10000"/>
          </a:avLst>
        </a:prstGeom>
      </dsp:spPr>
      <dsp:txXfrm>
        <a:off x="6064059" y="0"/>
        <a:ext cx="796861" cy="1494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type="homePlate" r:blip="" rot="180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stBulletLvl" val="2"/>
              <dgm:param type="txAnchorHorzCh" val="ctr"/>
              <dgm:param type="txAnchorVert" val="mid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type="round2SameRect" r:blip="" rot="180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changsha_stomatological_hospital_transparent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727440" y="-1270"/>
            <a:ext cx="3472815" cy="740410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77.xml"/><Relationship Id="rId15" Type="http://schemas.openxmlformats.org/officeDocument/2006/relationships/image" Target="../media/image2.png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23.xml"/><Relationship Id="rId33" Type="http://schemas.openxmlformats.org/officeDocument/2006/relationships/image" Target="../media/image2.png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2.xml"/><Relationship Id="rId10" Type="http://schemas.openxmlformats.org/officeDocument/2006/relationships/image" Target="../media/image1.png"/><Relationship Id="rId1" Type="http://schemas.openxmlformats.org/officeDocument/2006/relationships/tags" Target="../tags/tag12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55.xml"/><Relationship Id="rId24" Type="http://schemas.openxmlformats.org/officeDocument/2006/relationships/tags" Target="../tags/tag154.xml"/><Relationship Id="rId23" Type="http://schemas.openxmlformats.org/officeDocument/2006/relationships/tags" Target="../tags/tag153.xml"/><Relationship Id="rId22" Type="http://schemas.openxmlformats.org/officeDocument/2006/relationships/tags" Target="../tags/tag152.xml"/><Relationship Id="rId21" Type="http://schemas.openxmlformats.org/officeDocument/2006/relationships/image" Target="../media/image4.png"/><Relationship Id="rId20" Type="http://schemas.openxmlformats.org/officeDocument/2006/relationships/tags" Target="../tags/tag151.xml"/><Relationship Id="rId2" Type="http://schemas.openxmlformats.org/officeDocument/2006/relationships/tags" Target="../tags/tag134.xml"/><Relationship Id="rId19" Type="http://schemas.openxmlformats.org/officeDocument/2006/relationships/image" Target="../media/image3.jpeg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7.xml"/><Relationship Id="rId19" Type="http://schemas.openxmlformats.org/officeDocument/2006/relationships/image" Target="../media/image5.png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image" Target="../media/image6.png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image" Target="../media/image7.png"/><Relationship Id="rId10" Type="http://schemas.openxmlformats.org/officeDocument/2006/relationships/tags" Target="../tags/tag200.xml"/><Relationship Id="rId1" Type="http://schemas.openxmlformats.org/officeDocument/2006/relationships/tags" Target="../tags/tag19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1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46.xml"/><Relationship Id="rId19" Type="http://schemas.openxmlformats.org/officeDocument/2006/relationships/tags" Target="../tags/tag259.xml"/><Relationship Id="rId18" Type="http://schemas.openxmlformats.org/officeDocument/2006/relationships/image" Target="../media/image11.jpeg"/><Relationship Id="rId17" Type="http://schemas.openxmlformats.org/officeDocument/2006/relationships/tags" Target="../tags/tag258.xml"/><Relationship Id="rId16" Type="http://schemas.openxmlformats.org/officeDocument/2006/relationships/image" Target="../media/image10.jpeg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image" Target="../media/image9.png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tags" Target="../tags/tag24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318.xml"/><Relationship Id="rId62" Type="http://schemas.openxmlformats.org/officeDocument/2006/relationships/tags" Target="../tags/tag317.xml"/><Relationship Id="rId61" Type="http://schemas.openxmlformats.org/officeDocument/2006/relationships/tags" Target="../tags/tag316.xml"/><Relationship Id="rId60" Type="http://schemas.openxmlformats.org/officeDocument/2006/relationships/tags" Target="../tags/tag315.xml"/><Relationship Id="rId6" Type="http://schemas.openxmlformats.org/officeDocument/2006/relationships/tags" Target="../tags/tag265.xml"/><Relationship Id="rId59" Type="http://schemas.openxmlformats.org/officeDocument/2006/relationships/tags" Target="../tags/tag314.xml"/><Relationship Id="rId58" Type="http://schemas.openxmlformats.org/officeDocument/2006/relationships/tags" Target="../tags/tag313.xml"/><Relationship Id="rId57" Type="http://schemas.openxmlformats.org/officeDocument/2006/relationships/tags" Target="../tags/tag312.xml"/><Relationship Id="rId56" Type="http://schemas.openxmlformats.org/officeDocument/2006/relationships/tags" Target="../tags/tag311.xml"/><Relationship Id="rId55" Type="http://schemas.openxmlformats.org/officeDocument/2006/relationships/tags" Target="../tags/tag310.xml"/><Relationship Id="rId54" Type="http://schemas.openxmlformats.org/officeDocument/2006/relationships/tags" Target="../tags/tag309.xml"/><Relationship Id="rId53" Type="http://schemas.openxmlformats.org/officeDocument/2006/relationships/tags" Target="../tags/tag308.xml"/><Relationship Id="rId52" Type="http://schemas.openxmlformats.org/officeDocument/2006/relationships/tags" Target="../tags/tag307.xml"/><Relationship Id="rId51" Type="http://schemas.openxmlformats.org/officeDocument/2006/relationships/tags" Target="../tags/tag306.xml"/><Relationship Id="rId50" Type="http://schemas.openxmlformats.org/officeDocument/2006/relationships/tags" Target="../tags/tag305.xml"/><Relationship Id="rId5" Type="http://schemas.openxmlformats.org/officeDocument/2006/relationships/tags" Target="../tags/tag264.xml"/><Relationship Id="rId49" Type="http://schemas.openxmlformats.org/officeDocument/2006/relationships/tags" Target="../tags/tag304.xml"/><Relationship Id="rId48" Type="http://schemas.openxmlformats.org/officeDocument/2006/relationships/tags" Target="../tags/tag303.xml"/><Relationship Id="rId47" Type="http://schemas.openxmlformats.org/officeDocument/2006/relationships/tags" Target="../tags/tag302.xml"/><Relationship Id="rId46" Type="http://schemas.openxmlformats.org/officeDocument/2006/relationships/tags" Target="../tags/tag301.xml"/><Relationship Id="rId45" Type="http://schemas.openxmlformats.org/officeDocument/2006/relationships/tags" Target="../tags/tag300.xml"/><Relationship Id="rId44" Type="http://schemas.openxmlformats.org/officeDocument/2006/relationships/image" Target="../media/image15.jpeg"/><Relationship Id="rId43" Type="http://schemas.openxmlformats.org/officeDocument/2006/relationships/tags" Target="../tags/tag299.xml"/><Relationship Id="rId42" Type="http://schemas.openxmlformats.org/officeDocument/2006/relationships/tags" Target="../tags/tag298.xml"/><Relationship Id="rId41" Type="http://schemas.openxmlformats.org/officeDocument/2006/relationships/tags" Target="../tags/tag297.xml"/><Relationship Id="rId40" Type="http://schemas.openxmlformats.org/officeDocument/2006/relationships/tags" Target="../tags/tag296.xml"/><Relationship Id="rId4" Type="http://schemas.openxmlformats.org/officeDocument/2006/relationships/tags" Target="../tags/tag263.xml"/><Relationship Id="rId39" Type="http://schemas.openxmlformats.org/officeDocument/2006/relationships/tags" Target="../tags/tag295.xml"/><Relationship Id="rId38" Type="http://schemas.openxmlformats.org/officeDocument/2006/relationships/tags" Target="../tags/tag294.xml"/><Relationship Id="rId37" Type="http://schemas.openxmlformats.org/officeDocument/2006/relationships/tags" Target="../tags/tag293.xml"/><Relationship Id="rId36" Type="http://schemas.openxmlformats.org/officeDocument/2006/relationships/tags" Target="../tags/tag292.xml"/><Relationship Id="rId35" Type="http://schemas.openxmlformats.org/officeDocument/2006/relationships/tags" Target="../tags/tag291.xml"/><Relationship Id="rId34" Type="http://schemas.openxmlformats.org/officeDocument/2006/relationships/tags" Target="../tags/tag290.xml"/><Relationship Id="rId33" Type="http://schemas.openxmlformats.org/officeDocument/2006/relationships/image" Target="../media/image14.png"/><Relationship Id="rId32" Type="http://schemas.openxmlformats.org/officeDocument/2006/relationships/tags" Target="../tags/tag289.xml"/><Relationship Id="rId31" Type="http://schemas.openxmlformats.org/officeDocument/2006/relationships/tags" Target="../tags/tag288.xml"/><Relationship Id="rId30" Type="http://schemas.openxmlformats.org/officeDocument/2006/relationships/tags" Target="../tags/tag287.xml"/><Relationship Id="rId3" Type="http://schemas.openxmlformats.org/officeDocument/2006/relationships/tags" Target="../tags/tag262.xml"/><Relationship Id="rId29" Type="http://schemas.openxmlformats.org/officeDocument/2006/relationships/tags" Target="../tags/tag286.xml"/><Relationship Id="rId28" Type="http://schemas.openxmlformats.org/officeDocument/2006/relationships/tags" Target="../tags/tag285.xml"/><Relationship Id="rId27" Type="http://schemas.openxmlformats.org/officeDocument/2006/relationships/tags" Target="../tags/tag284.xml"/><Relationship Id="rId26" Type="http://schemas.openxmlformats.org/officeDocument/2006/relationships/tags" Target="../tags/tag283.xml"/><Relationship Id="rId25" Type="http://schemas.openxmlformats.org/officeDocument/2006/relationships/tags" Target="../tags/tag282.xml"/><Relationship Id="rId24" Type="http://schemas.openxmlformats.org/officeDocument/2006/relationships/tags" Target="../tags/tag281.xml"/><Relationship Id="rId23" Type="http://schemas.openxmlformats.org/officeDocument/2006/relationships/tags" Target="../tags/tag280.xml"/><Relationship Id="rId22" Type="http://schemas.openxmlformats.org/officeDocument/2006/relationships/tags" Target="../tags/tag279.xml"/><Relationship Id="rId21" Type="http://schemas.openxmlformats.org/officeDocument/2006/relationships/tags" Target="../tags/tag278.xml"/><Relationship Id="rId20" Type="http://schemas.openxmlformats.org/officeDocument/2006/relationships/tags" Target="../tags/tag277.xml"/><Relationship Id="rId2" Type="http://schemas.openxmlformats.org/officeDocument/2006/relationships/tags" Target="../tags/tag261.xml"/><Relationship Id="rId19" Type="http://schemas.openxmlformats.org/officeDocument/2006/relationships/tags" Target="../tags/tag276.xml"/><Relationship Id="rId18" Type="http://schemas.openxmlformats.org/officeDocument/2006/relationships/tags" Target="../tags/tag275.xml"/><Relationship Id="rId17" Type="http://schemas.openxmlformats.org/officeDocument/2006/relationships/tags" Target="../tags/tag274.xml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image" Target="../media/image13.png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image" Target="../media/image12.jpeg"/><Relationship Id="rId1" Type="http://schemas.openxmlformats.org/officeDocument/2006/relationships/tags" Target="../tags/tag26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7" Type="http://schemas.openxmlformats.org/officeDocument/2006/relationships/slideLayout" Target="../slideLayouts/slideLayout1.xml"/><Relationship Id="rId66" Type="http://schemas.openxmlformats.org/officeDocument/2006/relationships/tags" Target="../tags/tag379.xml"/><Relationship Id="rId65" Type="http://schemas.openxmlformats.org/officeDocument/2006/relationships/tags" Target="../tags/tag378.xml"/><Relationship Id="rId64" Type="http://schemas.openxmlformats.org/officeDocument/2006/relationships/tags" Target="../tags/tag377.xml"/><Relationship Id="rId63" Type="http://schemas.openxmlformats.org/officeDocument/2006/relationships/tags" Target="../tags/tag376.xml"/><Relationship Id="rId62" Type="http://schemas.openxmlformats.org/officeDocument/2006/relationships/tags" Target="../tags/tag375.xml"/><Relationship Id="rId61" Type="http://schemas.openxmlformats.org/officeDocument/2006/relationships/tags" Target="../tags/tag374.xml"/><Relationship Id="rId60" Type="http://schemas.openxmlformats.org/officeDocument/2006/relationships/tags" Target="../tags/tag373.xml"/><Relationship Id="rId6" Type="http://schemas.openxmlformats.org/officeDocument/2006/relationships/tags" Target="../tags/tag324.xml"/><Relationship Id="rId59" Type="http://schemas.openxmlformats.org/officeDocument/2006/relationships/tags" Target="../tags/tag372.xml"/><Relationship Id="rId58" Type="http://schemas.openxmlformats.org/officeDocument/2006/relationships/image" Target="../media/image20.jpeg"/><Relationship Id="rId57" Type="http://schemas.openxmlformats.org/officeDocument/2006/relationships/tags" Target="../tags/tag371.xml"/><Relationship Id="rId56" Type="http://schemas.openxmlformats.org/officeDocument/2006/relationships/image" Target="../media/image19.jpeg"/><Relationship Id="rId55" Type="http://schemas.openxmlformats.org/officeDocument/2006/relationships/tags" Target="../tags/tag370.xml"/><Relationship Id="rId54" Type="http://schemas.openxmlformats.org/officeDocument/2006/relationships/tags" Target="../tags/tag369.xml"/><Relationship Id="rId53" Type="http://schemas.openxmlformats.org/officeDocument/2006/relationships/tags" Target="../tags/tag368.xml"/><Relationship Id="rId52" Type="http://schemas.openxmlformats.org/officeDocument/2006/relationships/image" Target="../media/image18.png"/><Relationship Id="rId51" Type="http://schemas.openxmlformats.org/officeDocument/2006/relationships/tags" Target="../tags/tag367.xml"/><Relationship Id="rId50" Type="http://schemas.openxmlformats.org/officeDocument/2006/relationships/tags" Target="../tags/tag366.xml"/><Relationship Id="rId5" Type="http://schemas.openxmlformats.org/officeDocument/2006/relationships/tags" Target="../tags/tag323.xml"/><Relationship Id="rId49" Type="http://schemas.openxmlformats.org/officeDocument/2006/relationships/tags" Target="../tags/tag365.xml"/><Relationship Id="rId48" Type="http://schemas.openxmlformats.org/officeDocument/2006/relationships/tags" Target="../tags/tag364.xml"/><Relationship Id="rId47" Type="http://schemas.openxmlformats.org/officeDocument/2006/relationships/tags" Target="../tags/tag363.xml"/><Relationship Id="rId46" Type="http://schemas.openxmlformats.org/officeDocument/2006/relationships/tags" Target="../tags/tag362.xml"/><Relationship Id="rId45" Type="http://schemas.openxmlformats.org/officeDocument/2006/relationships/tags" Target="../tags/tag361.xml"/><Relationship Id="rId44" Type="http://schemas.openxmlformats.org/officeDocument/2006/relationships/tags" Target="../tags/tag360.xml"/><Relationship Id="rId43" Type="http://schemas.openxmlformats.org/officeDocument/2006/relationships/tags" Target="../tags/tag359.xml"/><Relationship Id="rId42" Type="http://schemas.openxmlformats.org/officeDocument/2006/relationships/tags" Target="../tags/tag358.xml"/><Relationship Id="rId41" Type="http://schemas.openxmlformats.org/officeDocument/2006/relationships/tags" Target="../tags/tag357.xml"/><Relationship Id="rId40" Type="http://schemas.openxmlformats.org/officeDocument/2006/relationships/tags" Target="../tags/tag356.xml"/><Relationship Id="rId4" Type="http://schemas.openxmlformats.org/officeDocument/2006/relationships/tags" Target="../tags/tag322.xml"/><Relationship Id="rId39" Type="http://schemas.openxmlformats.org/officeDocument/2006/relationships/tags" Target="../tags/tag355.xml"/><Relationship Id="rId38" Type="http://schemas.openxmlformats.org/officeDocument/2006/relationships/tags" Target="../tags/tag354.xml"/><Relationship Id="rId37" Type="http://schemas.openxmlformats.org/officeDocument/2006/relationships/tags" Target="../tags/tag353.xml"/><Relationship Id="rId36" Type="http://schemas.openxmlformats.org/officeDocument/2006/relationships/image" Target="../media/image17.png"/><Relationship Id="rId35" Type="http://schemas.openxmlformats.org/officeDocument/2006/relationships/tags" Target="../tags/tag352.xml"/><Relationship Id="rId34" Type="http://schemas.openxmlformats.org/officeDocument/2006/relationships/tags" Target="../tags/tag351.xml"/><Relationship Id="rId33" Type="http://schemas.openxmlformats.org/officeDocument/2006/relationships/tags" Target="../tags/tag350.xml"/><Relationship Id="rId32" Type="http://schemas.openxmlformats.org/officeDocument/2006/relationships/tags" Target="../tags/tag349.xml"/><Relationship Id="rId31" Type="http://schemas.openxmlformats.org/officeDocument/2006/relationships/tags" Target="../tags/tag348.xml"/><Relationship Id="rId30" Type="http://schemas.openxmlformats.org/officeDocument/2006/relationships/tags" Target="../tags/tag347.xml"/><Relationship Id="rId3" Type="http://schemas.openxmlformats.org/officeDocument/2006/relationships/tags" Target="../tags/tag321.xml"/><Relationship Id="rId29" Type="http://schemas.openxmlformats.org/officeDocument/2006/relationships/tags" Target="../tags/tag346.xml"/><Relationship Id="rId28" Type="http://schemas.openxmlformats.org/officeDocument/2006/relationships/tags" Target="../tags/tag345.xml"/><Relationship Id="rId27" Type="http://schemas.openxmlformats.org/officeDocument/2006/relationships/tags" Target="../tags/tag344.xml"/><Relationship Id="rId26" Type="http://schemas.openxmlformats.org/officeDocument/2006/relationships/tags" Target="../tags/tag343.xml"/><Relationship Id="rId25" Type="http://schemas.openxmlformats.org/officeDocument/2006/relationships/tags" Target="../tags/tag342.xml"/><Relationship Id="rId24" Type="http://schemas.openxmlformats.org/officeDocument/2006/relationships/tags" Target="../tags/tag341.xml"/><Relationship Id="rId23" Type="http://schemas.openxmlformats.org/officeDocument/2006/relationships/tags" Target="../tags/tag340.xml"/><Relationship Id="rId22" Type="http://schemas.openxmlformats.org/officeDocument/2006/relationships/tags" Target="../tags/tag339.xml"/><Relationship Id="rId21" Type="http://schemas.openxmlformats.org/officeDocument/2006/relationships/tags" Target="../tags/tag338.xml"/><Relationship Id="rId20" Type="http://schemas.openxmlformats.org/officeDocument/2006/relationships/tags" Target="../tags/tag337.xml"/><Relationship Id="rId2" Type="http://schemas.openxmlformats.org/officeDocument/2006/relationships/tags" Target="../tags/tag320.xml"/><Relationship Id="rId19" Type="http://schemas.openxmlformats.org/officeDocument/2006/relationships/tags" Target="../tags/tag336.xml"/><Relationship Id="rId18" Type="http://schemas.openxmlformats.org/officeDocument/2006/relationships/tags" Target="../tags/tag335.xml"/><Relationship Id="rId17" Type="http://schemas.openxmlformats.org/officeDocument/2006/relationships/tags" Target="../tags/tag334.xml"/><Relationship Id="rId16" Type="http://schemas.openxmlformats.org/officeDocument/2006/relationships/tags" Target="../tags/tag333.xml"/><Relationship Id="rId15" Type="http://schemas.openxmlformats.org/officeDocument/2006/relationships/tags" Target="../tags/tag332.xml"/><Relationship Id="rId14" Type="http://schemas.openxmlformats.org/officeDocument/2006/relationships/tags" Target="../tags/tag331.xml"/><Relationship Id="rId13" Type="http://schemas.openxmlformats.org/officeDocument/2006/relationships/tags" Target="../tags/tag330.xml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tags" Target="../tags/tag31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image" Target="../media/image21.png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415.xml"/><Relationship Id="rId37" Type="http://schemas.openxmlformats.org/officeDocument/2006/relationships/tags" Target="../tags/tag414.xml"/><Relationship Id="rId36" Type="http://schemas.openxmlformats.org/officeDocument/2006/relationships/tags" Target="../tags/tag413.xml"/><Relationship Id="rId35" Type="http://schemas.openxmlformats.org/officeDocument/2006/relationships/tags" Target="../tags/tag412.xml"/><Relationship Id="rId34" Type="http://schemas.openxmlformats.org/officeDocument/2006/relationships/tags" Target="../tags/tag411.xml"/><Relationship Id="rId33" Type="http://schemas.openxmlformats.org/officeDocument/2006/relationships/tags" Target="../tags/tag410.xml"/><Relationship Id="rId32" Type="http://schemas.openxmlformats.org/officeDocument/2006/relationships/tags" Target="../tags/tag409.xml"/><Relationship Id="rId31" Type="http://schemas.openxmlformats.org/officeDocument/2006/relationships/tags" Target="../tags/tag408.xml"/><Relationship Id="rId30" Type="http://schemas.openxmlformats.org/officeDocument/2006/relationships/tags" Target="../tags/tag407.xml"/><Relationship Id="rId3" Type="http://schemas.openxmlformats.org/officeDocument/2006/relationships/tags" Target="../tags/tag382.xml"/><Relationship Id="rId29" Type="http://schemas.openxmlformats.org/officeDocument/2006/relationships/tags" Target="../tags/tag406.xml"/><Relationship Id="rId28" Type="http://schemas.openxmlformats.org/officeDocument/2006/relationships/tags" Target="../tags/tag405.xml"/><Relationship Id="rId27" Type="http://schemas.openxmlformats.org/officeDocument/2006/relationships/tags" Target="../tags/tag404.xml"/><Relationship Id="rId26" Type="http://schemas.openxmlformats.org/officeDocument/2006/relationships/tags" Target="../tags/tag403.xml"/><Relationship Id="rId25" Type="http://schemas.openxmlformats.org/officeDocument/2006/relationships/tags" Target="../tags/tag402.xml"/><Relationship Id="rId24" Type="http://schemas.openxmlformats.org/officeDocument/2006/relationships/image" Target="../media/image22.jpeg"/><Relationship Id="rId23" Type="http://schemas.openxmlformats.org/officeDocument/2006/relationships/tags" Target="../tags/tag401.xml"/><Relationship Id="rId22" Type="http://schemas.openxmlformats.org/officeDocument/2006/relationships/tags" Target="../tags/tag400.xml"/><Relationship Id="rId21" Type="http://schemas.openxmlformats.org/officeDocument/2006/relationships/tags" Target="../tags/tag399.xml"/><Relationship Id="rId20" Type="http://schemas.openxmlformats.org/officeDocument/2006/relationships/tags" Target="../tags/tag398.xml"/><Relationship Id="rId2" Type="http://schemas.openxmlformats.org/officeDocument/2006/relationships/tags" Target="../tags/tag381.xml"/><Relationship Id="rId19" Type="http://schemas.openxmlformats.org/officeDocument/2006/relationships/tags" Target="../tags/tag397.xml"/><Relationship Id="rId18" Type="http://schemas.openxmlformats.org/officeDocument/2006/relationships/tags" Target="../tags/tag396.xml"/><Relationship Id="rId17" Type="http://schemas.openxmlformats.org/officeDocument/2006/relationships/tags" Target="../tags/tag395.xml"/><Relationship Id="rId16" Type="http://schemas.openxmlformats.org/officeDocument/2006/relationships/tags" Target="../tags/tag394.xml"/><Relationship Id="rId15" Type="http://schemas.openxmlformats.org/officeDocument/2006/relationships/tags" Target="../tags/tag393.xml"/><Relationship Id="rId14" Type="http://schemas.openxmlformats.org/officeDocument/2006/relationships/tags" Target="../tags/tag392.xml"/><Relationship Id="rId13" Type="http://schemas.openxmlformats.org/officeDocument/2006/relationships/tags" Target="../tags/tag391.xml"/><Relationship Id="rId12" Type="http://schemas.openxmlformats.org/officeDocument/2006/relationships/tags" Target="../tags/tag390.xml"/><Relationship Id="rId11" Type="http://schemas.openxmlformats.org/officeDocument/2006/relationships/tags" Target="../tags/tag389.xml"/><Relationship Id="rId10" Type="http://schemas.openxmlformats.org/officeDocument/2006/relationships/tags" Target="../tags/tag388.xml"/><Relationship Id="rId1" Type="http://schemas.openxmlformats.org/officeDocument/2006/relationships/tags" Target="../tags/tag38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423.xml"/><Relationship Id="rId7" Type="http://schemas.openxmlformats.org/officeDocument/2006/relationships/tags" Target="../tags/tag422.xml"/><Relationship Id="rId6" Type="http://schemas.openxmlformats.org/officeDocument/2006/relationships/tags" Target="../tags/tag421.xml"/><Relationship Id="rId5" Type="http://schemas.openxmlformats.org/officeDocument/2006/relationships/tags" Target="../tags/tag420.xml"/><Relationship Id="rId4" Type="http://schemas.openxmlformats.org/officeDocument/2006/relationships/tags" Target="../tags/tag419.xml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26.xml"/><Relationship Id="rId17" Type="http://schemas.openxmlformats.org/officeDocument/2006/relationships/image" Target="../media/image24.png"/><Relationship Id="rId16" Type="http://schemas.openxmlformats.org/officeDocument/2006/relationships/tags" Target="../tags/tag425.xml"/><Relationship Id="rId15" Type="http://schemas.microsoft.com/office/2007/relationships/diagramDrawing" Target="../diagrams/drawing1.xml"/><Relationship Id="rId14" Type="http://schemas.openxmlformats.org/officeDocument/2006/relationships/diagramColors" Target="../diagrams/colors1.xml"/><Relationship Id="rId13" Type="http://schemas.openxmlformats.org/officeDocument/2006/relationships/diagramQuickStyle" Target="../diagrams/quickStyle1.xml"/><Relationship Id="rId12" Type="http://schemas.openxmlformats.org/officeDocument/2006/relationships/diagramLayout" Target="../diagrams/layout1.xml"/><Relationship Id="rId11" Type="http://schemas.openxmlformats.org/officeDocument/2006/relationships/diagramData" Target="../diagrams/data1.xml"/><Relationship Id="rId10" Type="http://schemas.openxmlformats.org/officeDocument/2006/relationships/tags" Target="../tags/tag424.xml"/><Relationship Id="rId1" Type="http://schemas.openxmlformats.org/officeDocument/2006/relationships/tags" Target="../tags/tag41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diagramQuickStyle" Target="../diagrams/quickStyle2.xml"/><Relationship Id="rId8" Type="http://schemas.openxmlformats.org/officeDocument/2006/relationships/diagramLayout" Target="../diagrams/layout2.xml"/><Relationship Id="rId7" Type="http://schemas.openxmlformats.org/officeDocument/2006/relationships/diagramData" Target="../diagrams/data2.xml"/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429.xml"/><Relationship Id="rId29" Type="http://schemas.openxmlformats.org/officeDocument/2006/relationships/tags" Target="../tags/tag445.xml"/><Relationship Id="rId28" Type="http://schemas.openxmlformats.org/officeDocument/2006/relationships/tags" Target="../tags/tag444.xml"/><Relationship Id="rId27" Type="http://schemas.openxmlformats.org/officeDocument/2006/relationships/tags" Target="../tags/tag443.xml"/><Relationship Id="rId26" Type="http://schemas.openxmlformats.org/officeDocument/2006/relationships/tags" Target="../tags/tag442.xml"/><Relationship Id="rId25" Type="http://schemas.openxmlformats.org/officeDocument/2006/relationships/tags" Target="../tags/tag441.xml"/><Relationship Id="rId24" Type="http://schemas.openxmlformats.org/officeDocument/2006/relationships/tags" Target="../tags/tag440.xml"/><Relationship Id="rId23" Type="http://schemas.openxmlformats.org/officeDocument/2006/relationships/tags" Target="../tags/tag439.xml"/><Relationship Id="rId22" Type="http://schemas.microsoft.com/office/2007/relationships/diagramDrawing" Target="../diagrams/drawing3.xml"/><Relationship Id="rId21" Type="http://schemas.openxmlformats.org/officeDocument/2006/relationships/diagramColors" Target="../diagrams/colors3.xml"/><Relationship Id="rId20" Type="http://schemas.openxmlformats.org/officeDocument/2006/relationships/diagramQuickStyle" Target="../diagrams/quickStyle3.xml"/><Relationship Id="rId2" Type="http://schemas.openxmlformats.org/officeDocument/2006/relationships/tags" Target="../tags/tag428.xml"/><Relationship Id="rId19" Type="http://schemas.openxmlformats.org/officeDocument/2006/relationships/diagramLayout" Target="../diagrams/layout3.xml"/><Relationship Id="rId18" Type="http://schemas.openxmlformats.org/officeDocument/2006/relationships/diagramData" Target="../diagrams/data3.xml"/><Relationship Id="rId17" Type="http://schemas.openxmlformats.org/officeDocument/2006/relationships/tags" Target="../tags/tag438.xml"/><Relationship Id="rId16" Type="http://schemas.openxmlformats.org/officeDocument/2006/relationships/tags" Target="../tags/tag437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microsoft.com/office/2007/relationships/diagramDrawing" Target="../diagrams/drawing2.xml"/><Relationship Id="rId10" Type="http://schemas.openxmlformats.org/officeDocument/2006/relationships/diagramColors" Target="../diagrams/colors2.xml"/><Relationship Id="rId1" Type="http://schemas.openxmlformats.org/officeDocument/2006/relationships/tags" Target="../tags/tag42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tags" Target="../tags/tag44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67.xml"/><Relationship Id="rId8" Type="http://schemas.openxmlformats.org/officeDocument/2006/relationships/tags" Target="../tags/tag466.xml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75.xml"/><Relationship Id="rId16" Type="http://schemas.openxmlformats.org/officeDocument/2006/relationships/tags" Target="../tags/tag474.xml"/><Relationship Id="rId15" Type="http://schemas.openxmlformats.org/officeDocument/2006/relationships/tags" Target="../tags/tag473.xml"/><Relationship Id="rId14" Type="http://schemas.openxmlformats.org/officeDocument/2006/relationships/tags" Target="../tags/tag472.xml"/><Relationship Id="rId13" Type="http://schemas.openxmlformats.org/officeDocument/2006/relationships/tags" Target="../tags/tag471.xml"/><Relationship Id="rId12" Type="http://schemas.openxmlformats.org/officeDocument/2006/relationships/tags" Target="../tags/tag470.xml"/><Relationship Id="rId11" Type="http://schemas.openxmlformats.org/officeDocument/2006/relationships/tags" Target="../tags/tag469.xml"/><Relationship Id="rId10" Type="http://schemas.openxmlformats.org/officeDocument/2006/relationships/tags" Target="../tags/tag468.xml"/><Relationship Id="rId1" Type="http://schemas.openxmlformats.org/officeDocument/2006/relationships/tags" Target="../tags/tag45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tags" Target="../tags/tag47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tiff"/><Relationship Id="rId8" Type="http://schemas.openxmlformats.org/officeDocument/2006/relationships/tags" Target="../tags/tag496.xml"/><Relationship Id="rId7" Type="http://schemas.openxmlformats.org/officeDocument/2006/relationships/tags" Target="../tags/tag495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tags" Target="../tags/tag492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tags" Target="../tags/tag48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tags" Target="../tags/tag49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18.xml"/><Relationship Id="rId8" Type="http://schemas.openxmlformats.org/officeDocument/2006/relationships/tags" Target="../tags/tag517.xml"/><Relationship Id="rId7" Type="http://schemas.openxmlformats.org/officeDocument/2006/relationships/tags" Target="../tags/tag516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Relationship Id="rId3" Type="http://schemas.openxmlformats.org/officeDocument/2006/relationships/tags" Target="../tags/tag512.xml"/><Relationship Id="rId2" Type="http://schemas.openxmlformats.org/officeDocument/2006/relationships/tags" Target="../tags/tag51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1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27.xml"/><Relationship Id="rId8" Type="http://schemas.openxmlformats.org/officeDocument/2006/relationships/tags" Target="../tags/tag526.xml"/><Relationship Id="rId7" Type="http://schemas.openxmlformats.org/officeDocument/2006/relationships/tags" Target="../tags/tag525.xml"/><Relationship Id="rId6" Type="http://schemas.openxmlformats.org/officeDocument/2006/relationships/tags" Target="../tags/tag524.xml"/><Relationship Id="rId5" Type="http://schemas.openxmlformats.org/officeDocument/2006/relationships/tags" Target="../tags/tag523.xml"/><Relationship Id="rId4" Type="http://schemas.openxmlformats.org/officeDocument/2006/relationships/tags" Target="../tags/tag522.xml"/><Relationship Id="rId3" Type="http://schemas.openxmlformats.org/officeDocument/2006/relationships/tags" Target="../tags/tag521.xml"/><Relationship Id="rId2" Type="http://schemas.openxmlformats.org/officeDocument/2006/relationships/tags" Target="../tags/tag52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529.xml"/><Relationship Id="rId10" Type="http://schemas.openxmlformats.org/officeDocument/2006/relationships/tags" Target="../tags/tag528.xml"/><Relationship Id="rId1" Type="http://schemas.openxmlformats.org/officeDocument/2006/relationships/tags" Target="../tags/tag51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538.xml"/><Relationship Id="rId8" Type="http://schemas.openxmlformats.org/officeDocument/2006/relationships/tags" Target="../tags/tag537.xml"/><Relationship Id="rId7" Type="http://schemas.openxmlformats.org/officeDocument/2006/relationships/tags" Target="../tags/tag536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tags" Target="../tags/tag53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3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47.xml"/><Relationship Id="rId8" Type="http://schemas.openxmlformats.org/officeDocument/2006/relationships/tags" Target="../tags/tag546.xml"/><Relationship Id="rId7" Type="http://schemas.openxmlformats.org/officeDocument/2006/relationships/tags" Target="../tags/tag545.xml"/><Relationship Id="rId6" Type="http://schemas.openxmlformats.org/officeDocument/2006/relationships/tags" Target="../tags/tag544.xml"/><Relationship Id="rId5" Type="http://schemas.openxmlformats.org/officeDocument/2006/relationships/tags" Target="../tags/tag543.xml"/><Relationship Id="rId4" Type="http://schemas.openxmlformats.org/officeDocument/2006/relationships/tags" Target="../tags/tag542.xml"/><Relationship Id="rId3" Type="http://schemas.openxmlformats.org/officeDocument/2006/relationships/tags" Target="../tags/tag541.xml"/><Relationship Id="rId2" Type="http://schemas.openxmlformats.org/officeDocument/2006/relationships/tags" Target="../tags/tag540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51.xml"/><Relationship Id="rId14" Type="http://schemas.openxmlformats.org/officeDocument/2006/relationships/image" Target="../media/image27.tiff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image" Target="../media/image26.png"/><Relationship Id="rId1" Type="http://schemas.openxmlformats.org/officeDocument/2006/relationships/tags" Target="../tags/tag53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560.xml"/><Relationship Id="rId8" Type="http://schemas.openxmlformats.org/officeDocument/2006/relationships/tags" Target="../tags/tag559.xml"/><Relationship Id="rId7" Type="http://schemas.openxmlformats.org/officeDocument/2006/relationships/tags" Target="../tags/tag558.xml"/><Relationship Id="rId6" Type="http://schemas.openxmlformats.org/officeDocument/2006/relationships/tags" Target="../tags/tag557.xml"/><Relationship Id="rId5" Type="http://schemas.openxmlformats.org/officeDocument/2006/relationships/tags" Target="../tags/tag556.xml"/><Relationship Id="rId4" Type="http://schemas.openxmlformats.org/officeDocument/2006/relationships/tags" Target="../tags/tag555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554.xml"/><Relationship Id="rId29" Type="http://schemas.openxmlformats.org/officeDocument/2006/relationships/tags" Target="../tags/tag576.xml"/><Relationship Id="rId28" Type="http://schemas.openxmlformats.org/officeDocument/2006/relationships/tags" Target="../tags/tag575.xml"/><Relationship Id="rId27" Type="http://schemas.openxmlformats.org/officeDocument/2006/relationships/tags" Target="../tags/tag574.xml"/><Relationship Id="rId26" Type="http://schemas.openxmlformats.org/officeDocument/2006/relationships/tags" Target="../tags/tag573.xml"/><Relationship Id="rId25" Type="http://schemas.openxmlformats.org/officeDocument/2006/relationships/tags" Target="../tags/tag572.xml"/><Relationship Id="rId24" Type="http://schemas.openxmlformats.org/officeDocument/2006/relationships/tags" Target="../tags/tag571.xml"/><Relationship Id="rId23" Type="http://schemas.openxmlformats.org/officeDocument/2006/relationships/tags" Target="../tags/tag570.xml"/><Relationship Id="rId22" Type="http://schemas.openxmlformats.org/officeDocument/2006/relationships/tags" Target="../tags/tag569.xml"/><Relationship Id="rId21" Type="http://schemas.openxmlformats.org/officeDocument/2006/relationships/tags" Target="../tags/tag568.xml"/><Relationship Id="rId20" Type="http://schemas.openxmlformats.org/officeDocument/2006/relationships/tags" Target="../tags/tag567.xml"/><Relationship Id="rId2" Type="http://schemas.openxmlformats.org/officeDocument/2006/relationships/tags" Target="../tags/tag553.xml"/><Relationship Id="rId19" Type="http://schemas.openxmlformats.org/officeDocument/2006/relationships/image" Target="../media/image31.png"/><Relationship Id="rId18" Type="http://schemas.openxmlformats.org/officeDocument/2006/relationships/tags" Target="../tags/tag566.xml"/><Relationship Id="rId17" Type="http://schemas.openxmlformats.org/officeDocument/2006/relationships/image" Target="../media/image30.png"/><Relationship Id="rId16" Type="http://schemas.openxmlformats.org/officeDocument/2006/relationships/tags" Target="../tags/tag565.xml"/><Relationship Id="rId15" Type="http://schemas.openxmlformats.org/officeDocument/2006/relationships/image" Target="../media/image29.png"/><Relationship Id="rId14" Type="http://schemas.openxmlformats.org/officeDocument/2006/relationships/tags" Target="../tags/tag564.xml"/><Relationship Id="rId13" Type="http://schemas.openxmlformats.org/officeDocument/2006/relationships/image" Target="../media/image28.png"/><Relationship Id="rId12" Type="http://schemas.openxmlformats.org/officeDocument/2006/relationships/tags" Target="../tags/tag563.xml"/><Relationship Id="rId11" Type="http://schemas.openxmlformats.org/officeDocument/2006/relationships/tags" Target="../tags/tag562.xml"/><Relationship Id="rId10" Type="http://schemas.openxmlformats.org/officeDocument/2006/relationships/tags" Target="../tags/tag561.xml"/><Relationship Id="rId1" Type="http://schemas.openxmlformats.org/officeDocument/2006/relationships/tags" Target="../tags/tag55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85.xml"/><Relationship Id="rId8" Type="http://schemas.openxmlformats.org/officeDocument/2006/relationships/tags" Target="../tags/tag584.xml"/><Relationship Id="rId7" Type="http://schemas.openxmlformats.org/officeDocument/2006/relationships/tags" Target="../tags/tag583.xml"/><Relationship Id="rId6" Type="http://schemas.openxmlformats.org/officeDocument/2006/relationships/tags" Target="../tags/tag582.xml"/><Relationship Id="rId5" Type="http://schemas.openxmlformats.org/officeDocument/2006/relationships/tags" Target="../tags/tag581.xml"/><Relationship Id="rId4" Type="http://schemas.openxmlformats.org/officeDocument/2006/relationships/tags" Target="../tags/tag580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607.xml"/><Relationship Id="rId30" Type="http://schemas.openxmlformats.org/officeDocument/2006/relationships/tags" Target="../tags/tag606.xml"/><Relationship Id="rId3" Type="http://schemas.openxmlformats.org/officeDocument/2006/relationships/tags" Target="../tags/tag579.xml"/><Relationship Id="rId29" Type="http://schemas.openxmlformats.org/officeDocument/2006/relationships/tags" Target="../tags/tag605.xml"/><Relationship Id="rId28" Type="http://schemas.openxmlformats.org/officeDocument/2006/relationships/tags" Target="../tags/tag604.xml"/><Relationship Id="rId27" Type="http://schemas.openxmlformats.org/officeDocument/2006/relationships/tags" Target="../tags/tag603.xml"/><Relationship Id="rId26" Type="http://schemas.openxmlformats.org/officeDocument/2006/relationships/tags" Target="../tags/tag602.xml"/><Relationship Id="rId25" Type="http://schemas.openxmlformats.org/officeDocument/2006/relationships/tags" Target="../tags/tag601.xml"/><Relationship Id="rId24" Type="http://schemas.openxmlformats.org/officeDocument/2006/relationships/tags" Target="../tags/tag600.xml"/><Relationship Id="rId23" Type="http://schemas.openxmlformats.org/officeDocument/2006/relationships/tags" Target="../tags/tag599.xml"/><Relationship Id="rId22" Type="http://schemas.openxmlformats.org/officeDocument/2006/relationships/tags" Target="../tags/tag598.xml"/><Relationship Id="rId21" Type="http://schemas.openxmlformats.org/officeDocument/2006/relationships/tags" Target="../tags/tag597.xml"/><Relationship Id="rId20" Type="http://schemas.openxmlformats.org/officeDocument/2006/relationships/tags" Target="../tags/tag596.xml"/><Relationship Id="rId2" Type="http://schemas.openxmlformats.org/officeDocument/2006/relationships/tags" Target="../tags/tag578.xml"/><Relationship Id="rId19" Type="http://schemas.openxmlformats.org/officeDocument/2006/relationships/tags" Target="../tags/tag595.xml"/><Relationship Id="rId18" Type="http://schemas.openxmlformats.org/officeDocument/2006/relationships/tags" Target="../tags/tag594.xml"/><Relationship Id="rId17" Type="http://schemas.openxmlformats.org/officeDocument/2006/relationships/tags" Target="../tags/tag593.xml"/><Relationship Id="rId16" Type="http://schemas.openxmlformats.org/officeDocument/2006/relationships/tags" Target="../tags/tag592.xml"/><Relationship Id="rId15" Type="http://schemas.openxmlformats.org/officeDocument/2006/relationships/tags" Target="../tags/tag591.xml"/><Relationship Id="rId14" Type="http://schemas.openxmlformats.org/officeDocument/2006/relationships/tags" Target="../tags/tag590.xml"/><Relationship Id="rId13" Type="http://schemas.openxmlformats.org/officeDocument/2006/relationships/tags" Target="../tags/tag589.xml"/><Relationship Id="rId12" Type="http://schemas.openxmlformats.org/officeDocument/2006/relationships/tags" Target="../tags/tag588.xml"/><Relationship Id="rId11" Type="http://schemas.openxmlformats.org/officeDocument/2006/relationships/tags" Target="../tags/tag587.xml"/><Relationship Id="rId10" Type="http://schemas.openxmlformats.org/officeDocument/2006/relationships/tags" Target="../tags/tag586.xml"/><Relationship Id="rId1" Type="http://schemas.openxmlformats.org/officeDocument/2006/relationships/tags" Target="../tags/tag57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616.xml"/><Relationship Id="rId8" Type="http://schemas.openxmlformats.org/officeDocument/2006/relationships/tags" Target="../tags/tag615.xml"/><Relationship Id="rId7" Type="http://schemas.openxmlformats.org/officeDocument/2006/relationships/tags" Target="../tags/tag614.xml"/><Relationship Id="rId6" Type="http://schemas.openxmlformats.org/officeDocument/2006/relationships/tags" Target="../tags/tag613.xml"/><Relationship Id="rId5" Type="http://schemas.openxmlformats.org/officeDocument/2006/relationships/tags" Target="../tags/tag612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652.xml"/><Relationship Id="rId44" Type="http://schemas.openxmlformats.org/officeDocument/2006/relationships/tags" Target="../tags/tag651.xml"/><Relationship Id="rId43" Type="http://schemas.openxmlformats.org/officeDocument/2006/relationships/tags" Target="../tags/tag650.xml"/><Relationship Id="rId42" Type="http://schemas.openxmlformats.org/officeDocument/2006/relationships/tags" Target="../tags/tag649.xml"/><Relationship Id="rId41" Type="http://schemas.openxmlformats.org/officeDocument/2006/relationships/tags" Target="../tags/tag648.xml"/><Relationship Id="rId40" Type="http://schemas.openxmlformats.org/officeDocument/2006/relationships/tags" Target="../tags/tag647.xml"/><Relationship Id="rId4" Type="http://schemas.openxmlformats.org/officeDocument/2006/relationships/tags" Target="../tags/tag611.xml"/><Relationship Id="rId39" Type="http://schemas.openxmlformats.org/officeDocument/2006/relationships/tags" Target="../tags/tag646.xml"/><Relationship Id="rId38" Type="http://schemas.openxmlformats.org/officeDocument/2006/relationships/tags" Target="../tags/tag645.xml"/><Relationship Id="rId37" Type="http://schemas.openxmlformats.org/officeDocument/2006/relationships/tags" Target="../tags/tag644.xml"/><Relationship Id="rId36" Type="http://schemas.openxmlformats.org/officeDocument/2006/relationships/tags" Target="../tags/tag643.xml"/><Relationship Id="rId35" Type="http://schemas.openxmlformats.org/officeDocument/2006/relationships/tags" Target="../tags/tag642.xml"/><Relationship Id="rId34" Type="http://schemas.openxmlformats.org/officeDocument/2006/relationships/tags" Target="../tags/tag641.xml"/><Relationship Id="rId33" Type="http://schemas.openxmlformats.org/officeDocument/2006/relationships/tags" Target="../tags/tag640.xml"/><Relationship Id="rId32" Type="http://schemas.openxmlformats.org/officeDocument/2006/relationships/tags" Target="../tags/tag639.xml"/><Relationship Id="rId31" Type="http://schemas.openxmlformats.org/officeDocument/2006/relationships/tags" Target="../tags/tag638.xml"/><Relationship Id="rId30" Type="http://schemas.openxmlformats.org/officeDocument/2006/relationships/tags" Target="../tags/tag637.xml"/><Relationship Id="rId3" Type="http://schemas.openxmlformats.org/officeDocument/2006/relationships/tags" Target="../tags/tag610.xml"/><Relationship Id="rId29" Type="http://schemas.openxmlformats.org/officeDocument/2006/relationships/tags" Target="../tags/tag636.xml"/><Relationship Id="rId28" Type="http://schemas.openxmlformats.org/officeDocument/2006/relationships/tags" Target="../tags/tag635.xml"/><Relationship Id="rId27" Type="http://schemas.openxmlformats.org/officeDocument/2006/relationships/tags" Target="../tags/tag634.xml"/><Relationship Id="rId26" Type="http://schemas.openxmlformats.org/officeDocument/2006/relationships/tags" Target="../tags/tag633.xml"/><Relationship Id="rId25" Type="http://schemas.openxmlformats.org/officeDocument/2006/relationships/tags" Target="../tags/tag632.xml"/><Relationship Id="rId24" Type="http://schemas.openxmlformats.org/officeDocument/2006/relationships/tags" Target="../tags/tag631.xml"/><Relationship Id="rId23" Type="http://schemas.openxmlformats.org/officeDocument/2006/relationships/tags" Target="../tags/tag630.xml"/><Relationship Id="rId22" Type="http://schemas.openxmlformats.org/officeDocument/2006/relationships/tags" Target="../tags/tag629.xml"/><Relationship Id="rId21" Type="http://schemas.openxmlformats.org/officeDocument/2006/relationships/tags" Target="../tags/tag628.xml"/><Relationship Id="rId20" Type="http://schemas.openxmlformats.org/officeDocument/2006/relationships/tags" Target="../tags/tag627.xml"/><Relationship Id="rId2" Type="http://schemas.openxmlformats.org/officeDocument/2006/relationships/tags" Target="../tags/tag609.xml"/><Relationship Id="rId19" Type="http://schemas.openxmlformats.org/officeDocument/2006/relationships/tags" Target="../tags/tag626.xml"/><Relationship Id="rId18" Type="http://schemas.openxmlformats.org/officeDocument/2006/relationships/tags" Target="../tags/tag625.xml"/><Relationship Id="rId17" Type="http://schemas.openxmlformats.org/officeDocument/2006/relationships/tags" Target="../tags/tag624.xml"/><Relationship Id="rId16" Type="http://schemas.openxmlformats.org/officeDocument/2006/relationships/tags" Target="../tags/tag623.xml"/><Relationship Id="rId15" Type="http://schemas.openxmlformats.org/officeDocument/2006/relationships/tags" Target="../tags/tag622.xml"/><Relationship Id="rId14" Type="http://schemas.openxmlformats.org/officeDocument/2006/relationships/tags" Target="../tags/tag621.xml"/><Relationship Id="rId13" Type="http://schemas.openxmlformats.org/officeDocument/2006/relationships/tags" Target="../tags/tag620.xml"/><Relationship Id="rId12" Type="http://schemas.openxmlformats.org/officeDocument/2006/relationships/tags" Target="../tags/tag619.xml"/><Relationship Id="rId11" Type="http://schemas.openxmlformats.org/officeDocument/2006/relationships/tags" Target="../tags/tag618.xml"/><Relationship Id="rId10" Type="http://schemas.openxmlformats.org/officeDocument/2006/relationships/tags" Target="../tags/tag617.xml"/><Relationship Id="rId1" Type="http://schemas.openxmlformats.org/officeDocument/2006/relationships/tags" Target="../tags/tag60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687.xml"/><Relationship Id="rId35" Type="http://schemas.openxmlformats.org/officeDocument/2006/relationships/image" Target="../media/image32.png"/><Relationship Id="rId34" Type="http://schemas.openxmlformats.org/officeDocument/2006/relationships/tags" Target="../tags/tag686.xml"/><Relationship Id="rId33" Type="http://schemas.openxmlformats.org/officeDocument/2006/relationships/tags" Target="../tags/tag685.xml"/><Relationship Id="rId32" Type="http://schemas.openxmlformats.org/officeDocument/2006/relationships/tags" Target="../tags/tag684.xml"/><Relationship Id="rId31" Type="http://schemas.openxmlformats.org/officeDocument/2006/relationships/tags" Target="../tags/tag683.xml"/><Relationship Id="rId30" Type="http://schemas.openxmlformats.org/officeDocument/2006/relationships/tags" Target="../tags/tag682.xml"/><Relationship Id="rId3" Type="http://schemas.openxmlformats.org/officeDocument/2006/relationships/tags" Target="../tags/tag655.xml"/><Relationship Id="rId29" Type="http://schemas.openxmlformats.org/officeDocument/2006/relationships/tags" Target="../tags/tag681.xml"/><Relationship Id="rId28" Type="http://schemas.openxmlformats.org/officeDocument/2006/relationships/tags" Target="../tags/tag680.xml"/><Relationship Id="rId27" Type="http://schemas.openxmlformats.org/officeDocument/2006/relationships/tags" Target="../tags/tag679.xml"/><Relationship Id="rId26" Type="http://schemas.openxmlformats.org/officeDocument/2006/relationships/tags" Target="../tags/tag678.xml"/><Relationship Id="rId25" Type="http://schemas.openxmlformats.org/officeDocument/2006/relationships/tags" Target="../tags/tag677.xml"/><Relationship Id="rId24" Type="http://schemas.openxmlformats.org/officeDocument/2006/relationships/tags" Target="../tags/tag676.xml"/><Relationship Id="rId23" Type="http://schemas.openxmlformats.org/officeDocument/2006/relationships/tags" Target="../tags/tag675.xml"/><Relationship Id="rId22" Type="http://schemas.openxmlformats.org/officeDocument/2006/relationships/tags" Target="../tags/tag674.xml"/><Relationship Id="rId21" Type="http://schemas.openxmlformats.org/officeDocument/2006/relationships/tags" Target="../tags/tag673.xml"/><Relationship Id="rId20" Type="http://schemas.openxmlformats.org/officeDocument/2006/relationships/tags" Target="../tags/tag672.xml"/><Relationship Id="rId2" Type="http://schemas.openxmlformats.org/officeDocument/2006/relationships/tags" Target="../tags/tag654.xml"/><Relationship Id="rId19" Type="http://schemas.openxmlformats.org/officeDocument/2006/relationships/tags" Target="../tags/tag671.xml"/><Relationship Id="rId18" Type="http://schemas.openxmlformats.org/officeDocument/2006/relationships/tags" Target="../tags/tag670.xml"/><Relationship Id="rId17" Type="http://schemas.openxmlformats.org/officeDocument/2006/relationships/tags" Target="../tags/tag669.xml"/><Relationship Id="rId16" Type="http://schemas.openxmlformats.org/officeDocument/2006/relationships/tags" Target="../tags/tag668.xml"/><Relationship Id="rId15" Type="http://schemas.openxmlformats.org/officeDocument/2006/relationships/tags" Target="../tags/tag667.xml"/><Relationship Id="rId14" Type="http://schemas.openxmlformats.org/officeDocument/2006/relationships/tags" Target="../tags/tag666.xml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8.xml"/><Relationship Id="rId2" Type="http://schemas.openxmlformats.org/officeDocument/2006/relationships/image" Target="../media/image1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3206750" cy="68586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副标题 3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70990" y="1243330"/>
            <a:ext cx="10620375" cy="43713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67230" y="1628140"/>
            <a:ext cx="9799320" cy="2058670"/>
          </a:xfrm>
        </p:spPr>
        <p:txBody>
          <a:bodyPr/>
          <a:lstStyle/>
          <a:p>
            <a:r>
              <a:rPr lang="zh-CN" altLang="en-US" sz="4000">
                <a:latin typeface="Calibri" panose="020F0502020204030204" charset="0"/>
                <a:cs typeface="Calibri" panose="020F0502020204030204" charset="0"/>
              </a:rPr>
              <a:t>基于</a:t>
            </a:r>
            <a:r>
              <a:rPr lang="zh-CN" altLang="en-US" sz="4000">
                <a:latin typeface="Times New Roman" panose="02020603050405020304" charset="0"/>
                <a:cs typeface="Times New Roman" panose="02020603050405020304" charset="0"/>
              </a:rPr>
              <a:t>SLC7A11/GSH/GPX4 </a:t>
            </a:r>
            <a:r>
              <a:rPr lang="zh-CN" altLang="en-US" sz="4000">
                <a:latin typeface="Calibri" panose="020F0502020204030204" charset="0"/>
                <a:cs typeface="Calibri" panose="020F0502020204030204" charset="0"/>
              </a:rPr>
              <a:t>信号通路</a:t>
            </a:r>
            <a:br>
              <a:rPr lang="zh-CN" altLang="en-US" sz="4000">
                <a:latin typeface="Calibri" panose="020F0502020204030204" charset="0"/>
                <a:cs typeface="Calibri" panose="020F0502020204030204" charset="0"/>
              </a:rPr>
            </a:br>
            <a:r>
              <a:rPr lang="zh-CN" altLang="en-US" sz="4000">
                <a:latin typeface="Calibri" panose="020F0502020204030204" charset="0"/>
                <a:cs typeface="Calibri" panose="020F0502020204030204" charset="0"/>
              </a:rPr>
              <a:t>调控铁死亡探讨三七总皂苷</a:t>
            </a:r>
            <a:br>
              <a:rPr lang="zh-CN" altLang="en-US" sz="4000">
                <a:latin typeface="Calibri" panose="020F0502020204030204" charset="0"/>
                <a:cs typeface="Calibri" panose="020F0502020204030204" charset="0"/>
              </a:rPr>
            </a:br>
            <a:r>
              <a:rPr lang="zh-CN" altLang="en-US" sz="4000">
                <a:latin typeface="Calibri" panose="020F0502020204030204" charset="0"/>
                <a:cs typeface="Calibri" panose="020F0502020204030204" charset="0"/>
              </a:rPr>
              <a:t>缓解口腔黏膜下纤维化的机制研究</a:t>
            </a:r>
            <a:endParaRPr lang="zh-CN" altLang="en-US" sz="4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052685" y="4965065"/>
            <a:ext cx="1736725" cy="466090"/>
          </a:xfrm>
          <a:prstGeom prst="roundRect">
            <a:avLst>
              <a:gd name="adj" fmla="val 15258"/>
            </a:avLst>
          </a:prstGeom>
          <a:solidFill>
            <a:schemeClr val="accent1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2"/>
                </a:solidFill>
                <a:latin typeface="华光粗黑_CNKI" panose="02000500000000000000" charset="-122"/>
                <a:ea typeface="华光粗黑_CNKI" panose="02000500000000000000" charset="-122"/>
                <a:cs typeface="Arial" panose="020B0604020202020204" pitchFamily="34" charset="0"/>
                <a:sym typeface="+mn-ea"/>
              </a:rPr>
              <a:t>编号：</a:t>
            </a:r>
            <a:r>
              <a:rPr lang="zh-CN" altLang="en-US">
                <a:solidFill>
                  <a:schemeClr val="bg2"/>
                </a:solidFill>
                <a:latin typeface="华光粗黑_CNKI" panose="02000500000000000000" charset="-122"/>
                <a:ea typeface="华光粗黑_CNKI" panose="02000500000000000000" charset="-122"/>
                <a:cs typeface="Arial" panose="020B0604020202020204" pitchFamily="34" charset="0"/>
                <a:sym typeface="+mn-ea"/>
              </a:rPr>
              <a:t>赵晨曦</a:t>
            </a:r>
            <a:endParaRPr lang="zh-CN" altLang="en-US">
              <a:solidFill>
                <a:schemeClr val="bg2"/>
              </a:solidFill>
              <a:latin typeface="华光粗黑_CNKI" panose="02000500000000000000" charset="-122"/>
              <a:ea typeface="华光粗黑_CNKI" panose="020005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93695" y="4387850"/>
            <a:ext cx="2549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长沙市口腔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医院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79725" y="5027295"/>
            <a:ext cx="27876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牙体牙髓科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36" name="Group 91"/>
          <p:cNvGrpSpPr/>
          <p:nvPr/>
        </p:nvGrpSpPr>
        <p:grpSpPr bwMode="auto">
          <a:xfrm>
            <a:off x="2408946" y="4378534"/>
            <a:ext cx="390552" cy="616758"/>
            <a:chOff x="937" y="1480"/>
            <a:chExt cx="1589" cy="2510"/>
          </a:xfrm>
        </p:grpSpPr>
        <p:grpSp>
          <p:nvGrpSpPr>
            <p:cNvPr id="37" name="组合 33"/>
            <p:cNvGrpSpPr/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42" name="椭圆 41"/>
              <p:cNvSpPr/>
              <p:nvPr>
                <p:custDataLst>
                  <p:tags r:id="rId1"/>
                </p:custDataLst>
              </p:nvPr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itchFamily="1" charset="-122"/>
                </a:endParaRPr>
              </a:p>
            </p:txBody>
          </p:sp>
          <p:sp>
            <p:nvSpPr>
              <p:cNvPr id="43" name="椭圆 42"/>
              <p:cNvSpPr/>
              <p:nvPr>
                <p:custDataLst>
                  <p:tags r:id="rId2"/>
                </p:custDataLst>
              </p:nvPr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4" name="椭圆 43"/>
              <p:cNvSpPr/>
              <p:nvPr>
                <p:custDataLst>
                  <p:tags r:id="rId3"/>
                </p:custDataLst>
              </p:nvPr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itchFamily="1" charset="-122"/>
                </a:endParaRPr>
              </a:p>
            </p:txBody>
          </p:sp>
          <p:sp>
            <p:nvSpPr>
              <p:cNvPr id="45" name="矩形 44"/>
              <p:cNvSpPr/>
              <p:nvPr>
                <p:custDataLst>
                  <p:tags r:id="rId4"/>
                </p:custDataLst>
              </p:nvPr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8" name="组合 4"/>
            <p:cNvGrpSpPr/>
            <p:nvPr/>
          </p:nvGrpSpPr>
          <p:grpSpPr bwMode="auto">
            <a:xfrm>
              <a:off x="937" y="1480"/>
              <a:ext cx="1589" cy="1588"/>
              <a:chOff x="3733576" y="3930057"/>
              <a:chExt cx="1801107" cy="1800150"/>
            </a:xfrm>
          </p:grpSpPr>
          <p:sp>
            <p:nvSpPr>
              <p:cNvPr id="39" name="椭圆 38"/>
              <p:cNvSpPr/>
              <p:nvPr>
                <p:custDataLst>
                  <p:tags r:id="rId5"/>
                </p:custDataLst>
              </p:nvPr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任意多边形 6"/>
              <p:cNvSpPr/>
              <p:nvPr>
                <p:custDataLst>
                  <p:tags r:id="rId6"/>
                </p:custDataLst>
              </p:nvPr>
            </p:nvSpPr>
            <p:spPr>
              <a:xfrm>
                <a:off x="3734264" y="3930057"/>
                <a:ext cx="1800419" cy="1800150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椭圆 7"/>
              <p:cNvSpPr/>
              <p:nvPr>
                <p:custDataLst>
                  <p:tags r:id="rId7"/>
                </p:custDataLst>
              </p:nvPr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4" name="Group 91"/>
          <p:cNvGrpSpPr/>
          <p:nvPr/>
        </p:nvGrpSpPr>
        <p:grpSpPr bwMode="auto">
          <a:xfrm>
            <a:off x="2400691" y="5004644"/>
            <a:ext cx="390552" cy="616758"/>
            <a:chOff x="937" y="1480"/>
            <a:chExt cx="1589" cy="2510"/>
          </a:xfrm>
        </p:grpSpPr>
        <p:grpSp>
          <p:nvGrpSpPr>
            <p:cNvPr id="15" name="组合 33"/>
            <p:cNvGrpSpPr/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16" name="椭圆 15"/>
              <p:cNvSpPr/>
              <p:nvPr>
                <p:custDataLst>
                  <p:tags r:id="rId8"/>
                </p:custDataLst>
              </p:nvPr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itchFamily="1" charset="-122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9"/>
                </p:custDataLst>
              </p:nvPr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" name="椭圆 1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itchFamily="1" charset="-122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1"/>
                </p:custDataLst>
              </p:nvPr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1" name="组合 4"/>
            <p:cNvGrpSpPr/>
            <p:nvPr/>
          </p:nvGrpSpPr>
          <p:grpSpPr bwMode="auto">
            <a:xfrm>
              <a:off x="937" y="1480"/>
              <a:ext cx="1589" cy="1588"/>
              <a:chOff x="3733576" y="3930057"/>
              <a:chExt cx="1801107" cy="1800150"/>
            </a:xfrm>
          </p:grpSpPr>
          <p:sp>
            <p:nvSpPr>
              <p:cNvPr id="22" name="椭圆 2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任意多边形 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34264" y="3930057"/>
                <a:ext cx="1800419" cy="1800150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椭圆 7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3" name="图片 2" descr="20261001-1457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0430" y="65405"/>
            <a:ext cx="3619500" cy="77152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ṡ1íḋe"/>
          <p:cNvSpPr/>
          <p:nvPr/>
        </p:nvSpPr>
        <p:spPr>
          <a:xfrm>
            <a:off x="9108" y="0"/>
            <a:ext cx="12173784" cy="342317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4" name="iš1íḍè"/>
          <p:cNvSpPr/>
          <p:nvPr/>
        </p:nvSpPr>
        <p:spPr>
          <a:xfrm>
            <a:off x="274736" y="451250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" name="iṡ1íḋe"/>
          <p:cNvSpPr/>
          <p:nvPr/>
        </p:nvSpPr>
        <p:spPr>
          <a:xfrm>
            <a:off x="481360" y="696817"/>
            <a:ext cx="11229278" cy="5464366"/>
          </a:xfrm>
          <a:prstGeom prst="rect">
            <a:avLst/>
          </a:prstGeom>
          <a:solidFill>
            <a:schemeClr val="bg1"/>
          </a:solidFill>
          <a:ln w="22225">
            <a:solidFill>
              <a:srgbClr val="0E419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45685" y="1557545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spc="600" dirty="0">
                <a:solidFill>
                  <a:schemeClr val="bg1">
                    <a:lumMod val="95000"/>
                  </a:schemeClr>
                </a:solidFill>
                <a:latin typeface="Perpetua Titling MT" panose="02020502060505020804" pitchFamily="18" charset="0"/>
                <a:cs typeface="+mn-ea"/>
              </a:rPr>
              <a:t>CONTENTS</a:t>
            </a:r>
            <a:endParaRPr lang="zh-CN" altLang="en-US" b="1" spc="600" dirty="0">
              <a:solidFill>
                <a:schemeClr val="bg1">
                  <a:lumMod val="95000"/>
                </a:schemeClr>
              </a:solidFill>
              <a:latin typeface="Perpetua Titling MT" panose="02020502060505020804" pitchFamily="18" charset="0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02779" y="873760"/>
            <a:ext cx="1986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500" dirty="0">
                <a:solidFill>
                  <a:srgbClr val="122E66"/>
                </a:solidFill>
                <a:latin typeface="+mn-ea"/>
                <a:cs typeface="+mn-ea"/>
              </a:rPr>
              <a:t>目录</a:t>
            </a:r>
            <a:endParaRPr lang="zh-CN" altLang="en-US" sz="4400" b="1" spc="2500" dirty="0">
              <a:solidFill>
                <a:srgbClr val="122E66"/>
              </a:solidFill>
              <a:latin typeface="+mn-ea"/>
              <a:cs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78322" y="2074644"/>
            <a:ext cx="3254563" cy="1084606"/>
            <a:chOff x="2377440" y="2130511"/>
            <a:chExt cx="2741369" cy="913580"/>
          </a:xfrm>
        </p:grpSpPr>
        <p:sp>
          <p:nvSpPr>
            <p:cNvPr id="7" name="矩形: 圆角 6"/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77440" y="2130511"/>
              <a:ext cx="6078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01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455897" y="2795680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Background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678321" y="3372841"/>
            <a:ext cx="3254563" cy="1084606"/>
            <a:chOff x="2377440" y="2130511"/>
            <a:chExt cx="2741369" cy="913580"/>
          </a:xfrm>
        </p:grpSpPr>
        <p:sp>
          <p:nvSpPr>
            <p:cNvPr id="31" name="矩形: 圆角 30"/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377440" y="2130511"/>
              <a:ext cx="570069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03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</p:grpSp>
      <p:sp>
        <p:nvSpPr>
          <p:cNvPr id="27" name="文本框 23"/>
          <p:cNvSpPr txBox="1"/>
          <p:nvPr/>
        </p:nvSpPr>
        <p:spPr>
          <a:xfrm>
            <a:off x="2532252" y="4136776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Contents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915255" y="2042377"/>
            <a:ext cx="3254563" cy="1084606"/>
            <a:chOff x="2377440" y="2130511"/>
            <a:chExt cx="2741369" cy="913580"/>
          </a:xfrm>
        </p:grpSpPr>
        <p:sp>
          <p:nvSpPr>
            <p:cNvPr id="36" name="矩形: 圆角 35"/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377440" y="2130511"/>
              <a:ext cx="55926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02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915255" y="3366917"/>
            <a:ext cx="3254563" cy="1084606"/>
            <a:chOff x="2377440" y="2130511"/>
            <a:chExt cx="2741369" cy="913580"/>
          </a:xfrm>
        </p:grpSpPr>
        <p:sp>
          <p:nvSpPr>
            <p:cNvPr id="40" name="矩形: 圆角 39"/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377440" y="2130511"/>
              <a:ext cx="55791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04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</p:grpSp>
      <p:sp>
        <p:nvSpPr>
          <p:cNvPr id="26" name="文本框 18"/>
          <p:cNvSpPr txBox="1"/>
          <p:nvPr/>
        </p:nvSpPr>
        <p:spPr>
          <a:xfrm>
            <a:off x="8016883" y="2752607"/>
            <a:ext cx="23241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route</a:t>
            </a:r>
            <a:endParaRPr lang="en-US" altLang="zh-CN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8"/>
          <p:cNvSpPr txBox="1"/>
          <p:nvPr/>
        </p:nvSpPr>
        <p:spPr>
          <a:xfrm>
            <a:off x="7854549" y="4138240"/>
            <a:ext cx="23241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results</a:t>
            </a:r>
            <a:endParaRPr lang="en-US" altLang="zh-CN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: 圆角 39"/>
          <p:cNvSpPr/>
          <p:nvPr>
            <p:custDataLst>
              <p:tags r:id="rId1"/>
            </p:custDataLst>
          </p:nvPr>
        </p:nvSpPr>
        <p:spPr>
          <a:xfrm>
            <a:off x="1658725" y="5045636"/>
            <a:ext cx="3254563" cy="767327"/>
          </a:xfrm>
          <a:prstGeom prst="roundRect">
            <a:avLst>
              <a:gd name="adj" fmla="val 356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8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658725" y="4728357"/>
            <a:ext cx="673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rPr>
              <a:t>05</a:t>
            </a:r>
            <a:endParaRPr lang="zh-CN" altLang="en-US" sz="3600" dirty="0">
              <a:solidFill>
                <a:srgbClr val="0E419C">
                  <a:alpha val="62000"/>
                </a:srgbClr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824480" y="5154295"/>
            <a:ext cx="117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>
                <a:sym typeface="+mn-ea"/>
              </a:rPr>
              <a:t>研究结论</a:t>
            </a:r>
            <a:endParaRPr lang="zh-CN" altLang="en-US" b="1" spc="300" dirty="0">
              <a:latin typeface="+mn-ea"/>
              <a:cs typeface="+mn-ea"/>
            </a:endParaRPr>
          </a:p>
        </p:txBody>
      </p:sp>
      <p:sp>
        <p:nvSpPr>
          <p:cNvPr id="13" name="文本框 23"/>
          <p:cNvSpPr txBox="1"/>
          <p:nvPr>
            <p:custDataLst>
              <p:tags r:id="rId4"/>
            </p:custDataLst>
          </p:nvPr>
        </p:nvSpPr>
        <p:spPr>
          <a:xfrm>
            <a:off x="2560827" y="5496946"/>
            <a:ext cx="23241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Research Findings</a:t>
            </a:r>
            <a:endParaRPr lang="en-US" altLang="zh-CN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2792095" y="2465070"/>
            <a:ext cx="1287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>
                <a:solidFill>
                  <a:schemeClr val="tx1"/>
                </a:solidFill>
              </a:rPr>
              <a:t>研究背景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8041640" y="2427605"/>
            <a:ext cx="124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/>
              <a:t>技术路线</a:t>
            </a:r>
            <a:endParaRPr lang="zh-CN" altLang="en-US" b="1"/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2824480" y="3761740"/>
            <a:ext cx="1187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/>
              <a:t>研究过程</a:t>
            </a:r>
            <a:endParaRPr lang="zh-CN" altLang="en-US" b="1"/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8086090" y="3761740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/>
              <a:t>研究结果</a:t>
            </a:r>
            <a:endParaRPr lang="zh-CN" altLang="en-US" b="1"/>
          </a:p>
        </p:txBody>
      </p:sp>
      <p:grpSp>
        <p:nvGrpSpPr>
          <p:cNvPr id="21" name="组合 20"/>
          <p:cNvGrpSpPr/>
          <p:nvPr/>
        </p:nvGrpSpPr>
        <p:grpSpPr>
          <a:xfrm>
            <a:off x="6947535" y="4719955"/>
            <a:ext cx="3254668" cy="1084753"/>
            <a:chOff x="4563" y="7646"/>
            <a:chExt cx="5125" cy="1708"/>
          </a:xfrm>
        </p:grpSpPr>
        <p:sp>
          <p:nvSpPr>
            <p:cNvPr id="9" name="矩形: 圆角 39"/>
            <p:cNvSpPr/>
            <p:nvPr>
              <p:custDataLst>
                <p:tags r:id="rId9"/>
              </p:custDataLst>
            </p:nvPr>
          </p:nvSpPr>
          <p:spPr>
            <a:xfrm>
              <a:off x="4563" y="8146"/>
              <a:ext cx="5125" cy="1208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0"/>
              </p:custDataLst>
            </p:nvPr>
          </p:nvSpPr>
          <p:spPr>
            <a:xfrm>
              <a:off x="4563" y="7646"/>
              <a:ext cx="1064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06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20" name="文本框 23"/>
            <p:cNvSpPr txBox="1"/>
            <p:nvPr>
              <p:custDataLst>
                <p:tags r:id="rId11"/>
              </p:custDataLst>
            </p:nvPr>
          </p:nvSpPr>
          <p:spPr>
            <a:xfrm>
              <a:off x="5984" y="8857"/>
              <a:ext cx="36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i="1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8064500" y="5149215"/>
            <a:ext cx="1445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感悟及致谢</a:t>
            </a:r>
            <a:endParaRPr lang="zh-CN" altLang="en-US" b="1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635"/>
            <a:ext cx="2244725" cy="685863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177228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技术路线</a:t>
            </a:r>
            <a:endParaRPr lang="zh-CN" altLang="en-US" sz="2400" b="1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51" name="组合 50"/>
          <p:cNvGrpSpPr/>
          <p:nvPr/>
        </p:nvGrpSpPr>
        <p:grpSpPr>
          <a:xfrm>
            <a:off x="2641600" y="159485"/>
            <a:ext cx="4454525" cy="479325"/>
            <a:chOff x="4160" y="245"/>
            <a:chExt cx="7015" cy="916"/>
          </a:xfrm>
        </p:grpSpPr>
        <p:sp>
          <p:nvSpPr>
            <p:cNvPr id="52" name="同侧圆角矩形 5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>
              <p:custDataLst>
                <p:tags r:id="rId7"/>
              </p:custDataLst>
            </p:nvPr>
          </p:nvSpPr>
          <p:spPr>
            <a:xfrm>
              <a:off x="4775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1.1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</a:rPr>
                <a:t>立论依据</a:t>
              </a:r>
              <a:endParaRPr lang="en-US" altLang="zh-CN" sz="2400" b="1" spc="209">
                <a:solidFill>
                  <a:schemeClr val="tx1"/>
                </a:solidFill>
                <a:uFillTx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47010" y="3458845"/>
            <a:ext cx="12423140" cy="504190"/>
            <a:chOff x="368" y="5031"/>
            <a:chExt cx="19564" cy="794"/>
          </a:xfrm>
        </p:grpSpPr>
        <p:sp>
          <p:nvSpPr>
            <p:cNvPr id="55" name="文本框 54"/>
            <p:cNvSpPr txBox="1"/>
            <p:nvPr>
              <p:custDataLst>
                <p:tags r:id="rId8"/>
              </p:custDataLst>
            </p:nvPr>
          </p:nvSpPr>
          <p:spPr>
            <a:xfrm>
              <a:off x="368" y="5031"/>
              <a:ext cx="19564" cy="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60000"/>
                      <a:lumOff val="40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lstStyle/>
            <a:p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lang="en-US" altLang="zh-CN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OSF 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癌变率高达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 7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%～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30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%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，近年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全国蔓延趋势飞升，是严重的社会公共卫生问题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五角星 56"/>
            <p:cNvSpPr/>
            <p:nvPr>
              <p:custDataLst>
                <p:tags r:id="rId9"/>
              </p:custDataLst>
            </p:nvPr>
          </p:nvSpPr>
          <p:spPr>
            <a:xfrm>
              <a:off x="470" y="5129"/>
              <a:ext cx="370" cy="369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 rot="0">
            <a:off x="2414270" y="1153160"/>
            <a:ext cx="10072370" cy="1965960"/>
            <a:chOff x="3649" y="1094"/>
            <a:chExt cx="15862" cy="3096"/>
          </a:xfrm>
        </p:grpSpPr>
        <p:sp>
          <p:nvSpPr>
            <p:cNvPr id="62" name="下箭头 61"/>
            <p:cNvSpPr/>
            <p:nvPr>
              <p:custDataLst>
                <p:tags r:id="rId10"/>
              </p:custDataLst>
            </p:nvPr>
          </p:nvSpPr>
          <p:spPr>
            <a:xfrm rot="16200000">
              <a:off x="8237" y="1938"/>
              <a:ext cx="436" cy="1371"/>
            </a:xfrm>
            <a:prstGeom prst="downArrow">
              <a:avLst/>
            </a:prstGeom>
            <a:noFill/>
            <a:ln w="28575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7000">
                    <a:srgbClr val="8A98B4">
                      <a:alpha val="100000"/>
                    </a:srgbClr>
                  </a:gs>
                  <a:gs pos="100000">
                    <a:schemeClr val="accent1">
                      <a:lumMod val="50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3649" y="1094"/>
              <a:ext cx="15862" cy="3096"/>
              <a:chOff x="3615" y="1094"/>
              <a:chExt cx="15862" cy="3096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3615" y="1094"/>
                <a:ext cx="15862" cy="3096"/>
                <a:chOff x="3615" y="1094"/>
                <a:chExt cx="15862" cy="3096"/>
              </a:xfrm>
            </p:grpSpPr>
            <p:grpSp>
              <p:nvGrpSpPr>
                <p:cNvPr id="65" name="组合 64"/>
                <p:cNvGrpSpPr/>
                <p:nvPr/>
              </p:nvGrpSpPr>
              <p:grpSpPr>
                <a:xfrm>
                  <a:off x="3615" y="1094"/>
                  <a:ext cx="15862" cy="3096"/>
                  <a:chOff x="263" y="873"/>
                  <a:chExt cx="19162" cy="4143"/>
                </a:xfrm>
              </p:grpSpPr>
              <p:sp>
                <p:nvSpPr>
                  <p:cNvPr id="66" name="圆角矩形 65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1779" y="1404"/>
                    <a:ext cx="2836" cy="3095"/>
                  </a:xfrm>
                  <a:prstGeom prst="roundRect">
                    <a:avLst/>
                  </a:prstGeom>
                  <a:ln w="38100" cmpd="sng">
                    <a:solidFill>
                      <a:schemeClr val="accent1">
                        <a:shade val="50000"/>
                        <a:alpha val="80000"/>
                      </a:schemeClr>
                    </a:solidFill>
                    <a:prstDash val="lg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 sz="1200">
                      <a:sym typeface="+mn-ea"/>
                    </a:endParaRPr>
                  </a:p>
                </p:txBody>
              </p:sp>
              <p:sp>
                <p:nvSpPr>
                  <p:cNvPr id="67" name="圆角矩形 66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528" y="873"/>
                    <a:ext cx="4595" cy="4143"/>
                  </a:xfrm>
                  <a:prstGeom prst="roundRect">
                    <a:avLst/>
                  </a:prstGeom>
                  <a:noFill/>
                  <a:ln w="38100" cmpd="sng">
                    <a:solidFill>
                      <a:schemeClr val="accent1">
                        <a:lumMod val="75000"/>
                        <a:alpha val="80000"/>
                      </a:schemeClr>
                    </a:solidFill>
                    <a:prstDash val="lg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/>
                  </a:p>
                </p:txBody>
              </p:sp>
              <p:sp>
                <p:nvSpPr>
                  <p:cNvPr id="68" name="文本框 67"/>
                  <p:cNvSpPr txBox="1"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263" y="3742"/>
                    <a:ext cx="5046" cy="11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:r>
                      <a:rPr lang="zh-CN" altLang="en-US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口腔黏膜下纤维化</a:t>
                    </a:r>
                    <a:endParaRPr lang="zh-CN" altLang="en-US" b="1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  <a:p>
                    <a:pPr algn="ctr"/>
                    <a:r>
                      <a:rPr lang="zh-CN" altLang="en-US" sz="900" b="1">
                        <a:solidFill>
                          <a:srgbClr val="FF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（</a:t>
                    </a:r>
                    <a:r>
                      <a:rPr lang="en-US" altLang="zh-CN" sz="900" b="1">
                        <a:solidFill>
                          <a:srgbClr val="FF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Oral submucous fibrosis，OSF)</a:t>
                    </a:r>
                    <a:endParaRPr lang="en-US" altLang="zh-CN" sz="900" b="1">
                      <a:solidFill>
                        <a:srgbClr val="FF0000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69" name="圆角矩形 68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7126" y="1428"/>
                    <a:ext cx="3310" cy="3072"/>
                  </a:xfrm>
                  <a:prstGeom prst="roundRect">
                    <a:avLst>
                      <a:gd name="adj" fmla="val 24776"/>
                    </a:avLst>
                  </a:prstGeom>
                  <a:solidFill>
                    <a:schemeClr val="lt1"/>
                  </a:solidFill>
                  <a:ln w="38100" cmpd="sng">
                    <a:solidFill>
                      <a:schemeClr val="accent1">
                        <a:shade val="50000"/>
                        <a:alpha val="80000"/>
                      </a:schemeClr>
                    </a:solidFill>
                    <a:prstDash val="lg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 sz="1200">
                      <a:sym typeface="+mn-ea"/>
                    </a:endParaRPr>
                  </a:p>
                </p:txBody>
              </p:sp>
              <p:sp>
                <p:nvSpPr>
                  <p:cNvPr id="70" name="文本框 69"/>
                  <p:cNvSpPr txBox="1"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7800" y="1653"/>
                    <a:ext cx="1922" cy="6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77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发病机制</a:t>
                    </a:r>
                    <a:endPara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71" name="文本框 70"/>
                  <p:cNvSpPr txBox="1"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12230" y="1707"/>
                    <a:ext cx="1905" cy="6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74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症状特点</a:t>
                    </a:r>
                    <a:endPara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72" name="文本框 71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1886" y="2263"/>
                    <a:ext cx="3325" cy="2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285750" indent="-285750" algn="l" fontAlgn="auto">
                      <a:lnSpc>
                        <a:spcPct val="140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口腔灼痛感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 fontAlgn="auto">
                      <a:lnSpc>
                        <a:spcPct val="140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开口困难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 fontAlgn="auto">
                      <a:lnSpc>
                        <a:spcPct val="140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进展性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73" name="圆角矩形 72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5763" y="1399"/>
                    <a:ext cx="2646" cy="3100"/>
                  </a:xfrm>
                  <a:prstGeom prst="roundRect">
                    <a:avLst>
                      <a:gd name="adj" fmla="val 15883"/>
                    </a:avLst>
                  </a:prstGeom>
                  <a:ln w="38100" cmpd="sng">
                    <a:solidFill>
                      <a:schemeClr val="accent1">
                        <a:shade val="50000"/>
                        <a:alpha val="80000"/>
                      </a:schemeClr>
                    </a:solidFill>
                    <a:prstDash val="lg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 sz="1200">
                      <a:sym typeface="+mn-ea"/>
                    </a:endParaRPr>
                  </a:p>
                </p:txBody>
              </p:sp>
              <p:sp>
                <p:nvSpPr>
                  <p:cNvPr id="74" name="文本框 73"/>
                  <p:cNvSpPr txBox="1"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16200" y="1711"/>
                    <a:ext cx="1790" cy="64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79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疾病特点</a:t>
                    </a:r>
                    <a:endPara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75" name="文本框 74"/>
                  <p:cNvSpPr txBox="1"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5260" y="2150"/>
                    <a:ext cx="2396" cy="58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 marL="0" indent="0" algn="l">
                      <a:buFont typeface="Wingdings" panose="05000000000000000000" charset="0"/>
                      <a:buNone/>
                    </a:pPr>
                    <a:r>
                      <a:rPr lang="zh-CN" altLang="en-US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咀嚼槟榔</a:t>
                    </a:r>
                    <a:endParaRPr lang="zh-CN" altLang="en-US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76" name="文本框 75"/>
                  <p:cNvSpPr txBox="1"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16100" y="2313"/>
                    <a:ext cx="3325" cy="17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285750" indent="-285750" algn="l" latinLnBrk="0">
                      <a:lnSpc>
                        <a:spcPct val="139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难治疗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285750" indent="-285750" algn="l" latinLnBrk="0">
                      <a:lnSpc>
                        <a:spcPct val="139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易复发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285750" indent="-285750" algn="l" latinLnBrk="0">
                      <a:lnSpc>
                        <a:spcPct val="139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易癌变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285750" indent="-285750" algn="l">
                      <a:lnSpc>
                        <a:spcPct val="139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 latinLnBrk="0">
                      <a:lnSpc>
                        <a:spcPct val="139000"/>
                      </a:lnSpc>
                      <a:buClrTx/>
                      <a:buSzTx/>
                      <a:buFont typeface="Wingdings" panose="05000000000000000000" charset="0"/>
                      <a:buChar char="Ø"/>
                    </a:pP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77" name="文本框 76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7247" y="2283"/>
                    <a:ext cx="3734" cy="15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285750" indent="-285750" algn="l" latinLnBrk="0">
                      <a:lnSpc>
                        <a:spcPct val="139000"/>
                      </a:lnSpc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上皮</a:t>
                    </a:r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-</a:t>
                    </a: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间质转化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 latinLnBrk="0">
                      <a:lnSpc>
                        <a:spcPct val="139000"/>
                      </a:lnSpc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氧化应激异常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 latinLnBrk="0">
                      <a:lnSpc>
                        <a:spcPct val="139000"/>
                      </a:lnSpc>
                      <a:buFont typeface="Wingdings" panose="05000000000000000000" charset="0"/>
                      <a:buChar char="Ø"/>
                    </a:pPr>
                    <a:r>
                      <a: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胶原堆积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  <a:p>
                    <a:pPr marL="285750" indent="-285750" algn="l">
                      <a:lnSpc>
                        <a:spcPct val="139000"/>
                      </a:lnSpc>
                      <a:buFont typeface="Wingdings" panose="05000000000000000000" charset="0"/>
                      <a:buChar char="Ø"/>
                    </a:pP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sp>
              <p:nvSpPr>
                <p:cNvPr id="78" name="下箭头 77"/>
                <p:cNvSpPr/>
                <p:nvPr>
                  <p:custDataLst>
                    <p:tags r:id="rId23"/>
                  </p:custDataLst>
                </p:nvPr>
              </p:nvSpPr>
              <p:spPr>
                <a:xfrm rot="16200000">
                  <a:off x="12392" y="2158"/>
                  <a:ext cx="435" cy="835"/>
                </a:xfrm>
                <a:prstGeom prst="downArrow">
                  <a:avLst/>
                </a:prstGeom>
                <a:noFill/>
                <a:ln w="28575" cap="flat" cmpd="sng" algn="ctr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37000">
                        <a:srgbClr val="8A98B4">
                          <a:alpha val="100000"/>
                        </a:srgbClr>
                      </a:gs>
                      <a:gs pos="100000">
                        <a:schemeClr val="accent1">
                          <a:lumMod val="50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en-US" sz="1800" b="0" i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79" name="下箭头 78"/>
              <p:cNvSpPr/>
              <p:nvPr>
                <p:custDataLst>
                  <p:tags r:id="rId24"/>
                </p:custDataLst>
              </p:nvPr>
            </p:nvSpPr>
            <p:spPr>
              <a:xfrm rot="16200000">
                <a:off x="15750" y="2209"/>
                <a:ext cx="432" cy="835"/>
              </a:xfrm>
              <a:prstGeom prst="downArrow">
                <a:avLst/>
              </a:prstGeom>
              <a:noFill/>
              <a:ln w="28575" cap="flat" cmpd="sng" algn="ctr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7000">
                      <a:srgbClr val="8A98B4">
                        <a:alpha val="100000"/>
                      </a:srgb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 rot="0">
            <a:off x="3261360" y="4427220"/>
            <a:ext cx="7806055" cy="1978660"/>
            <a:chOff x="4745" y="5689"/>
            <a:chExt cx="12293" cy="3116"/>
          </a:xfrm>
        </p:grpSpPr>
        <p:sp>
          <p:nvSpPr>
            <p:cNvPr id="83" name="矩形 82"/>
            <p:cNvSpPr/>
            <p:nvPr>
              <p:custDataLst>
                <p:tags r:id="rId25"/>
              </p:custDataLst>
            </p:nvPr>
          </p:nvSpPr>
          <p:spPr>
            <a:xfrm>
              <a:off x="4752" y="5695"/>
              <a:ext cx="12287" cy="3111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4745" y="5689"/>
              <a:ext cx="12274" cy="2732"/>
              <a:chOff x="4745" y="5689"/>
              <a:chExt cx="12274" cy="2732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4745" y="5689"/>
                <a:ext cx="12274" cy="2732"/>
                <a:chOff x="2610" y="7160"/>
                <a:chExt cx="12274" cy="2732"/>
              </a:xfrm>
            </p:grpSpPr>
            <p:sp>
              <p:nvSpPr>
                <p:cNvPr id="86" name="文本框 85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4901" y="8062"/>
                  <a:ext cx="2541" cy="1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局部注射地塞米松</a:t>
                  </a:r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r>
                    <a: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仅能缓解</a:t>
                  </a:r>
                  <a:r>
                    <a:rPr lang="zh-CN" altLang="en-US" sz="1400" b="1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早期</a:t>
                  </a:r>
                  <a:r>
                    <a: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症状</a:t>
                  </a:r>
                  <a:endParaRPr lang="zh-CN" altLang="en-US" sz="1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7" name="文本框 86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2048" y="8062"/>
                  <a:ext cx="2351" cy="1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zh-CN" altLang="en-US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曲安奈德</a:t>
                  </a: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>
                    <a:lnSpc>
                      <a:spcPct val="110000"/>
                    </a:lnSpc>
                  </a:pP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>
                    <a:lnSpc>
                      <a:spcPct val="110000"/>
                    </a:lnSpc>
                  </a:pP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 algn="ctr">
                    <a:lnSpc>
                      <a:spcPct val="110000"/>
                    </a:lnSpc>
                  </a:pPr>
                  <a:r>
                    <a: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血压升高、肥胖等</a:t>
                  </a:r>
                  <a:r>
                    <a:rPr lang="zh-CN" altLang="en-US" sz="1400" b="1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不良反应</a:t>
                  </a:r>
                  <a:endParaRPr lang="zh-CN" altLang="en-US" sz="14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8" name="文本框 87"/>
                <p:cNvSpPr txBox="1"/>
                <p:nvPr>
                  <p:custDataLst>
                    <p:tags r:id="rId28"/>
                  </p:custDataLst>
                </p:nvPr>
              </p:nvSpPr>
              <p:spPr>
                <a:xfrm>
                  <a:off x="8501" y="8044"/>
                  <a:ext cx="2701" cy="1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已酮可可碱</a:t>
                  </a:r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>
                    <a:lnSpc>
                      <a:spcPct val="110000"/>
                    </a:lnSpc>
                  </a:pPr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>
                    <a:lnSpc>
                      <a:spcPct val="110000"/>
                    </a:lnSpc>
                  </a:pPr>
                  <a:endParaRPr lang="en-US" altLang="zh-CN" sz="14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胃肠道刺激</a:t>
                  </a:r>
                  <a:r>
                    <a:rPr lang="zh-CN" altLang="en-US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、</a:t>
                  </a:r>
                  <a:r>
                    <a:rPr lang="en-US" altLang="zh-CN" sz="14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恶心等</a:t>
                  </a:r>
                  <a:r>
                    <a:rPr lang="en-US" altLang="zh-CN" sz="1400" b="1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不良反应</a:t>
                  </a:r>
                  <a:endParaRPr lang="en-US" altLang="zh-CN" sz="14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2610" y="7160"/>
                  <a:ext cx="12274" cy="580"/>
                </a:xfrm>
                <a:prstGeom prst="rect">
                  <a:avLst/>
                </a:prstGeom>
                <a:solidFill>
                  <a:srgbClr val="306597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l">
                    <a:buClrTx/>
                    <a:buSzTx/>
                    <a:buFontTx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  目前主流治疗药物</a:t>
                  </a:r>
                  <a:r>
                    <a:rPr lang="en-US" altLang="zh-CN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作用单一</a:t>
                  </a:r>
                  <a:r>
                    <a:rPr lang="zh-CN" altLang="en-US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，</a:t>
                  </a:r>
                  <a:r>
                    <a:rPr lang="en-US" altLang="zh-CN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疗效有限，</a:t>
                  </a:r>
                  <a:r>
                    <a:rPr lang="zh-CN" altLang="en-US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亟待发现改善</a:t>
                  </a:r>
                  <a:r>
                    <a:rPr lang="en-US" altLang="zh-CN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OSF</a:t>
                  </a:r>
                  <a:r>
                    <a:rPr lang="zh-CN" altLang="en-US" b="1">
                      <a:solidFill>
                        <a:schemeClr val="bg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的高效药物</a:t>
                  </a:r>
                  <a:endParaRPr lang="zh-CN" altLang="en-US" b="1">
                    <a:solidFill>
                      <a:schemeClr val="bg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91" name="右箭头 90"/>
              <p:cNvSpPr/>
              <p:nvPr>
                <p:custDataLst>
                  <p:tags r:id="rId30"/>
                </p:custDataLst>
              </p:nvPr>
            </p:nvSpPr>
            <p:spPr>
              <a:xfrm rot="5400000">
                <a:off x="8023" y="7359"/>
                <a:ext cx="433" cy="243"/>
              </a:xfrm>
              <a:prstGeom prst="rightArrow">
                <a:avLst/>
              </a:prstGeom>
              <a:solidFill>
                <a:srgbClr val="D46B70"/>
              </a:solidFill>
              <a:ln>
                <a:solidFill>
                  <a:srgbClr val="D265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右箭头 91"/>
              <p:cNvSpPr/>
              <p:nvPr>
                <p:custDataLst>
                  <p:tags r:id="rId31"/>
                </p:custDataLst>
              </p:nvPr>
            </p:nvSpPr>
            <p:spPr>
              <a:xfrm rot="5400000">
                <a:off x="11785" y="7299"/>
                <a:ext cx="433" cy="243"/>
              </a:xfrm>
              <a:prstGeom prst="rightArrow">
                <a:avLst/>
              </a:prstGeom>
              <a:solidFill>
                <a:srgbClr val="D46B70"/>
              </a:solidFill>
              <a:ln>
                <a:solidFill>
                  <a:srgbClr val="D265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右箭头 92"/>
              <p:cNvSpPr/>
              <p:nvPr>
                <p:custDataLst>
                  <p:tags r:id="rId32"/>
                </p:custDataLst>
              </p:nvPr>
            </p:nvSpPr>
            <p:spPr>
              <a:xfrm rot="5400000">
                <a:off x="15169" y="7299"/>
                <a:ext cx="433" cy="243"/>
              </a:xfrm>
              <a:prstGeom prst="rightArrow">
                <a:avLst/>
              </a:prstGeom>
              <a:solidFill>
                <a:srgbClr val="D46B70"/>
              </a:solidFill>
              <a:ln>
                <a:solidFill>
                  <a:srgbClr val="D265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2" name="图片 1" descr="20261001-14574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61705" y="6350"/>
            <a:ext cx="3619500" cy="771525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9676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177228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技术路线</a:t>
            </a:r>
            <a:endParaRPr lang="zh-CN" altLang="en-US" sz="2400" b="1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641600" y="159485"/>
            <a:ext cx="4454525" cy="479325"/>
            <a:chOff x="4160" y="245"/>
            <a:chExt cx="7015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775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1.1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</a:rPr>
                <a:t>立论依据</a:t>
              </a:r>
              <a:endParaRPr lang="en-US" altLang="zh-CN" sz="2400" b="1" spc="209">
                <a:solidFill>
                  <a:schemeClr val="tx1"/>
                </a:solidFill>
                <a:uFillTx/>
              </a:endParaRPr>
            </a:p>
          </p:txBody>
        </p:sp>
      </p:grp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3629660" y="758825"/>
            <a:ext cx="63950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铁死亡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(Ferroptosis)</a:t>
            </a:r>
            <a:endParaRPr lang="zh-CN" altLang="en-US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65880" y="2049145"/>
            <a:ext cx="6423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本文发现____，解决了____领域关于____的争议 / 空白 / 未知。</a:t>
            </a:r>
            <a:endParaRPr lang="zh-CN" altLang="en-US"/>
          </a:p>
        </p:txBody>
      </p:sp>
      <p:pic>
        <p:nvPicPr>
          <p:cNvPr id="12" name="图片 11" descr="20261001-1457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3135" y="6350"/>
            <a:ext cx="3619500" cy="771525"/>
          </a:xfrm>
          <a:prstGeom prst="rect">
            <a:avLst/>
          </a:prstGeom>
        </p:spPr>
      </p:pic>
      <p:pic>
        <p:nvPicPr>
          <p:cNvPr id="14" name="图片 13" descr="changsha_stomatological_hospital_transparen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0780" y="3965575"/>
            <a:ext cx="3858260" cy="8223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635"/>
            <a:ext cx="2244725" cy="685863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177228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技术路线</a:t>
            </a:r>
            <a:endParaRPr lang="zh-CN" altLang="en-US" sz="2400" b="1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641600" y="159485"/>
            <a:ext cx="4997450" cy="479325"/>
            <a:chOff x="4160" y="245"/>
            <a:chExt cx="7870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775" y="245"/>
              <a:ext cx="7255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1.2</a:t>
              </a:r>
              <a:r>
                <a:rPr lang="en-US" altLang="zh-CN" sz="2400" b="1" spc="209">
                  <a:uFillTx/>
                  <a:sym typeface="+mn-ea"/>
                </a:rPr>
                <a:t>   </a:t>
              </a:r>
              <a:r>
                <a:rPr lang="zh-CN" altLang="en-US" sz="2400" b="1" spc="209">
                  <a:uFillTx/>
                  <a:sym typeface="+mn-ea"/>
                </a:rPr>
                <a:t>网络药理学及分子对接</a:t>
              </a:r>
              <a:endParaRPr lang="en-US" altLang="zh-CN" sz="2400" b="1" spc="209">
                <a:solidFill>
                  <a:schemeClr val="tx1"/>
                </a:solidFill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783840" y="1322070"/>
            <a:ext cx="9676765" cy="4859655"/>
            <a:chOff x="3998" y="1565"/>
            <a:chExt cx="15605" cy="8170"/>
          </a:xfrm>
        </p:grpSpPr>
        <p:grpSp>
          <p:nvGrpSpPr>
            <p:cNvPr id="18" name="组合 17"/>
            <p:cNvGrpSpPr/>
            <p:nvPr/>
          </p:nvGrpSpPr>
          <p:grpSpPr>
            <a:xfrm>
              <a:off x="3998" y="1565"/>
              <a:ext cx="15605" cy="8170"/>
              <a:chOff x="3998" y="970"/>
              <a:chExt cx="15605" cy="8170"/>
            </a:xfrm>
          </p:grpSpPr>
          <p:sp>
            <p:nvSpPr>
              <p:cNvPr id="23" name="文本框 2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825" y="8549"/>
                <a:ext cx="3778" cy="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1200" b="1">
                    <a:latin typeface="Times New Roman" panose="02020603050405020304" charset="0"/>
                    <a:ea typeface="微软雅黑" panose="020B0503020204020204" charset="-122"/>
                    <a:cs typeface="微软雅黑" panose="020B0503020204020204" charset="-122"/>
                  </a:rPr>
                  <a:t>图5 分子对接</a:t>
                </a:r>
                <a:endParaRPr lang="en-US" sz="1200" b="1"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3998" y="970"/>
                <a:ext cx="14435" cy="8170"/>
                <a:chOff x="3998" y="970"/>
                <a:chExt cx="14435" cy="8170"/>
              </a:xfrm>
            </p:grpSpPr>
            <p:grpSp>
              <p:nvGrpSpPr>
                <p:cNvPr id="60" name="组合 59"/>
                <p:cNvGrpSpPr/>
                <p:nvPr/>
              </p:nvGrpSpPr>
              <p:grpSpPr>
                <a:xfrm>
                  <a:off x="11288" y="2168"/>
                  <a:ext cx="7145" cy="6972"/>
                  <a:chOff x="11288" y="2532"/>
                  <a:chExt cx="6036" cy="6972"/>
                </a:xfrm>
              </p:grpSpPr>
              <p:sp>
                <p:nvSpPr>
                  <p:cNvPr id="55" name="文本框 54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14606" y="6953"/>
                    <a:ext cx="1323" cy="26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indent="0"/>
                    <a:r>
                      <a:rPr lang="en-US" sz="600" b="1">
                        <a:latin typeface="Times New Roman" panose="02020603050405020304" charset="0"/>
                        <a:ea typeface="微软雅黑" panose="020B0503020204020204" charset="-122"/>
                      </a:rPr>
                      <a:t>GPX4-Ginsenoside Re   </a:t>
                    </a:r>
                    <a:endParaRPr lang="en-US" altLang="en-US" sz="600" b="1">
                      <a:latin typeface="Times New Roman" panose="02020603050405020304" charset="0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79" name="圆角矩形 78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11288" y="2532"/>
                    <a:ext cx="3018" cy="3486"/>
                  </a:xfrm>
                  <a:prstGeom prst="roundRect">
                    <a:avLst/>
                  </a:prstGeom>
                  <a:noFill/>
                  <a:ln w="41275" cmpd="sng">
                    <a:solidFill>
                      <a:srgbClr val="044875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80" name="文本框 79"/>
                  <p:cNvSpPr txBox="1"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1655" y="5401"/>
                    <a:ext cx="2284" cy="46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indent="0"/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图2 </a:t>
                    </a:r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GO 功能富集分析</a:t>
                    </a:r>
                    <a:endParaRPr lang="en-US" sz="1200" b="1">
                      <a:latin typeface="Times New Roman" panose="02020603050405020304" charset="0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81" name="文本框 80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14636" y="5401"/>
                    <a:ext cx="2688" cy="46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indent="0"/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图3 KEGG 通路富集分析</a:t>
                    </a:r>
                    <a:endParaRPr lang="en-US" sz="1200" b="1">
                      <a:latin typeface="Times New Roman" panose="02020603050405020304" charset="0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82" name="文本框 81"/>
                  <p:cNvSpPr txBox="1"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11655" y="8869"/>
                    <a:ext cx="2729" cy="46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indent="0"/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图4 关键靶点</a:t>
                    </a:r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PPI</a:t>
                    </a:r>
                    <a:r>
                      <a:rPr lang="en-US" sz="1200" b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网络</a:t>
                    </a:r>
                    <a:endParaRPr lang="en-US" sz="1200" b="1">
                      <a:latin typeface="Times New Roman" panose="02020603050405020304" charset="0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sp>
                <p:nvSpPr>
                  <p:cNvPr id="83" name="圆角矩形 82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11288" y="6014"/>
                    <a:ext cx="3018" cy="3486"/>
                  </a:xfrm>
                  <a:prstGeom prst="roundRect">
                    <a:avLst/>
                  </a:prstGeom>
                  <a:noFill/>
                  <a:ln w="41275" cmpd="sng">
                    <a:solidFill>
                      <a:srgbClr val="044875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84" name="圆角矩形 83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14306" y="2532"/>
                    <a:ext cx="3018" cy="3486"/>
                  </a:xfrm>
                  <a:prstGeom prst="roundRect">
                    <a:avLst/>
                  </a:prstGeom>
                  <a:noFill/>
                  <a:ln w="41275" cmpd="sng">
                    <a:solidFill>
                      <a:srgbClr val="044875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85" name="圆角矩形 84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14306" y="6018"/>
                    <a:ext cx="3018" cy="3486"/>
                  </a:xfrm>
                  <a:prstGeom prst="roundRect">
                    <a:avLst/>
                  </a:prstGeom>
                  <a:noFill/>
                  <a:ln w="41275" cmpd="sng">
                    <a:solidFill>
                      <a:srgbClr val="044875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86" name="组合 85"/>
                <p:cNvGrpSpPr/>
                <p:nvPr/>
              </p:nvGrpSpPr>
              <p:grpSpPr>
                <a:xfrm>
                  <a:off x="3998" y="970"/>
                  <a:ext cx="13385" cy="7914"/>
                  <a:chOff x="3998" y="970"/>
                  <a:chExt cx="13385" cy="7914"/>
                </a:xfrm>
              </p:grpSpPr>
              <p:sp>
                <p:nvSpPr>
                  <p:cNvPr id="87" name="文本框 86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5137" y="970"/>
                    <a:ext cx="12246" cy="61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 algn="l"/>
                    <a:r>
                      <a:rPr lang="en-US" altLang="zh-CN" b="1" dirty="0" err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PNS调控铁死亡</a:t>
                    </a:r>
                    <a:r>
                      <a:rPr lang="zh-CN" altLang="en-US" b="1" dirty="0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缓解</a:t>
                    </a:r>
                    <a:r>
                      <a:rPr lang="en-US" altLang="zh-CN" b="1" dirty="0" err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OSF具</a:t>
                    </a:r>
                    <a:r>
                      <a:rPr lang="zh-CN" altLang="en-US" b="1" dirty="0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有</a:t>
                    </a:r>
                    <a:r>
                      <a:rPr lang="en-US" altLang="zh-CN" b="1" dirty="0" err="1">
                        <a:solidFill>
                          <a:srgbClr val="FF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多成分、多靶点、多通路</a:t>
                    </a:r>
                    <a:r>
                      <a:rPr lang="en-US" altLang="zh-CN" b="1" dirty="0" err="1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的作用特点</a:t>
                    </a:r>
                    <a:r>
                      <a:rPr lang="en-US" altLang="zh-CN" b="1" dirty="0"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 !</a:t>
                    </a:r>
                    <a:endParaRPr lang="en-US" altLang="zh-CN" b="1" dirty="0">
                      <a:latin typeface="Times New Roman" panose="02020603050405020304" charset="0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  <p:grpSp>
                <p:nvGrpSpPr>
                  <p:cNvPr id="88" name="组合 87"/>
                  <p:cNvGrpSpPr/>
                  <p:nvPr/>
                </p:nvGrpSpPr>
                <p:grpSpPr>
                  <a:xfrm>
                    <a:off x="5399" y="3011"/>
                    <a:ext cx="4859" cy="4535"/>
                    <a:chOff x="1010" y="1491"/>
                    <a:chExt cx="4097" cy="3310"/>
                  </a:xfrm>
                </p:grpSpPr>
                <p:pic>
                  <p:nvPicPr>
                    <p:cNvPr id="89" name="图片 1" descr="IMG_256"/>
                    <p:cNvPicPr>
                      <a:picLocks noChangeAspect="1"/>
                    </p:cNvPicPr>
                    <p:nvPr>
                      <p:custDataLst>
                        <p:tags r:id="rId18"/>
                      </p:custDataLst>
                    </p:nvPr>
                  </p:nvPicPr>
                  <p:blipFill>
                    <a:blip r:embed="rId19"/>
                    <a:srcRect l="9939" t="2990" r="9518" b="90226"/>
                    <a:stretch>
                      <a:fillRect/>
                    </a:stretch>
                  </p:blipFill>
                  <p:spPr>
                    <a:xfrm>
                      <a:off x="1010" y="1491"/>
                      <a:ext cx="3291" cy="27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pic>
                  <p:nvPicPr>
                    <p:cNvPr id="91" name="图片 1" descr="IMG_256"/>
                    <p:cNvPicPr>
                      <a:picLocks noChangeAspect="1"/>
                    </p:cNvPicPr>
                    <p:nvPr>
                      <p:custDataLst>
                        <p:tags r:id="rId20"/>
                      </p:custDataLst>
                    </p:nvPr>
                  </p:nvPicPr>
                  <p:blipFill>
                    <a:blip r:embed="rId21"/>
                    <a:srcRect l="28246" t="89235" r="29562" b="1246"/>
                    <a:stretch>
                      <a:fillRect/>
                    </a:stretch>
                  </p:blipFill>
                  <p:spPr>
                    <a:xfrm>
                      <a:off x="3383" y="4419"/>
                      <a:ext cx="1724" cy="38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sp>
                <p:nvSpPr>
                  <p:cNvPr id="92" name="五角星 91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4642" y="1028"/>
                    <a:ext cx="390" cy="385"/>
                  </a:xfrm>
                  <a:prstGeom prst="star5">
                    <a:avLst/>
                  </a:prstGeom>
                  <a:solidFill>
                    <a:srgbClr val="FFFF00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4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93" name="文本框 92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3998" y="8262"/>
                    <a:ext cx="6780" cy="6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>
                      <a:lnSpc>
                        <a:spcPct val="130000"/>
                      </a:lnSpc>
                    </a:pPr>
                    <a:r>
                      <a:rPr lang="en-US" sz="14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微软雅黑" panose="020B0503020204020204" charset="-122"/>
                      </a:rPr>
                      <a:t>图1 PNS-OSF-Ferroptosis交集靶点韦恩图</a:t>
                    </a:r>
                    <a:endParaRPr lang="en-US" sz="1400" b="1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</p:grpSp>
        </p:grpSp>
        <p:sp>
          <p:nvSpPr>
            <p:cNvPr id="94" name="圆角矩形 93"/>
            <p:cNvSpPr/>
            <p:nvPr>
              <p:custDataLst>
                <p:tags r:id="rId24"/>
              </p:custDataLst>
            </p:nvPr>
          </p:nvSpPr>
          <p:spPr>
            <a:xfrm>
              <a:off x="3998" y="2763"/>
              <a:ext cx="6779" cy="6967"/>
            </a:xfrm>
            <a:prstGeom prst="roundRect">
              <a:avLst>
                <a:gd name="adj" fmla="val 9529"/>
              </a:avLst>
            </a:prstGeom>
            <a:noFill/>
            <a:ln w="41275" cmpd="sng">
              <a:solidFill>
                <a:srgbClr val="044875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  <p:custDataLst>
      <p:tags r:id="rId2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697293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177228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2408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技术路线</a:t>
            </a:r>
            <a:endParaRPr lang="zh-CN" altLang="en-US" sz="2400" b="1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641600" y="159485"/>
            <a:ext cx="4454525" cy="479325"/>
            <a:chOff x="4160" y="245"/>
            <a:chExt cx="7015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775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1.1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</a:rPr>
                <a:t>立论依据</a:t>
              </a:r>
              <a:endParaRPr lang="en-US" altLang="zh-CN" sz="2400" b="1" spc="209">
                <a:solidFill>
                  <a:schemeClr val="tx1"/>
                </a:solidFill>
                <a:uFillTx/>
              </a:endParaRPr>
            </a:p>
          </p:txBody>
        </p:sp>
      </p:grpSp>
      <p:sp>
        <p:nvSpPr>
          <p:cNvPr id="102" name="圆角矩形 101"/>
          <p:cNvSpPr/>
          <p:nvPr>
            <p:custDataLst>
              <p:tags r:id="rId8"/>
            </p:custDataLst>
          </p:nvPr>
        </p:nvSpPr>
        <p:spPr>
          <a:xfrm>
            <a:off x="2775585" y="2077720"/>
            <a:ext cx="2985770" cy="3213100"/>
          </a:xfrm>
          <a:prstGeom prst="roundRect">
            <a:avLst/>
          </a:prstGeom>
          <a:noFill/>
          <a:ln w="38100" cmpd="sng">
            <a:solidFill>
              <a:schemeClr val="accent1">
                <a:shade val="50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902960" y="4222115"/>
            <a:ext cx="5318673" cy="2278967"/>
            <a:chOff x="9296" y="5899"/>
            <a:chExt cx="8975" cy="4362"/>
          </a:xfrm>
        </p:grpSpPr>
        <p:grpSp>
          <p:nvGrpSpPr>
            <p:cNvPr id="19" name="组合 18"/>
            <p:cNvGrpSpPr/>
            <p:nvPr/>
          </p:nvGrpSpPr>
          <p:grpSpPr>
            <a:xfrm>
              <a:off x="12032" y="5899"/>
              <a:ext cx="6239" cy="4362"/>
              <a:chOff x="11935" y="1244"/>
              <a:chExt cx="6239" cy="4362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11935" y="1244"/>
                <a:ext cx="6239" cy="4320"/>
                <a:chOff x="6424" y="6564"/>
                <a:chExt cx="5914" cy="3175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793" y="6608"/>
                  <a:ext cx="5169" cy="3057"/>
                  <a:chOff x="4991" y="5686"/>
                  <a:chExt cx="7224" cy="5143"/>
                </a:xfrm>
              </p:grpSpPr>
              <p:sp>
                <p:nvSpPr>
                  <p:cNvPr id="65" name="文本框 64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4998" y="6474"/>
                    <a:ext cx="1609" cy="181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正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常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组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织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示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意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图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66" name="文本框 65"/>
                  <p:cNvSpPr txBox="1"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4991" y="8417"/>
                    <a:ext cx="606" cy="197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纤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维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化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组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织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示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意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  <a:p>
                    <a:pPr marL="0" indent="0" latinLnBrk="0">
                      <a:lnSpc>
                        <a:spcPts val="800"/>
                      </a:lnSpc>
                    </a:pPr>
                    <a:r>
                      <a: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图</a:t>
                    </a:r>
                    <a:endParaRPr lang="zh-CN" altLang="en-US" sz="8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67" name="右箭头 66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 rot="5400000">
                    <a:off x="6377" y="8408"/>
                    <a:ext cx="313" cy="146"/>
                  </a:xfrm>
                  <a:prstGeom prst="rightArrow">
                    <a:avLst/>
                  </a:prstGeom>
                  <a:solidFill>
                    <a:srgbClr val="D46B70"/>
                  </a:solidFill>
                  <a:ln>
                    <a:solidFill>
                      <a:srgbClr val="D2656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/>
                  </a:p>
                </p:txBody>
              </p:sp>
              <p:sp>
                <p:nvSpPr>
                  <p:cNvPr id="68" name="右箭头 67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 rot="5400000">
                    <a:off x="8698" y="8408"/>
                    <a:ext cx="313" cy="146"/>
                  </a:xfrm>
                  <a:prstGeom prst="rightArrow">
                    <a:avLst/>
                  </a:prstGeom>
                  <a:solidFill>
                    <a:srgbClr val="D46B70"/>
                  </a:solidFill>
                  <a:ln>
                    <a:solidFill>
                      <a:srgbClr val="D2656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/>
                  </a:p>
                </p:txBody>
              </p:sp>
              <p:sp>
                <p:nvSpPr>
                  <p:cNvPr id="69" name="右箭头 68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 rot="5400000">
                    <a:off x="10953" y="8408"/>
                    <a:ext cx="313" cy="146"/>
                  </a:xfrm>
                  <a:prstGeom prst="rightArrow">
                    <a:avLst/>
                  </a:prstGeom>
                  <a:solidFill>
                    <a:srgbClr val="D46B70"/>
                  </a:solidFill>
                  <a:ln>
                    <a:solidFill>
                      <a:srgbClr val="D2656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/>
                  </a:p>
                </p:txBody>
              </p:sp>
              <p:sp>
                <p:nvSpPr>
                  <p:cNvPr id="70" name="文本框 69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5855" y="10221"/>
                    <a:ext cx="6360" cy="60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indent="0" latinLnBrk="0">
                      <a:lnSpc>
                        <a:spcPts val="1000"/>
                      </a:lnSpc>
                    </a:pPr>
                    <a:r>
                      <a:rPr lang="en-US" altLang="zh-CN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     </a:t>
                    </a:r>
                    <a:r>
                      <a:rPr lang="zh-CN" altLang="en-US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肾脏</a:t>
                    </a:r>
                    <a:r>
                      <a:rPr lang="en-US" altLang="zh-CN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                        </a:t>
                    </a:r>
                    <a:r>
                      <a:rPr lang="zh-CN" altLang="en-US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心</a:t>
                    </a:r>
                    <a:r>
                      <a:rPr lang="en-US" altLang="zh-CN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                        </a:t>
                    </a:r>
                    <a:r>
                      <a:rPr lang="zh-CN" altLang="en-US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肝脏</a:t>
                    </a:r>
                    <a:endParaRPr lang="zh-CN" altLang="en-US" sz="9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71" name="文本框 70"/>
                  <p:cNvSpPr txBox="1"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6747" y="5686"/>
                    <a:ext cx="4192" cy="87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 algn="ctr"/>
                    <a:r>
                      <a:rPr lang="zh-CN" altLang="en-US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组织器官纤维化</a:t>
                    </a:r>
                    <a:endParaRPr lang="zh-CN" altLang="en-US" b="1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103" name="圆角矩形 102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424" y="6564"/>
                  <a:ext cx="5914" cy="3175"/>
                </a:xfrm>
                <a:prstGeom prst="roundRect">
                  <a:avLst/>
                </a:prstGeom>
                <a:noFill/>
                <a:ln w="38100" cmpd="sng">
                  <a:solidFill>
                    <a:schemeClr val="accent1">
                      <a:shade val="50000"/>
                    </a:schemeClr>
                  </a:solidFill>
                  <a:prstDash val="lg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" name="文本框 9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3170" y="5255"/>
                <a:ext cx="4512" cy="35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sz="600" i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M. Zeisberg and R. Kalluri, Am J Physiol-Cell Ph. 2013, 304, C216-C225.</a:t>
                </a:r>
                <a:endParaRPr sz="600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pic>
          <p:nvPicPr>
            <p:cNvPr id="104" name="图片 10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 rot="2400000">
              <a:off x="9296" y="7559"/>
              <a:ext cx="2223" cy="1597"/>
            </a:xfrm>
            <a:prstGeom prst="rect">
              <a:avLst/>
            </a:prstGeom>
            <a:noFill/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组合 19"/>
          <p:cNvGrpSpPr/>
          <p:nvPr/>
        </p:nvGrpSpPr>
        <p:grpSpPr>
          <a:xfrm>
            <a:off x="5681980" y="1114425"/>
            <a:ext cx="6337300" cy="2598467"/>
            <a:chOff x="9220" y="459"/>
            <a:chExt cx="10526" cy="4647"/>
          </a:xfrm>
        </p:grpSpPr>
        <p:pic>
          <p:nvPicPr>
            <p:cNvPr id="106" name="图片 10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 rot="19620000" flipV="1">
              <a:off x="9220" y="459"/>
              <a:ext cx="2622" cy="1771"/>
            </a:xfrm>
            <a:prstGeom prst="rect">
              <a:avLst/>
            </a:prstGeom>
            <a:noFill/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2" name="组合 21"/>
            <p:cNvGrpSpPr/>
            <p:nvPr/>
          </p:nvGrpSpPr>
          <p:grpSpPr>
            <a:xfrm>
              <a:off x="12174" y="1090"/>
              <a:ext cx="7572" cy="4016"/>
              <a:chOff x="12191" y="6271"/>
              <a:chExt cx="7572" cy="4016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14341" y="6384"/>
                <a:ext cx="5422" cy="2415"/>
                <a:chOff x="11322" y="5444"/>
                <a:chExt cx="5422" cy="2415"/>
              </a:xfrm>
            </p:grpSpPr>
            <p:sp>
              <p:nvSpPr>
                <p:cNvPr id="72" name="文本框 71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1692" y="5887"/>
                  <a:ext cx="5052" cy="19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285750" indent="-285750" algn="l">
                    <a:lnSpc>
                      <a:spcPct val="180000"/>
                    </a:lnSpc>
                    <a:buFont typeface="Wingdings" panose="05000000000000000000" charset="0"/>
                    <a:buChar char="l"/>
                  </a:pPr>
                  <a:r>
                    <a:rPr lang="zh-CN" altLang="en-US" sz="1600" b="1" spc="100">
                      <a:solidFill>
                        <a:schemeClr val="tx1"/>
                      </a:solidFill>
                      <a:uFillTx/>
                    </a:rPr>
                    <a:t>铁积累</a:t>
                  </a:r>
                  <a:endParaRPr lang="zh-CN" altLang="en-US" sz="1600" b="1" spc="100">
                    <a:solidFill>
                      <a:schemeClr val="tx1"/>
                    </a:solidFill>
                    <a:uFillTx/>
                  </a:endParaRPr>
                </a:p>
                <a:p>
                  <a:pPr marL="285750" indent="-285750" algn="l">
                    <a:lnSpc>
                      <a:spcPct val="180000"/>
                    </a:lnSpc>
                    <a:buFont typeface="Wingdings" panose="05000000000000000000" charset="0"/>
                    <a:buChar char="l"/>
                  </a:pPr>
                  <a:r>
                    <a:rPr lang="zh-CN" altLang="en-US" sz="1600" b="1" spc="100">
                      <a:solidFill>
                        <a:schemeClr val="tx1"/>
                      </a:solidFill>
                      <a:uFillTx/>
                    </a:rPr>
                    <a:t>脂质过氧化</a:t>
                  </a:r>
                  <a:endParaRPr lang="zh-CN" altLang="en-US" sz="1600" b="1" spc="100">
                    <a:solidFill>
                      <a:schemeClr val="tx1"/>
                    </a:solidFill>
                    <a:uFillTx/>
                  </a:endParaRPr>
                </a:p>
                <a:p>
                  <a:pPr marL="285750" indent="-285750" algn="l">
                    <a:lnSpc>
                      <a:spcPct val="180000"/>
                    </a:lnSpc>
                    <a:buFont typeface="Wingdings" panose="05000000000000000000" charset="0"/>
                    <a:buChar char="l"/>
                  </a:pPr>
                  <a:r>
                    <a:rPr lang="zh-CN" altLang="en-US" sz="1600" b="1" spc="100">
                      <a:solidFill>
                        <a:schemeClr val="tx1"/>
                      </a:solidFill>
                      <a:uFillTx/>
                    </a:rPr>
                    <a:t>氨基酸抗氧化失衡</a:t>
                  </a:r>
                  <a:endParaRPr lang="zh-CN" altLang="en-US" sz="1600" b="1" spc="100">
                    <a:solidFill>
                      <a:schemeClr val="tx1"/>
                    </a:solidFill>
                    <a:uFillTx/>
                  </a:endParaRPr>
                </a:p>
                <a:p>
                  <a:pPr marL="285750" indent="-285750" algn="l">
                    <a:lnSpc>
                      <a:spcPct val="180000"/>
                    </a:lnSpc>
                    <a:buFont typeface="Wingdings" panose="05000000000000000000" charset="0"/>
                    <a:buChar char="l"/>
                  </a:pPr>
                  <a:r>
                    <a:rPr lang="zh-CN" altLang="en-US" sz="1600" b="1" spc="100">
                      <a:solidFill>
                        <a:schemeClr val="tx1"/>
                      </a:solidFill>
                      <a:uFillTx/>
                    </a:rPr>
                    <a:t>线粒体严重损伤</a:t>
                  </a:r>
                  <a:endParaRPr lang="zh-CN" altLang="en-US" sz="1600" b="1" spc="100">
                    <a:solidFill>
                      <a:schemeClr val="tx1"/>
                    </a:solidFill>
                    <a:uFillTx/>
                  </a:endParaRPr>
                </a:p>
              </p:txBody>
            </p:sp>
            <p:sp>
              <p:nvSpPr>
                <p:cNvPr id="73" name="文本框 72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1322" y="5444"/>
                  <a:ext cx="1863" cy="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dist">
                    <a:lnSpc>
                      <a:spcPct val="90000"/>
                    </a:lnSpc>
                  </a:pPr>
                  <a:r>
                    <a:rPr lang="zh-CN" altLang="en-US" b="1">
                      <a:sym typeface="+mn-ea"/>
                    </a:rPr>
                    <a:t>主要特征</a:t>
                  </a:r>
                  <a:endParaRPr lang="zh-CN" altLang="en-US"/>
                </a:p>
              </p:txBody>
            </p:sp>
          </p:grpSp>
          <p:sp>
            <p:nvSpPr>
              <p:cNvPr id="23" name="圆角矩形 22"/>
              <p:cNvSpPr/>
              <p:nvPr>
                <p:custDataLst>
                  <p:tags r:id="rId23"/>
                </p:custDataLst>
              </p:nvPr>
            </p:nvSpPr>
            <p:spPr>
              <a:xfrm>
                <a:off x="12191" y="6271"/>
                <a:ext cx="6246" cy="4016"/>
              </a:xfrm>
              <a:prstGeom prst="roundRect">
                <a:avLst/>
              </a:prstGeom>
              <a:noFill/>
              <a:ln w="38100" cmpd="sng">
                <a:solidFill>
                  <a:schemeClr val="accent1">
                    <a:shade val="50000"/>
                  </a:schemeClr>
                </a:solidFill>
                <a:prstDash val="lg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3166110" y="2280285"/>
            <a:ext cx="2338705" cy="324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/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铁死亡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(Ferroptosis)</a:t>
            </a:r>
            <a:endParaRPr lang="zh-CN" altLang="en-US" b="1" dirty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1962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177228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技术路线</a:t>
            </a:r>
            <a:endParaRPr lang="zh-CN" altLang="en-US" sz="2400" b="1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2045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641600" y="159485"/>
            <a:ext cx="4997450" cy="479325"/>
            <a:chOff x="4160" y="245"/>
            <a:chExt cx="7870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775" y="245"/>
              <a:ext cx="7255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 dirty="0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1.3</a:t>
              </a:r>
              <a:r>
                <a:rPr lang="en-US" altLang="zh-CN" sz="2400" b="1" spc="209" dirty="0">
                  <a:uFillTx/>
                  <a:sym typeface="+mn-ea"/>
                </a:rPr>
                <a:t>   </a:t>
              </a:r>
              <a:r>
                <a:rPr lang="zh-CN" altLang="en-US" sz="2400" b="1" spc="209" dirty="0">
                  <a:uFillTx/>
                  <a:sym typeface="+mn-ea"/>
                </a:rPr>
                <a:t>前期</a:t>
              </a:r>
              <a:r>
                <a:rPr lang="zh-CN" altLang="en-US" sz="2400" b="1" spc="209" dirty="0">
                  <a:solidFill>
                    <a:srgbClr val="FF0000"/>
                  </a:solidFill>
                  <a:uFillTx/>
                  <a:sym typeface="+mn-ea"/>
                </a:rPr>
                <a:t>动物实验</a:t>
              </a:r>
              <a:r>
                <a:rPr lang="zh-CN" altLang="en-US" sz="2400" b="1" spc="209" dirty="0">
                  <a:uFillTx/>
                  <a:sym typeface="+mn-ea"/>
                </a:rPr>
                <a:t>成果</a:t>
              </a:r>
              <a:endParaRPr lang="en-US" altLang="zh-CN" sz="2400" b="1" spc="209" dirty="0">
                <a:solidFill>
                  <a:schemeClr val="tx1"/>
                </a:solidFill>
                <a:uFillTx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2336165" y="2321259"/>
            <a:ext cx="3948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566160" y="6226810"/>
            <a:ext cx="7070090" cy="21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0" hangingPunct="1">
              <a:lnSpc>
                <a:spcPts val="1000"/>
              </a:lnSpc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结论：PNS可通过抑制铁死亡过程缓解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ANE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诱导的大鼠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OSF</a:t>
            </a:r>
            <a:endParaRPr lang="en-US" altLang="zh-CN" sz="2000" b="1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4354195" y="3766820"/>
            <a:ext cx="1754505" cy="441325"/>
            <a:chOff x="6857" y="5922"/>
            <a:chExt cx="2763" cy="695"/>
          </a:xfrm>
        </p:grpSpPr>
        <p:cxnSp>
          <p:nvCxnSpPr>
            <p:cNvPr id="80" name="直接连接符 79"/>
            <p:cNvCxnSpPr/>
            <p:nvPr>
              <p:custDataLst>
                <p:tags r:id="rId10"/>
              </p:custDataLst>
            </p:nvPr>
          </p:nvCxnSpPr>
          <p:spPr>
            <a:xfrm>
              <a:off x="6975" y="6360"/>
              <a:ext cx="239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1"/>
              </p:custDataLst>
            </p:nvPr>
          </p:nvSpPr>
          <p:spPr>
            <a:xfrm>
              <a:off x="6857" y="5922"/>
              <a:ext cx="2763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en-US" sz="7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华光粗黑_CNKI" panose="02000500000000000000" charset="-122"/>
                </a:rPr>
                <a:t>20                           40                            80 </a:t>
              </a:r>
              <a:endParaRPr lang="en-US" sz="700" b="1">
                <a:solidFill>
                  <a:schemeClr val="tx1"/>
                </a:solidFill>
                <a:uFillTx/>
                <a:latin typeface="Times New Roman" panose="02020603050405020304" charset="0"/>
                <a:ea typeface="华光粗黑_CNKI" panose="02000500000000000000" charset="-122"/>
              </a:endParaRPr>
            </a:p>
            <a:p>
              <a:pPr indent="0" algn="ctr" fontAlgn="auto">
                <a:lnSpc>
                  <a:spcPct val="200000"/>
                </a:lnSpc>
              </a:pPr>
              <a:r>
                <a:rPr lang="en-US" sz="7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华光粗黑_CNKI" panose="02000500000000000000" charset="-122"/>
                  <a:cs typeface="Times New Roman" panose="02020603050405020304" charset="0"/>
                </a:rPr>
                <a:t>PS(mg/kg</a:t>
              </a:r>
              <a:r>
                <a:rPr lang="en-US" sz="7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·</a:t>
              </a:r>
              <a:r>
                <a:rPr lang="en-US" sz="7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华光粗黑_CNKI" panose="02000500000000000000" charset="-122"/>
                  <a:cs typeface="Times New Roman" panose="02020603050405020304" charset="0"/>
                </a:rPr>
                <a:t>d)</a:t>
              </a:r>
              <a:endParaRPr lang="en-US" sz="700" b="1">
                <a:solidFill>
                  <a:schemeClr val="tx1"/>
                </a:solidFill>
                <a:uFillTx/>
                <a:latin typeface="Times New Roman" panose="02020603050405020304" charset="0"/>
                <a:ea typeface="华光粗黑_CNKI" panose="02000500000000000000" charset="-122"/>
                <a:cs typeface="Times New Roman" panose="02020603050405020304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96925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2581910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技术路线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152140" y="885190"/>
            <a:ext cx="1168400" cy="48895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641600" y="159485"/>
            <a:ext cx="5817870" cy="479325"/>
            <a:chOff x="4160" y="245"/>
            <a:chExt cx="9162" cy="916"/>
          </a:xfrm>
        </p:grpSpPr>
        <p:sp>
          <p:nvSpPr>
            <p:cNvPr id="16" name="同侧圆角矩形 15"/>
            <p:cNvSpPr/>
            <p:nvPr>
              <p:custDataLst>
                <p:tags r:id="rId8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4775" y="245"/>
              <a:ext cx="8547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2.1</a:t>
              </a:r>
              <a:r>
                <a:rPr lang="en-US" altLang="zh-CN" sz="2400" b="1" spc="209">
                  <a:uFillTx/>
                  <a:sym typeface="+mn-ea"/>
                </a:rPr>
                <a:t>   </a:t>
              </a:r>
              <a:r>
                <a:rPr lang="zh-CN" altLang="en-US" sz="24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SLC7A11/GSH/GPX4</a:t>
              </a:r>
              <a:r>
                <a:rPr lang="zh-CN" altLang="en-US" sz="2400" b="1" spc="209">
                  <a:uFillTx/>
                  <a:sym typeface="+mn-ea"/>
                </a:rPr>
                <a:t>机制图</a:t>
              </a:r>
              <a:endParaRPr lang="zh-CN" altLang="en-US" sz="2400" b="1" spc="209">
                <a:uFillTx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139305" y="919480"/>
            <a:ext cx="4286250" cy="5770245"/>
            <a:chOff x="11243" y="1448"/>
            <a:chExt cx="6750" cy="9087"/>
          </a:xfrm>
        </p:grpSpPr>
        <p:pic>
          <p:nvPicPr>
            <p:cNvPr id="27" name="图片 2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1243" y="1448"/>
              <a:ext cx="1858" cy="476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>
              <p:custDataLst>
                <p:tags r:id="rId12"/>
              </p:custDataLst>
            </p:nvPr>
          </p:nvSpPr>
          <p:spPr>
            <a:xfrm>
              <a:off x="13181" y="8294"/>
              <a:ext cx="4812" cy="22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indent="0" eaLnBrk="1" latinLnBrk="0" hangingPunct="1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课题假说：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PNS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通过阻断槟榔碱诱导的铁死亡过程，从而缓解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OSF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endParaRPr>
            </a:p>
          </p:txBody>
        </p:sp>
      </p:grp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0819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2581910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研究背景</a:t>
            </a:r>
            <a:endParaRPr lang="zh-CN" altLang="en-US" sz="2400" b="1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技术路线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225040" y="159485"/>
            <a:ext cx="4271010" cy="479325"/>
            <a:chOff x="4160" y="245"/>
            <a:chExt cx="6726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2.2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总体实验设计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7740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2581910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技术路线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204720" y="159485"/>
            <a:ext cx="4271010" cy="479325"/>
            <a:chOff x="4160" y="245"/>
            <a:chExt cx="6726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2.3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实验设计一阶段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" name="TextBox 15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429635" y="1191895"/>
            <a:ext cx="607314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eaLnBrk="1" latinLnBrk="0" hangingPunct="1">
              <a:lnSpc>
                <a:spcPts val="1000"/>
              </a:lnSpc>
            </a:pPr>
            <a:endParaRPr lang="zh-CN" altLang="en-US" b="1"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r" eaLnBrk="1" latinLnBrk="0" hangingPunct="1">
              <a:lnSpc>
                <a:spcPts val="1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rPr>
              <a:t>基于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</a:rPr>
              <a:t>铁死亡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rPr>
              <a:t>研究PNS对OSF细胞模型的干预效果 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r" eaLnBrk="1" latinLnBrk="0" hangingPunct="1">
              <a:lnSpc>
                <a:spcPts val="1000"/>
              </a:lnSpc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697230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2581910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研究背景</a:t>
            </a:r>
            <a:endParaRPr lang="zh-CN" altLang="en-US" sz="2400" b="1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研究过程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技术路线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225040" y="159485"/>
            <a:ext cx="4271010" cy="479325"/>
            <a:chOff x="4160" y="245"/>
            <a:chExt cx="6726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2.4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实验设计二阶段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" name="TextBox 15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90750" y="1342390"/>
            <a:ext cx="100018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indent="0" algn="ctr" eaLnBrk="1" latinLnBrk="0" hangingPunct="1"/>
            <a:r>
              <a:rPr lang="zh-CN" altLang="en-US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基于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SLC7A11/GSH/GPX4信号通路</a:t>
            </a:r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调控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铁死亡</a:t>
            </a:r>
            <a:r>
              <a:rPr lang="zh-CN" altLang="en-US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研究</a:t>
            </a:r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PNS</a:t>
            </a:r>
            <a:r>
              <a:rPr lang="zh-CN" altLang="en-US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对</a:t>
            </a:r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OSF</a:t>
            </a:r>
            <a:r>
              <a:rPr lang="zh-CN" altLang="en-US" b="1">
                <a:latin typeface="Times New Roman" panose="02020603050405020304" charset="0"/>
                <a:ea typeface="微软雅黑" panose="020B0503020204020204" charset="-122"/>
                <a:sym typeface="+mn-ea"/>
              </a:rPr>
              <a:t>细胞模型的干预效果</a:t>
            </a:r>
            <a:endParaRPr lang="zh-CN" altLang="en-US" b="1" dirty="0"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6247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245360" y="159485"/>
            <a:ext cx="4271010" cy="479325"/>
            <a:chOff x="4160" y="245"/>
            <a:chExt cx="6726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3.1   </a:t>
              </a:r>
              <a:r>
                <a:rPr lang="en-US" altLang="zh-CN" sz="2400" b="1" spc="5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CCK-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8</a:t>
              </a:r>
              <a:endParaRPr lang="en-US" altLang="zh-CN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635"/>
            <a:ext cx="2244725" cy="685927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2" name="组合 1"/>
          <p:cNvGrpSpPr/>
          <p:nvPr/>
        </p:nvGrpSpPr>
        <p:grpSpPr>
          <a:xfrm>
            <a:off x="2235200" y="159485"/>
            <a:ext cx="4271010" cy="479325"/>
            <a:chOff x="4160" y="245"/>
            <a:chExt cx="6726" cy="916"/>
          </a:xfrm>
        </p:grpSpPr>
        <p:sp>
          <p:nvSpPr>
            <p:cNvPr id="12" name="同侧圆角矩形 1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3.2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细胞模型的建立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5327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14" name="组合 13"/>
          <p:cNvGrpSpPr/>
          <p:nvPr/>
        </p:nvGrpSpPr>
        <p:grpSpPr>
          <a:xfrm>
            <a:off x="2235200" y="159485"/>
            <a:ext cx="4271010" cy="479325"/>
            <a:chOff x="4160" y="245"/>
            <a:chExt cx="6726" cy="916"/>
          </a:xfrm>
        </p:grpSpPr>
        <p:sp>
          <p:nvSpPr>
            <p:cNvPr id="2" name="同侧圆角矩形 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3.3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</a:rPr>
                <a:t>透射电镜</a:t>
              </a:r>
              <a:endParaRPr lang="zh-CN" altLang="en-US" sz="2400" b="1" spc="209">
                <a:solidFill>
                  <a:schemeClr val="tx1"/>
                </a:solidFill>
                <a:uFillTx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88845" y="2789555"/>
            <a:ext cx="2160270" cy="216027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850005" y="1496060"/>
            <a:ext cx="845820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/>
            <a:r>
              <a:rPr lang="en-US" altLang="zh-CN" sz="2000" spc="209">
                <a:latin typeface="华光粗黑_CNKI" panose="02000500000000000000" charset="-122"/>
                <a:ea typeface="华光粗黑_CNKI" panose="02000500000000000000" charset="-122"/>
              </a:rPr>
              <a:t>原理</a:t>
            </a:r>
            <a:r>
              <a:rPr lang="zh-CN" altLang="en-US" sz="2000" spc="209">
                <a:latin typeface="华光粗黑_CNKI" panose="02000500000000000000" charset="-122"/>
                <a:ea typeface="华光粗黑_CNKI" panose="02000500000000000000" charset="-122"/>
              </a:rPr>
              <a:t>：</a:t>
            </a:r>
            <a:endParaRPr lang="zh-CN" altLang="en-US" sz="2000" spc="209">
              <a:latin typeface="华光粗黑_CNKI" panose="02000500000000000000" charset="-122"/>
              <a:ea typeface="华光粗黑_CNKI" panose="020005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22500" y="1838960"/>
            <a:ext cx="1066800" cy="108966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2783840" y="4690745"/>
            <a:ext cx="1229360" cy="356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华光粗黑_CNKI" panose="02000500000000000000" charset="-122"/>
                <a:ea typeface="华光粗黑_CNKI" panose="02000500000000000000" charset="-122"/>
                <a:sym typeface="+mn-ea"/>
              </a:rPr>
              <a:t>电镜检测</a:t>
            </a:r>
            <a:endParaRPr lang="zh-CN" altLang="en-US" sz="2000">
              <a:latin typeface="华光粗黑_CNKI" panose="02000500000000000000" charset="-122"/>
              <a:ea typeface="华光粗黑_CNKI" panose="020005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3850005" y="2755265"/>
            <a:ext cx="1344930" cy="4737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/>
            <a:r>
              <a:rPr lang="zh-CN" altLang="en-US" sz="2000" spc="209">
                <a:latin typeface="华光粗黑_CNKI" panose="02000500000000000000" charset="-122"/>
                <a:ea typeface="华光粗黑_CNKI" panose="02000500000000000000" charset="-122"/>
              </a:rPr>
              <a:t>实验步骤：</a:t>
            </a:r>
            <a:endParaRPr lang="zh-CN" altLang="en-US" sz="2000" spc="209">
              <a:latin typeface="华光粗黑_CNKI" panose="02000500000000000000" charset="-122"/>
              <a:ea typeface="华光粗黑_CNKI" panose="02000500000000000000" charset="-122"/>
            </a:endParaRPr>
          </a:p>
        </p:txBody>
      </p:sp>
      <p:pic>
        <p:nvPicPr>
          <p:cNvPr id="103" name="图片 102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62830" y="1028700"/>
            <a:ext cx="6410960" cy="16802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84650" y="3249930"/>
            <a:ext cx="7449185" cy="31527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5454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14" name="组合 13"/>
          <p:cNvGrpSpPr/>
          <p:nvPr/>
        </p:nvGrpSpPr>
        <p:grpSpPr>
          <a:xfrm>
            <a:off x="2225040" y="159485"/>
            <a:ext cx="4271010" cy="479325"/>
            <a:chOff x="4160" y="245"/>
            <a:chExt cx="6726" cy="916"/>
          </a:xfrm>
        </p:grpSpPr>
        <p:sp>
          <p:nvSpPr>
            <p:cNvPr id="2" name="同侧圆角矩形 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3.4   </a:t>
              </a:r>
              <a:r>
                <a:rPr lang="en-US" altLang="zh-CN" sz="2400" b="1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Western blot</a:t>
              </a:r>
              <a:endParaRPr lang="en-US" altLang="zh-CN" sz="2400" b="1">
                <a:solidFill>
                  <a:schemeClr val="tx1"/>
                </a:solidFill>
                <a:uFillTx/>
                <a:latin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3097530" y="969645"/>
            <a:ext cx="8322046" cy="5041065"/>
            <a:chOff x="4023" y="976"/>
            <a:chExt cx="15622" cy="9463"/>
          </a:xfrm>
        </p:grpSpPr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17667" y="8689"/>
              <a:ext cx="1978" cy="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华光楷体_CNKI" panose="02000500000000000000" charset="-122"/>
                  <a:ea typeface="华光楷体_CNKI" panose="02000500000000000000" charset="-122"/>
                  <a:cs typeface="华光粗黑_CNKI" panose="02000500000000000000" charset="-122"/>
                </a:rPr>
                <a:t>显影</a:t>
              </a:r>
              <a:endParaRPr lang="zh-CN" altLang="en-US" sz="1000">
                <a:latin typeface="华光楷体_CNKI" panose="02000500000000000000" charset="-122"/>
                <a:ea typeface="华光楷体_CNKI" panose="02000500000000000000" charset="-122"/>
                <a:cs typeface="华光粗黑_CNKI" panose="02000500000000000000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023" y="976"/>
              <a:ext cx="14731" cy="9463"/>
              <a:chOff x="4023" y="976"/>
              <a:chExt cx="14731" cy="9463"/>
            </a:xfrm>
          </p:grpSpPr>
          <p:pic>
            <p:nvPicPr>
              <p:cNvPr id="34" name="图片 33"/>
              <p:cNvPicPr/>
              <p:nvPr>
                <p:custDataLst>
                  <p:tags r:id="rId9"/>
                </p:custDataLst>
              </p:nvPr>
            </p:nvPicPr>
            <p:blipFill>
              <a:blip r:embed="rId10"/>
              <a:srcRect l="44878" t="26396" r="26090" b="47010"/>
              <a:stretch>
                <a:fillRect/>
              </a:stretch>
            </p:blipFill>
            <p:spPr>
              <a:xfrm>
                <a:off x="8525" y="976"/>
                <a:ext cx="2151" cy="187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41" name="组合 40"/>
              <p:cNvGrpSpPr/>
              <p:nvPr/>
            </p:nvGrpSpPr>
            <p:grpSpPr>
              <a:xfrm>
                <a:off x="4023" y="1347"/>
                <a:ext cx="14731" cy="9092"/>
                <a:chOff x="4023" y="1347"/>
                <a:chExt cx="14731" cy="9092"/>
              </a:xfrm>
            </p:grpSpPr>
            <p:pic>
              <p:nvPicPr>
                <p:cNvPr id="74" name="图片 73"/>
                <p:cNvPicPr/>
                <p:nvPr>
                  <p:custDataLst>
                    <p:tags r:id="rId11"/>
                  </p:custDataLst>
                </p:nvPr>
              </p:nvPicPr>
              <p:blipFill>
                <a:blip r:embed="rId10"/>
                <a:srcRect l="43343" r="18566" b="80812"/>
                <a:stretch>
                  <a:fillRect/>
                </a:stretch>
              </p:blipFill>
              <p:spPr>
                <a:xfrm>
                  <a:off x="4574" y="1347"/>
                  <a:ext cx="2740" cy="14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75" name="组合 74"/>
                <p:cNvGrpSpPr/>
                <p:nvPr/>
              </p:nvGrpSpPr>
              <p:grpSpPr>
                <a:xfrm>
                  <a:off x="4023" y="3828"/>
                  <a:ext cx="4117" cy="6611"/>
                  <a:chOff x="4430" y="3775"/>
                  <a:chExt cx="4462" cy="7004"/>
                </a:xfrm>
              </p:grpSpPr>
              <p:pic>
                <p:nvPicPr>
                  <p:cNvPr id="76" name="图片 75"/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13"/>
                  <a:srcRect l="20392" t="1988" r="38699" b="3397"/>
                  <a:stretch>
                    <a:fillRect/>
                  </a:stretch>
                </p:blipFill>
                <p:spPr>
                  <a:xfrm>
                    <a:off x="4430" y="3878"/>
                    <a:ext cx="3269" cy="690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77" name="文本框 76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6657" y="4554"/>
                    <a:ext cx="1978" cy="4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rPr>
                      <a:t>贴壁细胞收集</a:t>
                    </a:r>
                    <a:endParaRPr lang="zh-CN" altLang="en-US" sz="1000">
                      <a:latin typeface="华光楷体_CNKI" panose="02000500000000000000" charset="-122"/>
                      <a:ea typeface="华光楷体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78" name="文本框 77"/>
                  <p:cNvSpPr txBox="1"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6869" y="6424"/>
                    <a:ext cx="1978" cy="4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rPr>
                      <a:t>裂解细胞</a:t>
                    </a:r>
                    <a:endParaRPr lang="zh-CN" altLang="en-US" sz="1000">
                      <a:latin typeface="华光楷体_CNKI" panose="02000500000000000000" charset="-122"/>
                      <a:ea typeface="华光楷体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79" name="文本框 78"/>
                  <p:cNvSpPr txBox="1"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6884" y="8276"/>
                    <a:ext cx="1978" cy="4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rPr>
                      <a:t>BCA</a:t>
                    </a:r>
                    <a:r>
                      <a: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rPr>
                      <a:t>定量</a:t>
                    </a:r>
                    <a:endParaRPr lang="zh-CN" altLang="en-US" sz="1000">
                      <a:latin typeface="华光楷体_CNKI" panose="02000500000000000000" charset="-122"/>
                      <a:ea typeface="华光楷体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80" name="文本框 79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6914" y="9826"/>
                    <a:ext cx="1978" cy="4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rPr>
                      <a:t>蛋白变性</a:t>
                    </a:r>
                    <a:endParaRPr lang="zh-CN" altLang="en-US" sz="1000">
                      <a:latin typeface="华光楷体_CNKI" panose="02000500000000000000" charset="-122"/>
                      <a:ea typeface="华光楷体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81" name="圆角矩形 80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4975" y="3775"/>
                    <a:ext cx="3484" cy="6967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" name="组合 81"/>
                <p:cNvGrpSpPr/>
                <p:nvPr/>
              </p:nvGrpSpPr>
              <p:grpSpPr>
                <a:xfrm>
                  <a:off x="5870" y="1489"/>
                  <a:ext cx="12884" cy="8937"/>
                  <a:chOff x="5870" y="1489"/>
                  <a:chExt cx="12884" cy="8937"/>
                </a:xfrm>
              </p:grpSpPr>
              <p:pic>
                <p:nvPicPr>
                  <p:cNvPr id="83" name="图片 82"/>
                  <p:cNvPicPr/>
                  <p:nvPr>
                    <p:custDataLst>
                      <p:tags r:id="rId19"/>
                    </p:custDataLst>
                  </p:nvPr>
                </p:nvPicPr>
                <p:blipFill>
                  <a:blip r:embed="rId10"/>
                  <a:srcRect l="51087" t="86951" r="25307" b="3117"/>
                  <a:stretch>
                    <a:fillRect/>
                  </a:stretch>
                </p:blipFill>
                <p:spPr>
                  <a:xfrm>
                    <a:off x="15936" y="1886"/>
                    <a:ext cx="1749" cy="70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84" name="图片 83"/>
                  <p:cNvPicPr/>
                  <p:nvPr>
                    <p:custDataLst>
                      <p:tags r:id="rId20"/>
                    </p:custDataLst>
                  </p:nvPr>
                </p:nvPicPr>
                <p:blipFill>
                  <a:blip r:embed="rId10"/>
                  <a:srcRect l="48603" t="59889" r="22365" b="21791"/>
                  <a:stretch>
                    <a:fillRect/>
                  </a:stretch>
                </p:blipFill>
                <p:spPr>
                  <a:xfrm>
                    <a:off x="12200" y="1489"/>
                    <a:ext cx="2151" cy="129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85" name="箭头: 右 24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 rot="5400000">
                    <a:off x="5652" y="2969"/>
                    <a:ext cx="869" cy="434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4">
                          <a:lumMod val="40000"/>
                          <a:lumOff val="60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箭头: 右 24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 rot="5400000">
                    <a:off x="9307" y="2969"/>
                    <a:ext cx="869" cy="434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4">
                          <a:lumMod val="40000"/>
                          <a:lumOff val="60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箭头: 右 24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 rot="5400000">
                    <a:off x="12846" y="2969"/>
                    <a:ext cx="869" cy="434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4">
                          <a:lumMod val="40000"/>
                          <a:lumOff val="60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8" name="箭头: 右 24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 rot="5400000">
                    <a:off x="16371" y="2969"/>
                    <a:ext cx="869" cy="434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4">
                          <a:lumMod val="40000"/>
                          <a:lumOff val="60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9" name="文本框 88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6457" y="2853"/>
                    <a:ext cx="2218" cy="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1.</a:t>
                    </a:r>
                    <a:r>
                      <a:rPr lang="zh-CN" altLang="en-US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样品准备</a:t>
                    </a:r>
                    <a:endParaRPr lang="zh-CN" altLang="en-US" sz="1400"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90" name="文本框 89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9987" y="2853"/>
                    <a:ext cx="170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2.</a:t>
                    </a:r>
                    <a:r>
                      <a:rPr lang="zh-CN" altLang="en-US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电泳</a:t>
                    </a:r>
                    <a:endParaRPr lang="zh-CN" altLang="en-US" sz="1400"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91" name="文本框 90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3478" y="2868"/>
                    <a:ext cx="170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3.</a:t>
                    </a:r>
                    <a:r>
                      <a:rPr lang="zh-CN" altLang="en-US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转膜</a:t>
                    </a:r>
                    <a:endParaRPr lang="zh-CN" altLang="en-US" sz="1400"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92" name="文本框 91"/>
                  <p:cNvSpPr txBox="1"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7047" y="2838"/>
                    <a:ext cx="170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4.</a:t>
                    </a:r>
                    <a:r>
                      <a:rPr lang="zh-CN" altLang="en-US" sz="1400"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显影</a:t>
                    </a:r>
                    <a:endParaRPr lang="zh-CN" altLang="en-US" sz="1400"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  <p:sp>
                <p:nvSpPr>
                  <p:cNvPr id="93" name="箭头: 右 24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7539" y="2153"/>
                    <a:ext cx="1254" cy="362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6">
                          <a:lumMod val="75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箭头: 右 24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10676" y="2183"/>
                    <a:ext cx="1254" cy="362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6">
                          <a:lumMod val="75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箭头: 右 24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4399" y="2189"/>
                    <a:ext cx="1254" cy="362"/>
                  </a:xfrm>
                  <a:prstGeom prst="rightArrow">
                    <a:avLst>
                      <a:gd name="adj1" fmla="val 50000"/>
                      <a:gd name="adj2" fmla="val 111405"/>
                    </a:avLst>
                  </a:prstGeom>
                  <a:gradFill>
                    <a:gsLst>
                      <a:gs pos="0">
                        <a:schemeClr val="accent6">
                          <a:lumMod val="75000"/>
                        </a:schemeClr>
                      </a:gs>
                      <a:gs pos="100000">
                        <a:srgbClr val="122E66">
                          <a:alpha val="0"/>
                        </a:srgbClr>
                      </a:gs>
                    </a:gsLst>
                    <a:lin ang="10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96" name="组合 95"/>
                  <p:cNvGrpSpPr/>
                  <p:nvPr/>
                </p:nvGrpSpPr>
                <p:grpSpPr>
                  <a:xfrm>
                    <a:off x="8356" y="3878"/>
                    <a:ext cx="3603" cy="6401"/>
                    <a:chOff x="8563" y="4043"/>
                    <a:chExt cx="3834" cy="6750"/>
                  </a:xfrm>
                </p:grpSpPr>
                <p:pic>
                  <p:nvPicPr>
                    <p:cNvPr id="97" name="图片 96"/>
                    <p:cNvPicPr>
                      <a:picLocks noChangeAspect="1"/>
                    </p:cNvPicPr>
                    <p:nvPr>
                      <p:custDataLst>
                        <p:tags r:id="rId32"/>
                      </p:custDataLst>
                    </p:nvPr>
                  </p:nvPicPr>
                  <p:blipFill>
                    <a:blip r:embed="rId33"/>
                    <a:srcRect l="16423" r="53033" b="2639"/>
                    <a:stretch>
                      <a:fillRect/>
                    </a:stretch>
                  </p:blipFill>
                  <p:spPr>
                    <a:xfrm>
                      <a:off x="8563" y="4043"/>
                      <a:ext cx="2258" cy="67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98" name="文本框 97"/>
                    <p:cNvSpPr txBox="1"/>
                    <p:nvPr>
                      <p:custDataLst>
                        <p:tags r:id="rId34"/>
                      </p:custDataLst>
                    </p:nvPr>
                  </p:nvSpPr>
                  <p:spPr>
                    <a:xfrm>
                      <a:off x="10032" y="5118"/>
                      <a:ext cx="1978" cy="4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灌胶装置组装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  <p:sp>
                  <p:nvSpPr>
                    <p:cNvPr id="99" name="文本框 98"/>
                    <p:cNvSpPr txBox="1"/>
                    <p:nvPr>
                      <p:custDataLst>
                        <p:tags r:id="rId35"/>
                      </p:custDataLst>
                    </p:nvPr>
                  </p:nvSpPr>
                  <p:spPr>
                    <a:xfrm>
                      <a:off x="10389" y="6631"/>
                      <a:ext cx="1978" cy="4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制胶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  <p:sp>
                  <p:nvSpPr>
                    <p:cNvPr id="100" name="文本框 99"/>
                    <p:cNvSpPr txBox="1"/>
                    <p:nvPr>
                      <p:custDataLst>
                        <p:tags r:id="rId36"/>
                      </p:custDataLst>
                    </p:nvPr>
                  </p:nvSpPr>
                  <p:spPr>
                    <a:xfrm>
                      <a:off x="10419" y="8393"/>
                      <a:ext cx="1978" cy="4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点样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  <p:sp>
                  <p:nvSpPr>
                    <p:cNvPr id="106" name="文本框 105"/>
                    <p:cNvSpPr txBox="1"/>
                    <p:nvPr>
                      <p:custDataLst>
                        <p:tags r:id="rId37"/>
                      </p:custDataLst>
                    </p:nvPr>
                  </p:nvSpPr>
                  <p:spPr>
                    <a:xfrm>
                      <a:off x="10393" y="9841"/>
                      <a:ext cx="1978" cy="4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电泳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</p:grpSp>
              <p:grpSp>
                <p:nvGrpSpPr>
                  <p:cNvPr id="107" name="组合 106"/>
                  <p:cNvGrpSpPr/>
                  <p:nvPr/>
                </p:nvGrpSpPr>
                <p:grpSpPr>
                  <a:xfrm>
                    <a:off x="11744" y="4171"/>
                    <a:ext cx="3447" cy="6021"/>
                    <a:chOff x="11785" y="3878"/>
                    <a:chExt cx="4694" cy="6901"/>
                  </a:xfrm>
                </p:grpSpPr>
                <p:pic>
                  <p:nvPicPr>
                    <p:cNvPr id="108" name="图片 107"/>
                    <p:cNvPicPr>
                      <a:picLocks noChangeAspect="1"/>
                    </p:cNvPicPr>
                    <p:nvPr>
                      <p:custDataLst>
                        <p:tags r:id="rId38"/>
                      </p:custDataLst>
                    </p:nvPr>
                  </p:nvPicPr>
                  <p:blipFill>
                    <a:blip r:embed="rId33"/>
                    <a:srcRect l="49113"/>
                    <a:stretch>
                      <a:fillRect/>
                    </a:stretch>
                  </p:blipFill>
                  <p:spPr>
                    <a:xfrm>
                      <a:off x="11785" y="3878"/>
                      <a:ext cx="3744" cy="690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09" name="文本框 108"/>
                    <p:cNvSpPr txBox="1"/>
                    <p:nvPr>
                      <p:custDataLst>
                        <p:tags r:id="rId39"/>
                      </p:custDataLst>
                    </p:nvPr>
                  </p:nvSpPr>
                  <p:spPr>
                    <a:xfrm>
                      <a:off x="13868" y="4914"/>
                      <a:ext cx="2602" cy="6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  <a:sym typeface="+mn-ea"/>
                        </a:rPr>
                        <a:t>组装转膜装置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  <a:sym typeface="+mn-ea"/>
                      </a:endParaRPr>
                    </a:p>
                  </p:txBody>
                </p:sp>
                <p:sp>
                  <p:nvSpPr>
                    <p:cNvPr id="110" name="文本框 109"/>
                    <p:cNvSpPr txBox="1"/>
                    <p:nvPr>
                      <p:custDataLst>
                        <p:tags r:id="rId40"/>
                      </p:custDataLst>
                    </p:nvPr>
                  </p:nvSpPr>
                  <p:spPr>
                    <a:xfrm>
                      <a:off x="14501" y="6466"/>
                      <a:ext cx="1978" cy="4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转膜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  <p:sp>
                  <p:nvSpPr>
                    <p:cNvPr id="111" name="文本框 110"/>
                    <p:cNvSpPr txBox="1"/>
                    <p:nvPr>
                      <p:custDataLst>
                        <p:tags r:id="rId41"/>
                      </p:custDataLst>
                    </p:nvPr>
                  </p:nvSpPr>
                  <p:spPr>
                    <a:xfrm>
                      <a:off x="14171" y="8205"/>
                      <a:ext cx="1978" cy="4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牛奶封闭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  <p:sp>
                  <p:nvSpPr>
                    <p:cNvPr id="112" name="文本框 111"/>
                    <p:cNvSpPr txBox="1"/>
                    <p:nvPr>
                      <p:custDataLst>
                        <p:tags r:id="rId42"/>
                      </p:custDataLst>
                    </p:nvPr>
                  </p:nvSpPr>
                  <p:spPr>
                    <a:xfrm>
                      <a:off x="14242" y="9961"/>
                      <a:ext cx="1978" cy="4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000">
                          <a:latin typeface="华光楷体_CNKI" panose="02000500000000000000" charset="-122"/>
                          <a:ea typeface="华光楷体_CNKI" panose="02000500000000000000" charset="-122"/>
                          <a:cs typeface="华光粗黑_CNKI" panose="02000500000000000000" charset="-122"/>
                        </a:rPr>
                        <a:t>抗体杂交</a:t>
                      </a:r>
                      <a:endParaRPr lang="zh-CN" altLang="en-US" sz="1000">
                        <a:latin typeface="华光楷体_CNKI" panose="02000500000000000000" charset="-122"/>
                        <a:ea typeface="华光楷体_CNKI" panose="02000500000000000000" charset="-122"/>
                        <a:cs typeface="华光粗黑_CNKI" panose="02000500000000000000" charset="-122"/>
                      </a:endParaRPr>
                    </a:p>
                  </p:txBody>
                </p:sp>
              </p:grpSp>
              <p:pic>
                <p:nvPicPr>
                  <p:cNvPr id="113" name="图片 112"/>
                  <p:cNvPicPr/>
                  <p:nvPr>
                    <p:custDataLst>
                      <p:tags r:id="rId43"/>
                    </p:custDataLst>
                  </p:nvPr>
                </p:nvPicPr>
                <p:blipFill>
                  <a:blip r:embed="rId44"/>
                  <a:srcRect l="31731" t="26455" r="37313" b="48790"/>
                  <a:stretch>
                    <a:fillRect/>
                  </a:stretch>
                </p:blipFill>
                <p:spPr>
                  <a:xfrm>
                    <a:off x="16005" y="6004"/>
                    <a:ext cx="1880" cy="17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14" name="图片 113"/>
                  <p:cNvPicPr/>
                  <p:nvPr>
                    <p:custDataLst>
                      <p:tags r:id="rId45"/>
                    </p:custDataLst>
                  </p:nvPr>
                </p:nvPicPr>
                <p:blipFill>
                  <a:blip r:embed="rId44"/>
                  <a:srcRect l="65750" t="33869" r="6175" b="46890"/>
                  <a:stretch>
                    <a:fillRect/>
                  </a:stretch>
                </p:blipFill>
                <p:spPr>
                  <a:xfrm>
                    <a:off x="15974" y="8336"/>
                    <a:ext cx="1705" cy="125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15" name="图片 114"/>
                  <p:cNvPicPr/>
                  <p:nvPr>
                    <p:custDataLst>
                      <p:tags r:id="rId46"/>
                    </p:custDataLst>
                  </p:nvPr>
                </p:nvPicPr>
                <p:blipFill>
                  <a:blip r:embed="rId44"/>
                  <a:srcRect l="5862" t="28569" r="72616" b="49954"/>
                  <a:stretch>
                    <a:fillRect/>
                  </a:stretch>
                </p:blipFill>
                <p:spPr>
                  <a:xfrm>
                    <a:off x="16360" y="3878"/>
                    <a:ext cx="1307" cy="140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cxnSp>
                <p:nvCxnSpPr>
                  <p:cNvPr id="116" name="直线连接符 13"/>
                  <p:cNvCxnSpPr/>
                  <p:nvPr>
                    <p:custDataLst>
                      <p:tags r:id="rId47"/>
                    </p:custDataLst>
                  </p:nvPr>
                </p:nvCxnSpPr>
                <p:spPr>
                  <a:xfrm flipV="1">
                    <a:off x="10471" y="5366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线连接符 13"/>
                  <p:cNvCxnSpPr/>
                  <p:nvPr>
                    <p:custDataLst>
                      <p:tags r:id="rId48"/>
                    </p:custDataLst>
                  </p:nvPr>
                </p:nvCxnSpPr>
                <p:spPr>
                  <a:xfrm flipV="1">
                    <a:off x="10478" y="7029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直线连接符 13"/>
                  <p:cNvCxnSpPr/>
                  <p:nvPr>
                    <p:custDataLst>
                      <p:tags r:id="rId49"/>
                    </p:custDataLst>
                  </p:nvPr>
                </p:nvCxnSpPr>
                <p:spPr>
                  <a:xfrm flipV="1">
                    <a:off x="10485" y="8615"/>
                    <a:ext cx="9" cy="527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直线连接符 13"/>
                  <p:cNvCxnSpPr/>
                  <p:nvPr>
                    <p:custDataLst>
                      <p:tags r:id="rId50"/>
                    </p:custDataLst>
                  </p:nvPr>
                </p:nvCxnSpPr>
                <p:spPr>
                  <a:xfrm flipV="1">
                    <a:off x="14101" y="5623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直线连接符 13"/>
                  <p:cNvCxnSpPr/>
                  <p:nvPr>
                    <p:custDataLst>
                      <p:tags r:id="rId51"/>
                    </p:custDataLst>
                  </p:nvPr>
                </p:nvCxnSpPr>
                <p:spPr>
                  <a:xfrm flipV="1">
                    <a:off x="14095" y="7111"/>
                    <a:ext cx="6" cy="402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线连接符 13"/>
                  <p:cNvCxnSpPr/>
                  <p:nvPr>
                    <p:custDataLst>
                      <p:tags r:id="rId52"/>
                    </p:custDataLst>
                  </p:nvPr>
                </p:nvCxnSpPr>
                <p:spPr>
                  <a:xfrm flipV="1">
                    <a:off x="13052" y="9056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线连接符 13"/>
                  <p:cNvCxnSpPr/>
                  <p:nvPr>
                    <p:custDataLst>
                      <p:tags r:id="rId53"/>
                    </p:custDataLst>
                  </p:nvPr>
                </p:nvCxnSpPr>
                <p:spPr>
                  <a:xfrm flipV="1">
                    <a:off x="16896" y="5373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直线连接符 13"/>
                  <p:cNvCxnSpPr/>
                  <p:nvPr>
                    <p:custDataLst>
                      <p:tags r:id="rId54"/>
                    </p:custDataLst>
                  </p:nvPr>
                </p:nvCxnSpPr>
                <p:spPr>
                  <a:xfrm flipV="1">
                    <a:off x="16885" y="7621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" name="圆角矩形 123"/>
                  <p:cNvSpPr/>
                  <p:nvPr>
                    <p:custDataLst>
                      <p:tags r:id="rId55"/>
                    </p:custDataLst>
                  </p:nvPr>
                </p:nvSpPr>
                <p:spPr>
                  <a:xfrm>
                    <a:off x="8142" y="3828"/>
                    <a:ext cx="3215" cy="6576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" name="圆角矩形 124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11744" y="3830"/>
                    <a:ext cx="3215" cy="6576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6" name="直线连接符 13"/>
                  <p:cNvCxnSpPr/>
                  <p:nvPr>
                    <p:custDataLst>
                      <p:tags r:id="rId57"/>
                    </p:custDataLst>
                  </p:nvPr>
                </p:nvCxnSpPr>
                <p:spPr>
                  <a:xfrm flipV="1">
                    <a:off x="6911" y="5118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直线连接符 13"/>
                  <p:cNvCxnSpPr/>
                  <p:nvPr>
                    <p:custDataLst>
                      <p:tags r:id="rId58"/>
                    </p:custDataLst>
                  </p:nvPr>
                </p:nvCxnSpPr>
                <p:spPr>
                  <a:xfrm flipV="1">
                    <a:off x="6904" y="6966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直线连接符 13"/>
                  <p:cNvCxnSpPr/>
                  <p:nvPr>
                    <p:custDataLst>
                      <p:tags r:id="rId59"/>
                    </p:custDataLst>
                  </p:nvPr>
                </p:nvCxnSpPr>
                <p:spPr>
                  <a:xfrm flipV="1">
                    <a:off x="6897" y="8884"/>
                    <a:ext cx="7" cy="484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9" name="右中括号 128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6185" y="5920"/>
                    <a:ext cx="119" cy="1301"/>
                  </a:xfrm>
                  <a:prstGeom prst="rightBracket">
                    <a:avLst/>
                  </a:prstGeom>
                  <a:ln>
                    <a:solidFill>
                      <a:srgbClr val="92D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0" name="直线连接符 13"/>
                  <p:cNvCxnSpPr/>
                  <p:nvPr>
                    <p:custDataLst>
                      <p:tags r:id="rId61"/>
                    </p:custDataLst>
                  </p:nvPr>
                </p:nvCxnSpPr>
                <p:spPr>
                  <a:xfrm flipV="1">
                    <a:off x="14095" y="8615"/>
                    <a:ext cx="6" cy="402"/>
                  </a:xfrm>
                  <a:prstGeom prst="line">
                    <a:avLst/>
                  </a:prstGeom>
                  <a:ln w="25400">
                    <a:solidFill>
                      <a:srgbClr val="005493"/>
                    </a:solidFill>
                    <a:head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" name="圆角矩形 130"/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15328" y="3850"/>
                    <a:ext cx="3215" cy="6576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</p:spTree>
    <p:custDataLst>
      <p:tags r:id="rId6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6247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235200" y="159485"/>
            <a:ext cx="4271010" cy="479325"/>
            <a:chOff x="4160" y="245"/>
            <a:chExt cx="6726" cy="916"/>
          </a:xfrm>
        </p:grpSpPr>
        <p:sp>
          <p:nvSpPr>
            <p:cNvPr id="13" name="同侧圆角矩形 12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3.5   </a:t>
              </a:r>
              <a:r>
                <a:rPr lang="en-US" altLang="zh-CN" sz="2400"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RT-</a:t>
              </a:r>
              <a:r>
                <a:rPr lang="en-US" altLang="zh-CN" sz="2400" b="1" spc="20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q</a:t>
              </a:r>
              <a:r>
                <a:rPr lang="en-US" altLang="zh-CN" sz="2400"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PCR</a:t>
              </a:r>
              <a:endParaRPr lang="en-US" altLang="zh-CN" sz="2400" b="1" spc="2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3284497" y="886082"/>
            <a:ext cx="7668217" cy="5383142"/>
            <a:chOff x="3899" y="935"/>
            <a:chExt cx="14101" cy="9899"/>
          </a:xfrm>
        </p:grpSpPr>
        <p:pic>
          <p:nvPicPr>
            <p:cNvPr id="20" name="图片 19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r="75752" b="73611"/>
            <a:stretch>
              <a:fillRect/>
            </a:stretch>
          </p:blipFill>
          <p:spPr>
            <a:xfrm>
              <a:off x="5202" y="9163"/>
              <a:ext cx="1235" cy="161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rcRect t="76627" r="67783"/>
            <a:stretch>
              <a:fillRect/>
            </a:stretch>
          </p:blipFill>
          <p:spPr>
            <a:xfrm>
              <a:off x="12191" y="9475"/>
              <a:ext cx="1520" cy="132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/>
            <a:srcRect l="43048" t="82096" r="9665" b="4145"/>
            <a:stretch>
              <a:fillRect/>
            </a:stretch>
          </p:blipFill>
          <p:spPr>
            <a:xfrm>
              <a:off x="15222" y="9738"/>
              <a:ext cx="2231" cy="7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9"/>
            <a:srcRect t="42424" r="77067" b="36726"/>
            <a:stretch>
              <a:fillRect/>
            </a:stretch>
          </p:blipFill>
          <p:spPr>
            <a:xfrm>
              <a:off x="8803" y="9493"/>
              <a:ext cx="1227" cy="1341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4" name="组合 23"/>
            <p:cNvGrpSpPr/>
            <p:nvPr/>
          </p:nvGrpSpPr>
          <p:grpSpPr>
            <a:xfrm>
              <a:off x="3899" y="935"/>
              <a:ext cx="14101" cy="8617"/>
              <a:chOff x="3899" y="935"/>
              <a:chExt cx="14101" cy="8617"/>
            </a:xfrm>
          </p:grpSpPr>
          <p:sp>
            <p:nvSpPr>
              <p:cNvPr id="25" name="圆角矩形 24"/>
              <p:cNvSpPr/>
              <p:nvPr>
                <p:custDataLst>
                  <p:tags r:id="rId13"/>
                </p:custDataLst>
              </p:nvPr>
            </p:nvSpPr>
            <p:spPr>
              <a:xfrm>
                <a:off x="4282" y="1852"/>
                <a:ext cx="3091" cy="768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4834" y="2388"/>
                <a:ext cx="1755" cy="7145"/>
                <a:chOff x="4645" y="2129"/>
                <a:chExt cx="1944" cy="8050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4645" y="2129"/>
                  <a:ext cx="1944" cy="8050"/>
                  <a:chOff x="4372" y="3574"/>
                  <a:chExt cx="1526" cy="6051"/>
                </a:xfrm>
              </p:grpSpPr>
              <p:pic>
                <p:nvPicPr>
                  <p:cNvPr id="29" name="图片 28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9"/>
                  <a:srcRect l="25201" r="42709" b="19951"/>
                  <a:stretch>
                    <a:fillRect/>
                  </a:stretch>
                </p:blipFill>
                <p:spPr>
                  <a:xfrm>
                    <a:off x="4384" y="3574"/>
                    <a:ext cx="1514" cy="453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30" name="图片 29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9"/>
                  <a:srcRect l="56083" t="67790" r="35863" b="23214"/>
                  <a:stretch>
                    <a:fillRect/>
                  </a:stretch>
                </p:blipFill>
                <p:spPr>
                  <a:xfrm>
                    <a:off x="5009" y="8243"/>
                    <a:ext cx="380" cy="5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31" name="图片 30"/>
                  <p:cNvPicPr>
                    <a:picLocks noChangeAspect="1"/>
                  </p:cNvPicPr>
                  <p:nvPr>
                    <p:custDataLst>
                      <p:tags r:id="rId16"/>
                    </p:custDataLst>
                  </p:nvPr>
                </p:nvPicPr>
                <p:blipFill>
                  <a:blip r:embed="rId9"/>
                  <a:srcRect l="67550" t="64809" r="7800" b="20568"/>
                  <a:stretch>
                    <a:fillRect/>
                  </a:stretch>
                </p:blipFill>
                <p:spPr>
                  <a:xfrm>
                    <a:off x="4372" y="8796"/>
                    <a:ext cx="1163" cy="82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cxnSp>
              <p:nvCxnSpPr>
                <p:cNvPr id="33" name="直线连接符 13"/>
                <p:cNvCxnSpPr/>
                <p:nvPr>
                  <p:custDataLst>
                    <p:tags r:id="rId17"/>
                  </p:custDataLst>
                </p:nvPr>
              </p:nvCxnSpPr>
              <p:spPr>
                <a:xfrm flipV="1">
                  <a:off x="5665" y="3376"/>
                  <a:ext cx="7" cy="484"/>
                </a:xfrm>
                <a:prstGeom prst="line">
                  <a:avLst/>
                </a:prstGeom>
                <a:ln w="25400">
                  <a:solidFill>
                    <a:srgbClr val="005493"/>
                  </a:solidFill>
                  <a:head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13"/>
                <p:cNvCxnSpPr/>
                <p:nvPr>
                  <p:custDataLst>
                    <p:tags r:id="rId18"/>
                  </p:custDataLst>
                </p:nvPr>
              </p:nvCxnSpPr>
              <p:spPr>
                <a:xfrm flipV="1">
                  <a:off x="5670" y="5256"/>
                  <a:ext cx="7" cy="484"/>
                </a:xfrm>
                <a:prstGeom prst="line">
                  <a:avLst/>
                </a:prstGeom>
                <a:ln w="25400">
                  <a:solidFill>
                    <a:srgbClr val="005493"/>
                  </a:solidFill>
                  <a:head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13"/>
                <p:cNvCxnSpPr/>
                <p:nvPr>
                  <p:custDataLst>
                    <p:tags r:id="rId19"/>
                  </p:custDataLst>
                </p:nvPr>
              </p:nvCxnSpPr>
              <p:spPr>
                <a:xfrm flipV="1">
                  <a:off x="5670" y="6771"/>
                  <a:ext cx="7" cy="484"/>
                </a:xfrm>
                <a:prstGeom prst="line">
                  <a:avLst/>
                </a:prstGeom>
                <a:ln w="25400">
                  <a:solidFill>
                    <a:srgbClr val="005493"/>
                  </a:solidFill>
                  <a:head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13"/>
                <p:cNvCxnSpPr/>
                <p:nvPr>
                  <p:custDataLst>
                    <p:tags r:id="rId20"/>
                  </p:custDataLst>
                </p:nvPr>
              </p:nvCxnSpPr>
              <p:spPr>
                <a:xfrm flipV="1">
                  <a:off x="5675" y="8173"/>
                  <a:ext cx="14" cy="257"/>
                </a:xfrm>
                <a:prstGeom prst="line">
                  <a:avLst/>
                </a:prstGeom>
                <a:ln w="25400">
                  <a:solidFill>
                    <a:srgbClr val="005493"/>
                  </a:solidFill>
                  <a:head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13"/>
                <p:cNvCxnSpPr/>
                <p:nvPr>
                  <p:custDataLst>
                    <p:tags r:id="rId21"/>
                  </p:custDataLst>
                </p:nvPr>
              </p:nvCxnSpPr>
              <p:spPr>
                <a:xfrm flipV="1">
                  <a:off x="5680" y="9048"/>
                  <a:ext cx="14" cy="257"/>
                </a:xfrm>
                <a:prstGeom prst="line">
                  <a:avLst/>
                </a:prstGeom>
                <a:ln w="25400">
                  <a:solidFill>
                    <a:srgbClr val="005493"/>
                  </a:solidFill>
                  <a:head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矩形 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4697" y="1547"/>
                <a:ext cx="2199" cy="733"/>
              </a:xfrm>
              <a:prstGeom prst="rect">
                <a:avLst/>
              </a:prstGeom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5127" y="1681"/>
                <a:ext cx="170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bg1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华光粗黑_CNKI" panose="02000500000000000000" charset="-122"/>
                  </a:rPr>
                  <a:t>RNA</a:t>
                </a:r>
                <a:r>
                  <a:rPr lang="zh-CN" altLang="en-US" sz="1400">
                    <a:solidFill>
                      <a:schemeClr val="bg1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华光粗黑_CNKI" panose="02000500000000000000" charset="-122"/>
                  </a:rPr>
                  <a:t>提取</a:t>
                </a:r>
                <a:endParaRPr lang="zh-CN" altLang="en-US" sz="1400">
                  <a:solidFill>
                    <a:schemeClr val="bg1"/>
                  </a:solidFill>
                  <a:latin typeface="华光粗黑_CNKI" panose="02000500000000000000" charset="-122"/>
                  <a:ea typeface="华光粗黑_CNKI" panose="02000500000000000000" charset="-122"/>
                  <a:cs typeface="华光粗黑_CNKI" panose="02000500000000000000" charset="-122"/>
                </a:endParaRPr>
              </a:p>
            </p:txBody>
          </p:sp>
          <p:sp>
            <p:nvSpPr>
              <p:cNvPr id="41" name="矩形 40" descr="7b0a2020202022776f7264617274223a20227b5c2269645c223a32303133313339372c5c227469645c223a31333438307d220a7d0a"/>
              <p:cNvSpPr/>
              <p:nvPr>
                <p:custDataLst>
                  <p:tags r:id="rId24"/>
                </p:custDataLst>
              </p:nvPr>
            </p:nvSpPr>
            <p:spPr>
              <a:xfrm>
                <a:off x="3899" y="935"/>
                <a:ext cx="1315" cy="1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  <a:scene3d>
                  <a:camera prst="perspectiveLeft" fov="7200000">
                    <a:rot lat="0" lon="600000" rev="0"/>
                  </a:camera>
                  <a:lightRig rig="contrasting" dir="t"/>
                </a:scene3d>
                <a:sp3d extrusionH="388620" contourW="4572" prstMaterial="flat">
                  <a:extrusionClr>
                    <a:srgbClr val="002060"/>
                  </a:extrusionClr>
                  <a:contourClr>
                    <a:srgbClr val="5B79FB"/>
                  </a:contourClr>
                </a:sp3d>
              </a:bodyPr>
              <a:lstStyle/>
              <a:p>
                <a:pPr algn="ctr"/>
                <a:r>
                  <a:rPr lang="en-US" altLang="zh-CN" sz="6000">
                    <a:ln w="20574">
                      <a:solidFill>
                        <a:srgbClr val="5B79FB"/>
                      </a:solidFill>
                    </a:ln>
                    <a:solidFill>
                      <a:schemeClr val="bg1"/>
                    </a:solidFill>
                    <a:effectLst>
                      <a:outerShdw blurRad="36576" dist="190500" dir="18900000" algn="bl" rotWithShape="0">
                        <a:srgbClr val="6EA3F3">
                          <a:alpha val="50000"/>
                        </a:srgbClr>
                      </a:outerShdw>
                      <a:reflection blurRad="4572" stA="17000" endPos="49000" dir="5400000" sy="-100000" algn="bl" rotWithShape="0"/>
                    </a:effectLst>
                    <a:latin typeface="汉仪元隆黑-105W" panose="00020600040101010101" charset="-122"/>
                    <a:ea typeface="汉仪元隆黑-105W" panose="00020600040101010101" charset="-122"/>
                  </a:rPr>
                  <a:t>1</a:t>
                </a:r>
                <a:endParaRPr lang="en-US" altLang="zh-CN" sz="6000">
                  <a:ln w="20574">
                    <a:solidFill>
                      <a:srgbClr val="5B79FB"/>
                    </a:solidFill>
                  </a:ln>
                  <a:solidFill>
                    <a:schemeClr val="bg1"/>
                  </a:solidFill>
                  <a:effectLst>
                    <a:outerShdw blurRad="36576" dist="190500" dir="18900000" algn="bl" rotWithShape="0">
                      <a:srgbClr val="6EA3F3">
                        <a:alpha val="50000"/>
                      </a:srgbClr>
                    </a:outerShdw>
                    <a:reflection blurRad="4572" stA="17000" endPos="49000" dir="5400000" sy="-100000" algn="bl" rotWithShape="0"/>
                  </a:effectLst>
                  <a:latin typeface="汉仪元隆黑-105W" panose="00020600040101010101" charset="-122"/>
                  <a:ea typeface="汉仪元隆黑-105W" panose="00020600040101010101" charset="-122"/>
                </a:endParaRPr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11251" y="1542"/>
                <a:ext cx="3091" cy="7980"/>
                <a:chOff x="11251" y="2586"/>
                <a:chExt cx="3091" cy="7980"/>
              </a:xfrm>
            </p:grpSpPr>
            <p:sp>
              <p:nvSpPr>
                <p:cNvPr id="44" name="圆角矩形 43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1251" y="2935"/>
                  <a:ext cx="3091" cy="763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1682" y="2586"/>
                  <a:ext cx="2199" cy="733"/>
                </a:xfrm>
                <a:prstGeom prst="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ang="5400000" scaled="0"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文本框 45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2082" y="2720"/>
                  <a:ext cx="2247" cy="5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rPr>
                    <a:t>RT-</a:t>
                  </a:r>
                  <a:r>
                    <a:rPr lang="en-US" altLang="zh-CN" sz="1400">
                      <a:solidFill>
                        <a:schemeClr val="bg1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  <a:sym typeface="+mn-ea"/>
                    </a:rPr>
                    <a:t>q</a:t>
                  </a:r>
                  <a:r>
                    <a:rPr lang="en-US" altLang="zh-CN" sz="1400">
                      <a:solidFill>
                        <a:schemeClr val="bg1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rPr>
                    <a:t>PCR</a:t>
                  </a:r>
                  <a:endParaRPr lang="zh-CN" altLang="en-US" sz="1400">
                    <a:solidFill>
                      <a:schemeClr val="bg1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华光粗黑_CNKI" panose="02000500000000000000" charset="-122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7766" y="1552"/>
                <a:ext cx="10101" cy="8000"/>
                <a:chOff x="7766" y="2596"/>
                <a:chExt cx="10101" cy="8000"/>
              </a:xfrm>
            </p:grpSpPr>
            <p:sp>
              <p:nvSpPr>
                <p:cNvPr id="48" name="圆角矩形 47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7766" y="2945"/>
                  <a:ext cx="3091" cy="763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8182" y="2596"/>
                  <a:ext cx="2199" cy="733"/>
                </a:xfrm>
                <a:prstGeom prst="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ang="5400000" scaled="0"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文本框 50"/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8732" y="2730"/>
                  <a:ext cx="170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rPr>
                    <a:t>反转录</a:t>
                  </a:r>
                  <a:endParaRPr lang="zh-CN" altLang="en-US" sz="1400">
                    <a:solidFill>
                      <a:schemeClr val="bg1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华光粗黑_CNKI" panose="02000500000000000000" charset="-122"/>
                  </a:endParaRPr>
                </a:p>
              </p:txBody>
            </p:sp>
            <p:grpSp>
              <p:nvGrpSpPr>
                <p:cNvPr id="53" name="组合 52"/>
                <p:cNvGrpSpPr/>
                <p:nvPr/>
              </p:nvGrpSpPr>
              <p:grpSpPr>
                <a:xfrm>
                  <a:off x="14776" y="2616"/>
                  <a:ext cx="3091" cy="7980"/>
                  <a:chOff x="14776" y="2616"/>
                  <a:chExt cx="3091" cy="7980"/>
                </a:xfrm>
              </p:grpSpPr>
              <p:sp>
                <p:nvSpPr>
                  <p:cNvPr id="57" name="圆角矩形 56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4776" y="2965"/>
                    <a:ext cx="3091" cy="763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矩形 57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5162" y="2616"/>
                    <a:ext cx="2199" cy="733"/>
                  </a:xfrm>
                  <a:prstGeom prst="rect">
                    <a:avLst/>
                  </a:prstGeom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ang="5400000" scaled="0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文本框 58"/>
                  <p:cNvSpPr txBox="1"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15592" y="2750"/>
                    <a:ext cx="170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400">
                        <a:solidFill>
                          <a:schemeClr val="bg1"/>
                        </a:solidFill>
                        <a:latin typeface="华光粗黑_CNKI" panose="02000500000000000000" charset="-122"/>
                        <a:ea typeface="华光粗黑_CNKI" panose="02000500000000000000" charset="-122"/>
                        <a:cs typeface="华光粗黑_CNKI" panose="02000500000000000000" charset="-122"/>
                      </a:rPr>
                      <a:t>结果分析</a:t>
                    </a:r>
                    <a:endParaRPr lang="zh-CN" altLang="en-US" sz="1400">
                      <a:solidFill>
                        <a:schemeClr val="bg1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华光粗黑_CNKI" panose="02000500000000000000" charset="-122"/>
                    </a:endParaRPr>
                  </a:p>
                </p:txBody>
              </p:sp>
            </p:grpSp>
          </p:grpSp>
          <p:pic>
            <p:nvPicPr>
              <p:cNvPr id="60" name="图片 59"/>
              <p:cNvPicPr>
                <a:picLocks noChangeAspect="1"/>
              </p:cNvPicPr>
              <p:nvPr>
                <p:custDataLst>
                  <p:tags r:id="rId34"/>
                </p:custDataLst>
              </p:nvPr>
            </p:nvPicPr>
            <p:blipFill>
              <a:blip r:embed="rId9"/>
              <a:srcRect l="55914" r="-6231" b="69695"/>
              <a:stretch>
                <a:fillRect/>
              </a:stretch>
            </p:blipFill>
            <p:spPr>
              <a:xfrm>
                <a:off x="8821" y="2810"/>
                <a:ext cx="2136" cy="154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61" name="图片 60"/>
              <p:cNvPicPr/>
              <p:nvPr>
                <p:custDataLst>
                  <p:tags r:id="rId35"/>
                </p:custDataLst>
              </p:nvPr>
            </p:nvPicPr>
            <p:blipFill>
              <a:blip r:embed="rId36"/>
              <a:srcRect t="67656" r="65005" b="8159"/>
              <a:stretch>
                <a:fillRect/>
              </a:stretch>
            </p:blipFill>
            <p:spPr>
              <a:xfrm>
                <a:off x="8458" y="6938"/>
                <a:ext cx="2061" cy="14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62" name="图片 61"/>
              <p:cNvPicPr/>
              <p:nvPr>
                <p:custDataLst>
                  <p:tags r:id="rId37"/>
                </p:custDataLst>
              </p:nvPr>
            </p:nvPicPr>
            <p:blipFill>
              <a:blip r:embed="rId36"/>
              <a:srcRect r="60578" b="77875"/>
              <a:stretch>
                <a:fillRect/>
              </a:stretch>
            </p:blipFill>
            <p:spPr>
              <a:xfrm>
                <a:off x="8091" y="2381"/>
                <a:ext cx="2036" cy="123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5" name="矩形 64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80" y="2388"/>
                <a:ext cx="686" cy="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8349" y="2310"/>
                <a:ext cx="1136" cy="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600" b="1"/>
                  <a:t>测</a:t>
                </a:r>
                <a:r>
                  <a:rPr lang="en-US" altLang="zh-CN" sz="600" b="1"/>
                  <a:t>RNA</a:t>
                </a:r>
                <a:endParaRPr lang="en-US" altLang="zh-CN" sz="600" b="1"/>
              </a:p>
            </p:txBody>
          </p:sp>
          <p:sp>
            <p:nvSpPr>
              <p:cNvPr id="67" name="矩形 66" descr="7b0a2020202022776f7264617274223a20227b5c2269645c223a32303133313339372c5c227469645c223a31333438307d220a7d0a"/>
              <p:cNvSpPr/>
              <p:nvPr>
                <p:custDataLst>
                  <p:tags r:id="rId40"/>
                </p:custDataLst>
              </p:nvPr>
            </p:nvSpPr>
            <p:spPr>
              <a:xfrm>
                <a:off x="7418" y="938"/>
                <a:ext cx="1315" cy="1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  <a:scene3d>
                  <a:camera prst="perspectiveLeft" fov="7200000">
                    <a:rot lat="0" lon="600000" rev="0"/>
                  </a:camera>
                  <a:lightRig rig="contrasting" dir="t"/>
                </a:scene3d>
                <a:sp3d extrusionH="388620" contourW="4572" prstMaterial="flat">
                  <a:extrusionClr>
                    <a:srgbClr val="002060"/>
                  </a:extrusionClr>
                  <a:contourClr>
                    <a:srgbClr val="5B79FB"/>
                  </a:contourClr>
                </a:sp3d>
              </a:bodyPr>
              <a:lstStyle/>
              <a:p>
                <a:pPr algn="ctr"/>
                <a:r>
                  <a:rPr lang="en-US" altLang="zh-CN" sz="6000">
                    <a:ln w="20574">
                      <a:solidFill>
                        <a:srgbClr val="5B79FB"/>
                      </a:solidFill>
                    </a:ln>
                    <a:solidFill>
                      <a:schemeClr val="bg1"/>
                    </a:solidFill>
                    <a:effectLst>
                      <a:outerShdw blurRad="36576" dist="190500" dir="18900000" algn="bl" rotWithShape="0">
                        <a:srgbClr val="6EA3F3">
                          <a:alpha val="50000"/>
                        </a:srgbClr>
                      </a:outerShdw>
                      <a:reflection blurRad="4572" stA="17000" endPos="49000" dir="5400000" sy="-100000" algn="bl" rotWithShape="0"/>
                    </a:effectLst>
                    <a:latin typeface="汉仪元隆黑-105W" panose="00020600040101010101" charset="-122"/>
                    <a:ea typeface="汉仪元隆黑-105W" panose="00020600040101010101" charset="-122"/>
                  </a:rPr>
                  <a:t>2</a:t>
                </a:r>
                <a:endParaRPr lang="en-US" altLang="zh-CN" sz="6000">
                  <a:ln w="20574">
                    <a:solidFill>
                      <a:srgbClr val="5B79FB"/>
                    </a:solidFill>
                  </a:ln>
                  <a:solidFill>
                    <a:schemeClr val="bg1"/>
                  </a:solidFill>
                  <a:effectLst>
                    <a:outerShdw blurRad="36576" dist="190500" dir="18900000" algn="bl" rotWithShape="0">
                      <a:srgbClr val="6EA3F3">
                        <a:alpha val="50000"/>
                      </a:srgbClr>
                    </a:outerShdw>
                    <a:reflection blurRad="4572" stA="17000" endPos="49000" dir="5400000" sy="-100000" algn="bl" rotWithShape="0"/>
                  </a:effectLst>
                  <a:latin typeface="汉仪元隆黑-105W" panose="00020600040101010101" charset="-122"/>
                  <a:ea typeface="汉仪元隆黑-105W" panose="00020600040101010101" charset="-122"/>
                </a:endParaRPr>
              </a:p>
            </p:txBody>
          </p:sp>
          <p:sp>
            <p:nvSpPr>
              <p:cNvPr id="68" name="矩形 67" descr="7b0a2020202022776f7264617274223a20227b5c2269645c223a32303133313339372c5c227469645c223a31333438307d220a7d0a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888" y="963"/>
                <a:ext cx="1315" cy="1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  <a:scene3d>
                  <a:camera prst="perspectiveLeft" fov="7200000">
                    <a:rot lat="0" lon="600000" rev="0"/>
                  </a:camera>
                  <a:lightRig rig="contrasting" dir="t"/>
                </a:scene3d>
                <a:sp3d extrusionH="388620" contourW="4572" prstMaterial="flat">
                  <a:extrusionClr>
                    <a:srgbClr val="002060"/>
                  </a:extrusionClr>
                  <a:contourClr>
                    <a:srgbClr val="5B79FB"/>
                  </a:contourClr>
                </a:sp3d>
              </a:bodyPr>
              <a:lstStyle/>
              <a:p>
                <a:pPr algn="ctr"/>
                <a:r>
                  <a:rPr lang="en-US" altLang="zh-CN" sz="6000">
                    <a:ln w="20574">
                      <a:solidFill>
                        <a:srgbClr val="5B79FB"/>
                      </a:solidFill>
                    </a:ln>
                    <a:solidFill>
                      <a:schemeClr val="bg1"/>
                    </a:solidFill>
                    <a:effectLst>
                      <a:outerShdw blurRad="36576" dist="190500" dir="18900000" algn="bl" rotWithShape="0">
                        <a:srgbClr val="6EA3F3">
                          <a:alpha val="50000"/>
                        </a:srgbClr>
                      </a:outerShdw>
                      <a:reflection blurRad="4572" stA="17000" endPos="49000" dir="5400000" sy="-100000" algn="bl" rotWithShape="0"/>
                    </a:effectLst>
                    <a:latin typeface="汉仪元隆黑-105W" panose="00020600040101010101" charset="-122"/>
                    <a:ea typeface="汉仪元隆黑-105W" panose="00020600040101010101" charset="-122"/>
                  </a:rPr>
                  <a:t>3</a:t>
                </a:r>
                <a:endParaRPr lang="en-US" altLang="zh-CN" sz="6000">
                  <a:ln w="20574">
                    <a:solidFill>
                      <a:srgbClr val="5B79FB"/>
                    </a:solidFill>
                  </a:ln>
                  <a:solidFill>
                    <a:schemeClr val="bg1"/>
                  </a:solidFill>
                  <a:effectLst>
                    <a:outerShdw blurRad="36576" dist="190500" dir="18900000" algn="bl" rotWithShape="0">
                      <a:srgbClr val="6EA3F3">
                        <a:alpha val="50000"/>
                      </a:srgbClr>
                    </a:outerShdw>
                    <a:reflection blurRad="4572" stA="17000" endPos="49000" dir="5400000" sy="-100000" algn="bl" rotWithShape="0"/>
                  </a:effectLst>
                  <a:latin typeface="汉仪元隆黑-105W" panose="00020600040101010101" charset="-122"/>
                  <a:ea typeface="汉仪元隆黑-105W" panose="00020600040101010101" charset="-122"/>
                </a:endParaRPr>
              </a:p>
            </p:txBody>
          </p:sp>
          <p:sp>
            <p:nvSpPr>
              <p:cNvPr id="69" name="矩形 68" descr="7b0a2020202022776f7264617274223a20227b5c2269645c223a32303133313339372c5c227469645c223a31333438307d220a7d0a"/>
              <p:cNvSpPr/>
              <p:nvPr>
                <p:custDataLst>
                  <p:tags r:id="rId42"/>
                </p:custDataLst>
              </p:nvPr>
            </p:nvSpPr>
            <p:spPr>
              <a:xfrm>
                <a:off x="14321" y="986"/>
                <a:ext cx="1315" cy="1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  <a:scene3d>
                  <a:camera prst="perspectiveLeft" fov="7200000">
                    <a:rot lat="0" lon="600000" rev="0"/>
                  </a:camera>
                  <a:lightRig rig="contrasting" dir="t"/>
                </a:scene3d>
                <a:sp3d extrusionH="388620" contourW="4572" prstMaterial="flat">
                  <a:extrusionClr>
                    <a:srgbClr val="002060"/>
                  </a:extrusionClr>
                  <a:contourClr>
                    <a:srgbClr val="5B79FB"/>
                  </a:contourClr>
                </a:sp3d>
              </a:bodyPr>
              <a:lstStyle/>
              <a:p>
                <a:pPr algn="ctr"/>
                <a:r>
                  <a:rPr lang="en-US" altLang="zh-CN" sz="6000">
                    <a:ln w="20574">
                      <a:solidFill>
                        <a:srgbClr val="5B79FB"/>
                      </a:solidFill>
                    </a:ln>
                    <a:solidFill>
                      <a:schemeClr val="bg1"/>
                    </a:solidFill>
                    <a:effectLst>
                      <a:outerShdw blurRad="36576" dist="190500" dir="18900000" algn="bl" rotWithShape="0">
                        <a:srgbClr val="6EA3F3">
                          <a:alpha val="50000"/>
                        </a:srgbClr>
                      </a:outerShdw>
                      <a:reflection blurRad="4572" stA="17000" endPos="49000" dir="5400000" sy="-100000" algn="bl" rotWithShape="0"/>
                    </a:effectLst>
                    <a:latin typeface="汉仪元隆黑-105W" panose="00020600040101010101" charset="-122"/>
                    <a:ea typeface="汉仪元隆黑-105W" panose="00020600040101010101" charset="-122"/>
                  </a:rPr>
                  <a:t>4</a:t>
                </a:r>
                <a:endParaRPr lang="en-US" altLang="zh-CN" sz="6000">
                  <a:ln w="20574">
                    <a:solidFill>
                      <a:srgbClr val="5B79FB"/>
                    </a:solidFill>
                  </a:ln>
                  <a:solidFill>
                    <a:schemeClr val="bg1"/>
                  </a:solidFill>
                  <a:effectLst>
                    <a:outerShdw blurRad="36576" dist="190500" dir="18900000" algn="bl" rotWithShape="0">
                      <a:srgbClr val="6EA3F3">
                        <a:alpha val="50000"/>
                      </a:srgbClr>
                    </a:outerShdw>
                    <a:reflection blurRad="4572" stA="17000" endPos="49000" dir="5400000" sy="-100000" algn="bl" rotWithShape="0"/>
                  </a:effectLst>
                  <a:latin typeface="汉仪元隆黑-105W" panose="00020600040101010101" charset="-122"/>
                  <a:ea typeface="汉仪元隆黑-105W" panose="00020600040101010101" charset="-122"/>
                </a:endParaRPr>
              </a:p>
            </p:txBody>
          </p:sp>
          <p:pic>
            <p:nvPicPr>
              <p:cNvPr id="73" name="图片 72"/>
              <p:cNvPicPr/>
              <p:nvPr>
                <p:custDataLst>
                  <p:tags r:id="rId43"/>
                </p:custDataLst>
              </p:nvPr>
            </p:nvPicPr>
            <p:blipFill>
              <a:blip r:embed="rId36"/>
              <a:srcRect l="24752" t="43341" r="33595" b="33151"/>
              <a:stretch>
                <a:fillRect/>
              </a:stretch>
            </p:blipFill>
            <p:spPr>
              <a:xfrm>
                <a:off x="8089" y="4888"/>
                <a:ext cx="2365" cy="14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74" name="直线连接符 13"/>
              <p:cNvCxnSpPr/>
              <p:nvPr>
                <p:custDataLst>
                  <p:tags r:id="rId44"/>
                </p:custDataLst>
              </p:nvPr>
            </p:nvCxnSpPr>
            <p:spPr>
              <a:xfrm flipV="1">
                <a:off x="9421" y="4326"/>
                <a:ext cx="6" cy="430"/>
              </a:xfrm>
              <a:prstGeom prst="line">
                <a:avLst/>
              </a:prstGeom>
              <a:ln w="25400">
                <a:solidFill>
                  <a:srgbClr val="005493"/>
                </a:solidFill>
                <a:head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线连接符 13"/>
              <p:cNvCxnSpPr/>
              <p:nvPr>
                <p:custDataLst>
                  <p:tags r:id="rId45"/>
                </p:custDataLst>
              </p:nvPr>
            </p:nvCxnSpPr>
            <p:spPr>
              <a:xfrm flipV="1">
                <a:off x="9491" y="6340"/>
                <a:ext cx="6" cy="430"/>
              </a:xfrm>
              <a:prstGeom prst="line">
                <a:avLst/>
              </a:prstGeom>
              <a:ln w="25400">
                <a:solidFill>
                  <a:srgbClr val="005493"/>
                </a:solidFill>
                <a:head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Google Shape;7875;p57"/>
              <p:cNvSpPr/>
              <p:nvPr>
                <p:custDataLst>
                  <p:tags r:id="rId46"/>
                </p:custDataLst>
              </p:nvPr>
            </p:nvSpPr>
            <p:spPr>
              <a:xfrm>
                <a:off x="9804" y="7841"/>
                <a:ext cx="434" cy="464"/>
              </a:xfrm>
              <a:custGeom>
                <a:avLst/>
                <a:gdLst/>
                <a:ahLst/>
                <a:cxnLst/>
                <a:rect l="l" t="t" r="r" b="b"/>
                <a:pathLst>
                  <a:path w="12477" h="11792" extrusionOk="0">
                    <a:moveTo>
                      <a:pt x="10845" y="690"/>
                    </a:moveTo>
                    <a:cubicBezTo>
                      <a:pt x="11072" y="690"/>
                      <a:pt x="11264" y="705"/>
                      <a:pt x="11406" y="733"/>
                    </a:cubicBezTo>
                    <a:cubicBezTo>
                      <a:pt x="11469" y="1049"/>
                      <a:pt x="11469" y="1616"/>
                      <a:pt x="11374" y="2246"/>
                    </a:cubicBezTo>
                    <a:lnTo>
                      <a:pt x="9894" y="765"/>
                    </a:lnTo>
                    <a:cubicBezTo>
                      <a:pt x="10240" y="713"/>
                      <a:pt x="10568" y="690"/>
                      <a:pt x="10845" y="690"/>
                    </a:cubicBezTo>
                    <a:close/>
                    <a:moveTo>
                      <a:pt x="9106" y="923"/>
                    </a:moveTo>
                    <a:lnTo>
                      <a:pt x="11280" y="3096"/>
                    </a:lnTo>
                    <a:cubicBezTo>
                      <a:pt x="11185" y="3317"/>
                      <a:pt x="11091" y="3569"/>
                      <a:pt x="10996" y="3789"/>
                    </a:cubicBezTo>
                    <a:lnTo>
                      <a:pt x="8350" y="1143"/>
                    </a:lnTo>
                    <a:cubicBezTo>
                      <a:pt x="8602" y="1049"/>
                      <a:pt x="8822" y="954"/>
                      <a:pt x="9106" y="923"/>
                    </a:cubicBezTo>
                    <a:close/>
                    <a:moveTo>
                      <a:pt x="7720" y="1458"/>
                    </a:moveTo>
                    <a:lnTo>
                      <a:pt x="10618" y="4388"/>
                    </a:lnTo>
                    <a:cubicBezTo>
                      <a:pt x="10555" y="4451"/>
                      <a:pt x="10461" y="4577"/>
                      <a:pt x="10398" y="4672"/>
                    </a:cubicBezTo>
                    <a:cubicBezTo>
                      <a:pt x="10303" y="4766"/>
                      <a:pt x="10240" y="4861"/>
                      <a:pt x="10114" y="4892"/>
                    </a:cubicBezTo>
                    <a:lnTo>
                      <a:pt x="7216" y="1994"/>
                    </a:lnTo>
                    <a:cubicBezTo>
                      <a:pt x="7279" y="1899"/>
                      <a:pt x="7373" y="1773"/>
                      <a:pt x="7436" y="1710"/>
                    </a:cubicBezTo>
                    <a:cubicBezTo>
                      <a:pt x="7531" y="1616"/>
                      <a:pt x="7594" y="1553"/>
                      <a:pt x="7720" y="1458"/>
                    </a:cubicBezTo>
                    <a:close/>
                    <a:moveTo>
                      <a:pt x="6901" y="2655"/>
                    </a:moveTo>
                    <a:lnTo>
                      <a:pt x="9515" y="5270"/>
                    </a:lnTo>
                    <a:cubicBezTo>
                      <a:pt x="9263" y="5365"/>
                      <a:pt x="9011" y="5459"/>
                      <a:pt x="8791" y="5522"/>
                    </a:cubicBezTo>
                    <a:lnTo>
                      <a:pt x="6649" y="3411"/>
                    </a:lnTo>
                    <a:cubicBezTo>
                      <a:pt x="6680" y="3159"/>
                      <a:pt x="6775" y="2876"/>
                      <a:pt x="6901" y="2655"/>
                    </a:cubicBezTo>
                    <a:close/>
                    <a:moveTo>
                      <a:pt x="6491" y="4231"/>
                    </a:moveTo>
                    <a:lnTo>
                      <a:pt x="7877" y="5617"/>
                    </a:lnTo>
                    <a:cubicBezTo>
                      <a:pt x="7638" y="5643"/>
                      <a:pt x="7409" y="5653"/>
                      <a:pt x="7204" y="5653"/>
                    </a:cubicBezTo>
                    <a:cubicBezTo>
                      <a:pt x="6923" y="5653"/>
                      <a:pt x="6686" y="5635"/>
                      <a:pt x="6523" y="5617"/>
                    </a:cubicBezTo>
                    <a:cubicBezTo>
                      <a:pt x="6491" y="5333"/>
                      <a:pt x="6460" y="4829"/>
                      <a:pt x="6491" y="4231"/>
                    </a:cubicBezTo>
                    <a:close/>
                    <a:moveTo>
                      <a:pt x="4982" y="6171"/>
                    </a:moveTo>
                    <a:cubicBezTo>
                      <a:pt x="5371" y="6171"/>
                      <a:pt x="5708" y="6201"/>
                      <a:pt x="5892" y="6247"/>
                    </a:cubicBezTo>
                    <a:cubicBezTo>
                      <a:pt x="5955" y="6499"/>
                      <a:pt x="5987" y="7034"/>
                      <a:pt x="5955" y="7602"/>
                    </a:cubicBezTo>
                    <a:lnTo>
                      <a:pt x="4538" y="6184"/>
                    </a:lnTo>
                    <a:cubicBezTo>
                      <a:pt x="4690" y="6175"/>
                      <a:pt x="4839" y="6171"/>
                      <a:pt x="4982" y="6171"/>
                    </a:cubicBezTo>
                    <a:close/>
                    <a:moveTo>
                      <a:pt x="3719" y="6310"/>
                    </a:moveTo>
                    <a:lnTo>
                      <a:pt x="5829" y="8452"/>
                    </a:lnTo>
                    <a:cubicBezTo>
                      <a:pt x="5798" y="8673"/>
                      <a:pt x="5703" y="8956"/>
                      <a:pt x="5609" y="9177"/>
                    </a:cubicBezTo>
                    <a:lnTo>
                      <a:pt x="2962" y="6562"/>
                    </a:lnTo>
                    <a:cubicBezTo>
                      <a:pt x="3183" y="6436"/>
                      <a:pt x="3435" y="6341"/>
                      <a:pt x="3719" y="6310"/>
                    </a:cubicBezTo>
                    <a:close/>
                    <a:moveTo>
                      <a:pt x="2332" y="6908"/>
                    </a:moveTo>
                    <a:lnTo>
                      <a:pt x="5231" y="9807"/>
                    </a:lnTo>
                    <a:cubicBezTo>
                      <a:pt x="5168" y="9901"/>
                      <a:pt x="5073" y="10027"/>
                      <a:pt x="5010" y="10090"/>
                    </a:cubicBezTo>
                    <a:cubicBezTo>
                      <a:pt x="4916" y="10185"/>
                      <a:pt x="4853" y="10248"/>
                      <a:pt x="4727" y="10342"/>
                    </a:cubicBezTo>
                    <a:lnTo>
                      <a:pt x="1797" y="7412"/>
                    </a:lnTo>
                    <a:cubicBezTo>
                      <a:pt x="1891" y="7349"/>
                      <a:pt x="1954" y="7223"/>
                      <a:pt x="2049" y="7129"/>
                    </a:cubicBezTo>
                    <a:cubicBezTo>
                      <a:pt x="2112" y="7066"/>
                      <a:pt x="2206" y="6971"/>
                      <a:pt x="2332" y="6908"/>
                    </a:cubicBezTo>
                    <a:close/>
                    <a:moveTo>
                      <a:pt x="1450" y="8011"/>
                    </a:moveTo>
                    <a:lnTo>
                      <a:pt x="4097" y="10657"/>
                    </a:lnTo>
                    <a:cubicBezTo>
                      <a:pt x="3908" y="10752"/>
                      <a:pt x="3624" y="10847"/>
                      <a:pt x="3372" y="10910"/>
                    </a:cubicBezTo>
                    <a:lnTo>
                      <a:pt x="1230" y="8767"/>
                    </a:lnTo>
                    <a:cubicBezTo>
                      <a:pt x="1293" y="8515"/>
                      <a:pt x="1387" y="8232"/>
                      <a:pt x="1450" y="8011"/>
                    </a:cubicBezTo>
                    <a:close/>
                    <a:moveTo>
                      <a:pt x="1072" y="9586"/>
                    </a:moveTo>
                    <a:lnTo>
                      <a:pt x="2553" y="11067"/>
                    </a:lnTo>
                    <a:cubicBezTo>
                      <a:pt x="2175" y="11124"/>
                      <a:pt x="1831" y="11135"/>
                      <a:pt x="1534" y="11135"/>
                    </a:cubicBezTo>
                    <a:cubicBezTo>
                      <a:pt x="1337" y="11135"/>
                      <a:pt x="1160" y="11130"/>
                      <a:pt x="1009" y="11130"/>
                    </a:cubicBezTo>
                    <a:cubicBezTo>
                      <a:pt x="978" y="10815"/>
                      <a:pt x="978" y="10216"/>
                      <a:pt x="1072" y="9586"/>
                    </a:cubicBezTo>
                    <a:close/>
                    <a:moveTo>
                      <a:pt x="10872" y="1"/>
                    </a:moveTo>
                    <a:cubicBezTo>
                      <a:pt x="9797" y="1"/>
                      <a:pt x="8028" y="173"/>
                      <a:pt x="6964" y="1238"/>
                    </a:cubicBezTo>
                    <a:cubicBezTo>
                      <a:pt x="6775" y="1427"/>
                      <a:pt x="6617" y="1616"/>
                      <a:pt x="6491" y="1836"/>
                    </a:cubicBezTo>
                    <a:cubicBezTo>
                      <a:pt x="5735" y="3033"/>
                      <a:pt x="5735" y="4703"/>
                      <a:pt x="5829" y="5491"/>
                    </a:cubicBezTo>
                    <a:cubicBezTo>
                      <a:pt x="5619" y="5469"/>
                      <a:pt x="5344" y="5450"/>
                      <a:pt x="5031" y="5450"/>
                    </a:cubicBezTo>
                    <a:cubicBezTo>
                      <a:pt x="3989" y="5450"/>
                      <a:pt x="2521" y="5655"/>
                      <a:pt x="1576" y="6625"/>
                    </a:cubicBezTo>
                    <a:cubicBezTo>
                      <a:pt x="1" y="8200"/>
                      <a:pt x="348" y="11319"/>
                      <a:pt x="379" y="11445"/>
                    </a:cubicBezTo>
                    <a:cubicBezTo>
                      <a:pt x="442" y="11603"/>
                      <a:pt x="568" y="11697"/>
                      <a:pt x="726" y="11760"/>
                    </a:cubicBezTo>
                    <a:cubicBezTo>
                      <a:pt x="757" y="11760"/>
                      <a:pt x="1135" y="11792"/>
                      <a:pt x="1671" y="11792"/>
                    </a:cubicBezTo>
                    <a:cubicBezTo>
                      <a:pt x="2710" y="11792"/>
                      <a:pt x="4443" y="11603"/>
                      <a:pt x="5514" y="10531"/>
                    </a:cubicBezTo>
                    <a:cubicBezTo>
                      <a:pt x="6775" y="9271"/>
                      <a:pt x="6743" y="7192"/>
                      <a:pt x="6649" y="6278"/>
                    </a:cubicBezTo>
                    <a:cubicBezTo>
                      <a:pt x="6869" y="6278"/>
                      <a:pt x="7121" y="6310"/>
                      <a:pt x="7405" y="6310"/>
                    </a:cubicBezTo>
                    <a:cubicBezTo>
                      <a:pt x="8476" y="6310"/>
                      <a:pt x="9925" y="6121"/>
                      <a:pt x="10902" y="5144"/>
                    </a:cubicBezTo>
                    <a:cubicBezTo>
                      <a:pt x="12477" y="3600"/>
                      <a:pt x="12099" y="481"/>
                      <a:pt x="12099" y="355"/>
                    </a:cubicBezTo>
                    <a:cubicBezTo>
                      <a:pt x="12036" y="198"/>
                      <a:pt x="11941" y="103"/>
                      <a:pt x="11784" y="40"/>
                    </a:cubicBezTo>
                    <a:cubicBezTo>
                      <a:pt x="11743" y="40"/>
                      <a:pt x="11387" y="1"/>
                      <a:pt x="10872" y="1"/>
                    </a:cubicBez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8044;p57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01" y="7314"/>
                <a:ext cx="439" cy="451"/>
              </a:xfrm>
              <a:custGeom>
                <a:avLst/>
                <a:gdLst/>
                <a:ahLst/>
                <a:cxnLst/>
                <a:rect l="l" t="t" r="r" b="b"/>
                <a:pathLst>
                  <a:path w="12603" h="11565" extrusionOk="0">
                    <a:moveTo>
                      <a:pt x="9200" y="822"/>
                    </a:moveTo>
                    <a:lnTo>
                      <a:pt x="11311" y="2933"/>
                    </a:lnTo>
                    <a:cubicBezTo>
                      <a:pt x="11279" y="3185"/>
                      <a:pt x="11185" y="3437"/>
                      <a:pt x="11090" y="3689"/>
                    </a:cubicBezTo>
                    <a:lnTo>
                      <a:pt x="8444" y="1074"/>
                    </a:lnTo>
                    <a:cubicBezTo>
                      <a:pt x="8664" y="948"/>
                      <a:pt x="8916" y="853"/>
                      <a:pt x="9200" y="822"/>
                    </a:cubicBezTo>
                    <a:close/>
                    <a:moveTo>
                      <a:pt x="7814" y="1389"/>
                    </a:moveTo>
                    <a:lnTo>
                      <a:pt x="10712" y="4287"/>
                    </a:lnTo>
                    <a:cubicBezTo>
                      <a:pt x="10649" y="4413"/>
                      <a:pt x="10555" y="4476"/>
                      <a:pt x="10492" y="4571"/>
                    </a:cubicBezTo>
                    <a:cubicBezTo>
                      <a:pt x="10397" y="4634"/>
                      <a:pt x="10334" y="4728"/>
                      <a:pt x="10208" y="4791"/>
                    </a:cubicBezTo>
                    <a:lnTo>
                      <a:pt x="7310" y="1893"/>
                    </a:lnTo>
                    <a:cubicBezTo>
                      <a:pt x="7373" y="1798"/>
                      <a:pt x="7467" y="1704"/>
                      <a:pt x="7530" y="1609"/>
                    </a:cubicBezTo>
                    <a:cubicBezTo>
                      <a:pt x="7625" y="1546"/>
                      <a:pt x="7688" y="1452"/>
                      <a:pt x="7814" y="1389"/>
                    </a:cubicBezTo>
                    <a:close/>
                    <a:moveTo>
                      <a:pt x="6994" y="2523"/>
                    </a:moveTo>
                    <a:lnTo>
                      <a:pt x="9609" y="5169"/>
                    </a:lnTo>
                    <a:cubicBezTo>
                      <a:pt x="9389" y="5264"/>
                      <a:pt x="9105" y="5327"/>
                      <a:pt x="8885" y="5390"/>
                    </a:cubicBezTo>
                    <a:lnTo>
                      <a:pt x="6742" y="3279"/>
                    </a:lnTo>
                    <a:cubicBezTo>
                      <a:pt x="6774" y="3027"/>
                      <a:pt x="6868" y="2743"/>
                      <a:pt x="6994" y="2523"/>
                    </a:cubicBezTo>
                    <a:close/>
                    <a:moveTo>
                      <a:pt x="3812" y="6209"/>
                    </a:moveTo>
                    <a:lnTo>
                      <a:pt x="5923" y="8351"/>
                    </a:lnTo>
                    <a:cubicBezTo>
                      <a:pt x="5892" y="8572"/>
                      <a:pt x="5797" y="8855"/>
                      <a:pt x="5671" y="9107"/>
                    </a:cubicBezTo>
                    <a:lnTo>
                      <a:pt x="3056" y="6461"/>
                    </a:lnTo>
                    <a:cubicBezTo>
                      <a:pt x="3277" y="6335"/>
                      <a:pt x="3560" y="6272"/>
                      <a:pt x="3812" y="6209"/>
                    </a:cubicBezTo>
                    <a:close/>
                    <a:moveTo>
                      <a:pt x="2426" y="6776"/>
                    </a:moveTo>
                    <a:lnTo>
                      <a:pt x="5325" y="9675"/>
                    </a:lnTo>
                    <a:cubicBezTo>
                      <a:pt x="5262" y="9801"/>
                      <a:pt x="5167" y="9895"/>
                      <a:pt x="5104" y="9958"/>
                    </a:cubicBezTo>
                    <a:cubicBezTo>
                      <a:pt x="5010" y="10053"/>
                      <a:pt x="4947" y="10116"/>
                      <a:pt x="4821" y="10210"/>
                    </a:cubicBezTo>
                    <a:lnTo>
                      <a:pt x="1891" y="7280"/>
                    </a:lnTo>
                    <a:cubicBezTo>
                      <a:pt x="1985" y="7217"/>
                      <a:pt x="2080" y="7091"/>
                      <a:pt x="2143" y="6997"/>
                    </a:cubicBezTo>
                    <a:cubicBezTo>
                      <a:pt x="2206" y="6934"/>
                      <a:pt x="2300" y="6839"/>
                      <a:pt x="2426" y="6776"/>
                    </a:cubicBezTo>
                    <a:close/>
                    <a:moveTo>
                      <a:pt x="1576" y="7910"/>
                    </a:moveTo>
                    <a:lnTo>
                      <a:pt x="4222" y="10557"/>
                    </a:lnTo>
                    <a:cubicBezTo>
                      <a:pt x="4002" y="10620"/>
                      <a:pt x="3718" y="10714"/>
                      <a:pt x="3466" y="10777"/>
                    </a:cubicBezTo>
                    <a:lnTo>
                      <a:pt x="1355" y="8666"/>
                    </a:lnTo>
                    <a:cubicBezTo>
                      <a:pt x="1387" y="8414"/>
                      <a:pt x="1481" y="8162"/>
                      <a:pt x="1576" y="7910"/>
                    </a:cubicBezTo>
                    <a:close/>
                    <a:moveTo>
                      <a:pt x="10602" y="0"/>
                    </a:moveTo>
                    <a:cubicBezTo>
                      <a:pt x="9383" y="0"/>
                      <a:pt x="7954" y="274"/>
                      <a:pt x="7089" y="1168"/>
                    </a:cubicBezTo>
                    <a:cubicBezTo>
                      <a:pt x="6207" y="2082"/>
                      <a:pt x="5923" y="3500"/>
                      <a:pt x="5923" y="4728"/>
                    </a:cubicBezTo>
                    <a:cubicBezTo>
                      <a:pt x="6238" y="4760"/>
                      <a:pt x="6459" y="4791"/>
                      <a:pt x="6522" y="4791"/>
                    </a:cubicBezTo>
                    <a:lnTo>
                      <a:pt x="6585" y="4791"/>
                    </a:lnTo>
                    <a:lnTo>
                      <a:pt x="6585" y="4130"/>
                    </a:lnTo>
                    <a:lnTo>
                      <a:pt x="7971" y="5516"/>
                    </a:lnTo>
                    <a:cubicBezTo>
                      <a:pt x="7751" y="5532"/>
                      <a:pt x="7540" y="5538"/>
                      <a:pt x="7348" y="5538"/>
                    </a:cubicBezTo>
                    <a:cubicBezTo>
                      <a:pt x="6772" y="5538"/>
                      <a:pt x="6364" y="5484"/>
                      <a:pt x="6364" y="5484"/>
                    </a:cubicBezTo>
                    <a:cubicBezTo>
                      <a:pt x="6314" y="5459"/>
                      <a:pt x="5810" y="5369"/>
                      <a:pt x="5121" y="5369"/>
                    </a:cubicBezTo>
                    <a:cubicBezTo>
                      <a:pt x="4077" y="5369"/>
                      <a:pt x="2606" y="5575"/>
                      <a:pt x="1639" y="6524"/>
                    </a:cubicBezTo>
                    <a:cubicBezTo>
                      <a:pt x="0" y="8162"/>
                      <a:pt x="536" y="11155"/>
                      <a:pt x="567" y="11250"/>
                    </a:cubicBezTo>
                    <a:cubicBezTo>
                      <a:pt x="599" y="11407"/>
                      <a:pt x="725" y="11533"/>
                      <a:pt x="914" y="11533"/>
                    </a:cubicBezTo>
                    <a:lnTo>
                      <a:pt x="1009" y="11533"/>
                    </a:lnTo>
                    <a:cubicBezTo>
                      <a:pt x="1198" y="11502"/>
                      <a:pt x="1324" y="11344"/>
                      <a:pt x="1261" y="11155"/>
                    </a:cubicBezTo>
                    <a:cubicBezTo>
                      <a:pt x="1261" y="11155"/>
                      <a:pt x="1166" y="10399"/>
                      <a:pt x="1229" y="9517"/>
                    </a:cubicBezTo>
                    <a:lnTo>
                      <a:pt x="1229" y="9517"/>
                    </a:lnTo>
                    <a:lnTo>
                      <a:pt x="2615" y="10903"/>
                    </a:lnTo>
                    <a:cubicBezTo>
                      <a:pt x="2447" y="10903"/>
                      <a:pt x="2293" y="10917"/>
                      <a:pt x="2153" y="10917"/>
                    </a:cubicBezTo>
                    <a:cubicBezTo>
                      <a:pt x="2083" y="10917"/>
                      <a:pt x="2017" y="10914"/>
                      <a:pt x="1954" y="10903"/>
                    </a:cubicBezTo>
                    <a:lnTo>
                      <a:pt x="1954" y="10966"/>
                    </a:lnTo>
                    <a:cubicBezTo>
                      <a:pt x="1985" y="11187"/>
                      <a:pt x="1954" y="11407"/>
                      <a:pt x="1859" y="11565"/>
                    </a:cubicBezTo>
                    <a:lnTo>
                      <a:pt x="2048" y="11565"/>
                    </a:lnTo>
                    <a:cubicBezTo>
                      <a:pt x="3277" y="11565"/>
                      <a:pt x="4695" y="11281"/>
                      <a:pt x="5577" y="10399"/>
                    </a:cubicBezTo>
                    <a:cubicBezTo>
                      <a:pt x="6427" y="9517"/>
                      <a:pt x="6742" y="8068"/>
                      <a:pt x="6742" y="6839"/>
                    </a:cubicBezTo>
                    <a:cubicBezTo>
                      <a:pt x="6396" y="6808"/>
                      <a:pt x="6144" y="6776"/>
                      <a:pt x="6112" y="6776"/>
                    </a:cubicBezTo>
                    <a:lnTo>
                      <a:pt x="6049" y="6776"/>
                    </a:lnTo>
                    <a:lnTo>
                      <a:pt x="6049" y="7438"/>
                    </a:lnTo>
                    <a:lnTo>
                      <a:pt x="4663" y="6051"/>
                    </a:lnTo>
                    <a:cubicBezTo>
                      <a:pt x="4876" y="6036"/>
                      <a:pt x="5083" y="6030"/>
                      <a:pt x="5273" y="6030"/>
                    </a:cubicBezTo>
                    <a:cubicBezTo>
                      <a:pt x="5845" y="6030"/>
                      <a:pt x="6270" y="6083"/>
                      <a:pt x="6270" y="6083"/>
                    </a:cubicBezTo>
                    <a:cubicBezTo>
                      <a:pt x="6301" y="6083"/>
                      <a:pt x="6837" y="6178"/>
                      <a:pt x="7499" y="6178"/>
                    </a:cubicBezTo>
                    <a:cubicBezTo>
                      <a:pt x="8727" y="6178"/>
                      <a:pt x="10145" y="5862"/>
                      <a:pt x="10996" y="4980"/>
                    </a:cubicBezTo>
                    <a:cubicBezTo>
                      <a:pt x="12602" y="3374"/>
                      <a:pt x="12098" y="381"/>
                      <a:pt x="12067" y="255"/>
                    </a:cubicBezTo>
                    <a:cubicBezTo>
                      <a:pt x="12035" y="160"/>
                      <a:pt x="11878" y="34"/>
                      <a:pt x="11657" y="34"/>
                    </a:cubicBezTo>
                    <a:cubicBezTo>
                      <a:pt x="11468" y="66"/>
                      <a:pt x="11342" y="223"/>
                      <a:pt x="11405" y="444"/>
                    </a:cubicBezTo>
                    <a:cubicBezTo>
                      <a:pt x="11405" y="444"/>
                      <a:pt x="11531" y="1168"/>
                      <a:pt x="11437" y="2050"/>
                    </a:cubicBezTo>
                    <a:lnTo>
                      <a:pt x="10050" y="664"/>
                    </a:lnTo>
                    <a:cubicBezTo>
                      <a:pt x="10218" y="664"/>
                      <a:pt x="10373" y="650"/>
                      <a:pt x="10513" y="650"/>
                    </a:cubicBezTo>
                    <a:cubicBezTo>
                      <a:pt x="10583" y="650"/>
                      <a:pt x="10649" y="654"/>
                      <a:pt x="10712" y="664"/>
                    </a:cubicBezTo>
                    <a:lnTo>
                      <a:pt x="10712" y="601"/>
                    </a:lnTo>
                    <a:cubicBezTo>
                      <a:pt x="10681" y="381"/>
                      <a:pt x="10712" y="160"/>
                      <a:pt x="10807" y="3"/>
                    </a:cubicBezTo>
                    <a:cubicBezTo>
                      <a:pt x="10739" y="1"/>
                      <a:pt x="10671" y="0"/>
                      <a:pt x="10602" y="0"/>
                    </a:cubicBezTo>
                    <a:close/>
                  </a:path>
                </a:pathLst>
              </a:cu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弧形 78"/>
              <p:cNvSpPr/>
              <p:nvPr>
                <p:custDataLst>
                  <p:tags r:id="rId48"/>
                </p:custDataLst>
              </p:nvPr>
            </p:nvSpPr>
            <p:spPr>
              <a:xfrm rot="9780000" flipV="1">
                <a:off x="9143" y="7459"/>
                <a:ext cx="1092" cy="692"/>
              </a:xfrm>
              <a:prstGeom prst="arc">
                <a:avLst>
                  <a:gd name="adj1" fmla="val 16200000"/>
                  <a:gd name="adj2" fmla="val 5086244"/>
                </a:avLst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文本框 79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10100" y="7252"/>
                <a:ext cx="893" cy="3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900" b="1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RNA</a:t>
                </a:r>
                <a:endParaRPr lang="en-US" altLang="zh-CN" sz="900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10238" y="7748"/>
                <a:ext cx="911" cy="3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900" b="1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DNA</a:t>
                </a:r>
                <a:endParaRPr lang="en-US" altLang="zh-CN" sz="900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pic>
            <p:nvPicPr>
              <p:cNvPr id="82" name="图片 81"/>
              <p:cNvPicPr>
                <a:picLocks noChangeAspect="1"/>
              </p:cNvPicPr>
              <p:nvPr>
                <p:custDataLst>
                  <p:tags r:id="rId51"/>
                </p:custDataLst>
              </p:nvPr>
            </p:nvPicPr>
            <p:blipFill>
              <a:blip r:embed="rId52"/>
              <a:srcRect l="62380" t="16546" r="185" b="53023"/>
              <a:stretch>
                <a:fillRect/>
              </a:stretch>
            </p:blipFill>
            <p:spPr>
              <a:xfrm>
                <a:off x="11935" y="3113"/>
                <a:ext cx="1671" cy="1380"/>
              </a:xfrm>
              <a:prstGeom prst="snip2DiagRect">
                <a:avLst/>
              </a:prstGeom>
              <a:noFill/>
              <a:ln w="9525">
                <a:noFill/>
              </a:ln>
            </p:spPr>
          </p:pic>
          <p:pic>
            <p:nvPicPr>
              <p:cNvPr id="100" name="图片 99"/>
              <p:cNvPicPr>
                <a:picLocks noChangeAspect="1"/>
              </p:cNvPicPr>
              <p:nvPr>
                <p:custDataLst>
                  <p:tags r:id="rId53"/>
                </p:custDataLst>
              </p:nvPr>
            </p:nvPicPr>
            <p:blipFill>
              <a:blip r:embed="rId36"/>
              <a:srcRect l="65188" t="55026" b="18060"/>
              <a:stretch>
                <a:fillRect/>
              </a:stretch>
            </p:blipFill>
            <p:spPr>
              <a:xfrm>
                <a:off x="11856" y="5058"/>
                <a:ext cx="2025" cy="16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101" name="直线连接符 13"/>
              <p:cNvCxnSpPr/>
              <p:nvPr>
                <p:custDataLst>
                  <p:tags r:id="rId54"/>
                </p:custDataLst>
              </p:nvPr>
            </p:nvCxnSpPr>
            <p:spPr>
              <a:xfrm flipV="1">
                <a:off x="12794" y="4735"/>
                <a:ext cx="6" cy="430"/>
              </a:xfrm>
              <a:prstGeom prst="line">
                <a:avLst/>
              </a:prstGeom>
              <a:ln w="25400">
                <a:solidFill>
                  <a:srgbClr val="005493"/>
                </a:solidFill>
                <a:head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" name="图片 101"/>
              <p:cNvPicPr>
                <a:picLocks noChangeAspect="1"/>
              </p:cNvPicPr>
              <p:nvPr>
                <p:custDataLst>
                  <p:tags r:id="rId55"/>
                </p:custDataLst>
              </p:nvPr>
            </p:nvPicPr>
            <p:blipFill>
              <a:blip r:embed="rId56"/>
              <a:srcRect l="52139" t="35097" r="7334" b="49383"/>
              <a:stretch>
                <a:fillRect/>
              </a:stretch>
            </p:blipFill>
            <p:spPr>
              <a:xfrm>
                <a:off x="11649" y="7118"/>
                <a:ext cx="2355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03" name="图片 102"/>
              <p:cNvPicPr>
                <a:picLocks noChangeAspect="1"/>
              </p:cNvPicPr>
              <p:nvPr>
                <p:custDataLst>
                  <p:tags r:id="rId57"/>
                </p:custDataLst>
              </p:nvPr>
            </p:nvPicPr>
            <p:blipFill>
              <a:blip r:embed="rId58"/>
              <a:srcRect l="48545" t="57002" r="6429" b="5996"/>
              <a:stretch>
                <a:fillRect/>
              </a:stretch>
            </p:blipFill>
            <p:spPr>
              <a:xfrm>
                <a:off x="15458" y="7372"/>
                <a:ext cx="1702" cy="104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04" name="图片 103"/>
              <p:cNvPicPr>
                <a:picLocks noChangeAspect="1"/>
              </p:cNvPicPr>
              <p:nvPr>
                <p:custDataLst>
                  <p:tags r:id="rId59"/>
                </p:custDataLst>
              </p:nvPr>
            </p:nvPicPr>
            <p:blipFill>
              <a:blip r:embed="rId58"/>
              <a:srcRect l="-423" t="57002" r="56005" b="6561"/>
              <a:stretch>
                <a:fillRect/>
              </a:stretch>
            </p:blipFill>
            <p:spPr>
              <a:xfrm>
                <a:off x="15458" y="6166"/>
                <a:ext cx="1679" cy="103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" name="图片 132"/>
              <p:cNvPicPr>
                <a:picLocks noChangeAspect="1"/>
              </p:cNvPicPr>
              <p:nvPr>
                <p:custDataLst>
                  <p:tags r:id="rId60"/>
                </p:custDataLst>
              </p:nvPr>
            </p:nvPicPr>
            <p:blipFill>
              <a:blip r:embed="rId58"/>
              <a:srcRect t="16226" r="55582" b="44903"/>
              <a:stretch>
                <a:fillRect/>
              </a:stretch>
            </p:blipFill>
            <p:spPr>
              <a:xfrm>
                <a:off x="15458" y="3657"/>
                <a:ext cx="1679" cy="1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4" name="图片 133"/>
              <p:cNvPicPr>
                <a:picLocks noChangeAspect="1"/>
              </p:cNvPicPr>
              <p:nvPr>
                <p:custDataLst>
                  <p:tags r:id="rId61"/>
                </p:custDataLst>
              </p:nvPr>
            </p:nvPicPr>
            <p:blipFill>
              <a:blip r:embed="rId58"/>
              <a:srcRect l="48677" t="15520" r="6270" b="45820"/>
              <a:stretch>
                <a:fillRect/>
              </a:stretch>
            </p:blipFill>
            <p:spPr>
              <a:xfrm>
                <a:off x="15458" y="4912"/>
                <a:ext cx="1703" cy="109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5" name="图片 134"/>
              <p:cNvPicPr>
                <a:picLocks noChangeAspect="1"/>
              </p:cNvPicPr>
              <p:nvPr>
                <p:custDataLst>
                  <p:tags r:id="rId62"/>
                </p:custDataLst>
              </p:nvPr>
            </p:nvPicPr>
            <p:blipFill>
              <a:blip r:embed="rId58"/>
              <a:srcRect r="10476" b="85115"/>
              <a:stretch>
                <a:fillRect/>
              </a:stretch>
            </p:blipFill>
            <p:spPr>
              <a:xfrm>
                <a:off x="14616" y="2802"/>
                <a:ext cx="3384" cy="42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36" name="箭头: 右 24"/>
            <p:cNvSpPr/>
            <p:nvPr>
              <p:custDataLst>
                <p:tags r:id="rId63"/>
              </p:custDataLst>
            </p:nvPr>
          </p:nvSpPr>
          <p:spPr>
            <a:xfrm>
              <a:off x="6934" y="9983"/>
              <a:ext cx="1254" cy="362"/>
            </a:xfrm>
            <a:prstGeom prst="rightArrow">
              <a:avLst>
                <a:gd name="adj1" fmla="val 50000"/>
                <a:gd name="adj2" fmla="val 111405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rgbClr val="122E6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箭头: 右 24"/>
            <p:cNvSpPr/>
            <p:nvPr>
              <p:custDataLst>
                <p:tags r:id="rId64"/>
              </p:custDataLst>
            </p:nvPr>
          </p:nvSpPr>
          <p:spPr>
            <a:xfrm>
              <a:off x="10381" y="9983"/>
              <a:ext cx="1254" cy="362"/>
            </a:xfrm>
            <a:prstGeom prst="rightArrow">
              <a:avLst>
                <a:gd name="adj1" fmla="val 50000"/>
                <a:gd name="adj2" fmla="val 111405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rgbClr val="122E6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箭头: 右 24"/>
            <p:cNvSpPr/>
            <p:nvPr>
              <p:custDataLst>
                <p:tags r:id="rId65"/>
              </p:custDataLst>
            </p:nvPr>
          </p:nvSpPr>
          <p:spPr>
            <a:xfrm>
              <a:off x="13879" y="9947"/>
              <a:ext cx="1254" cy="362"/>
            </a:xfrm>
            <a:prstGeom prst="rightArrow">
              <a:avLst>
                <a:gd name="adj1" fmla="val 50000"/>
                <a:gd name="adj2" fmla="val 111405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rgbClr val="122E6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6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697230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12" name="组合 11"/>
          <p:cNvGrpSpPr/>
          <p:nvPr/>
        </p:nvGrpSpPr>
        <p:grpSpPr>
          <a:xfrm>
            <a:off x="2825750" y="1075055"/>
            <a:ext cx="8380095" cy="2271395"/>
            <a:chOff x="4165" y="1693"/>
            <a:chExt cx="13197" cy="3577"/>
          </a:xfrm>
        </p:grpSpPr>
        <p:grpSp>
          <p:nvGrpSpPr>
            <p:cNvPr id="14" name="组合 13"/>
            <p:cNvGrpSpPr/>
            <p:nvPr/>
          </p:nvGrpSpPr>
          <p:grpSpPr>
            <a:xfrm>
              <a:off x="5196" y="1693"/>
              <a:ext cx="12166" cy="3577"/>
              <a:chOff x="3951" y="2976"/>
              <a:chExt cx="14681" cy="4555"/>
            </a:xfrm>
          </p:grpSpPr>
          <p:pic>
            <p:nvPicPr>
              <p:cNvPr id="22" name="图片 1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8321" y="3995"/>
                <a:ext cx="6984" cy="24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" name="矩形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3951" y="4714"/>
                <a:ext cx="4028" cy="1015"/>
              </a:xfrm>
              <a:prstGeom prst="rect">
                <a:avLst/>
              </a:prstGeom>
              <a:ln w="38100">
                <a:solidFill>
                  <a:srgbClr val="D20A0A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1.接种细胞于</a:t>
                </a:r>
                <a:r>
                  <a:rPr lang="en-US" altLang="zh-CN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24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孔板中，在37℃，5% CO</a:t>
                </a:r>
                <a:r>
                  <a:rPr lang="zh-CN" altLang="en-US" sz="1000" b="1" baseline="-25000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培养箱中过夜培养。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9"/>
                </p:custDataLst>
              </p:nvPr>
            </p:nvSpPr>
            <p:spPr>
              <a:xfrm>
                <a:off x="8239" y="2976"/>
                <a:ext cx="2553" cy="918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2.弃培养液，并用</a:t>
                </a:r>
                <a:r>
                  <a:rPr lang="en-US" altLang="zh-CN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PBS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洗涤细胞3次。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0" name="矩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15535" y="4882"/>
                <a:ext cx="3097" cy="918"/>
              </a:xfrm>
              <a:prstGeom prst="rect">
                <a:avLst/>
              </a:prstGeom>
              <a:ln w="38100">
                <a:solidFill>
                  <a:srgbClr val="D20A0A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4.去除培养基，用HBSS清洗</a:t>
                </a:r>
                <a:r>
                  <a:rPr lang="en-US" altLang="zh-CN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次。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519" y="6598"/>
                <a:ext cx="4128" cy="918"/>
              </a:xfrm>
              <a:prstGeom prst="rect">
                <a:avLst/>
              </a:prstGeom>
              <a:ln w="38100">
                <a:solidFill>
                  <a:srgbClr val="D20A0A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5.加1 μmol/l的FerroOrange工作液，在37℃孵育箱中培养</a:t>
                </a:r>
                <a:r>
                  <a:rPr lang="en-US" altLang="zh-CN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0分钟。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2345" y="3008"/>
                <a:ext cx="3548" cy="918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3.换含药培养基，在37℃，5% CO</a:t>
                </a:r>
                <a:r>
                  <a:rPr lang="zh-CN" altLang="en-US" sz="1000" b="1" baseline="-25000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培养箱中培养。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4" name="圆角右箭头 43"/>
              <p:cNvSpPr/>
              <p:nvPr>
                <p:custDataLst>
                  <p:tags r:id="rId13"/>
                </p:custDataLst>
              </p:nvPr>
            </p:nvSpPr>
            <p:spPr>
              <a:xfrm>
                <a:off x="5870" y="3096"/>
                <a:ext cx="2323" cy="1457"/>
              </a:xfrm>
              <a:prstGeom prst="bentArrow">
                <a:avLst/>
              </a:prstGeom>
              <a:solidFill>
                <a:srgbClr val="D20A0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矩形 44"/>
              <p:cNvSpPr/>
              <p:nvPr>
                <p:custDataLst>
                  <p:tags r:id="rId14"/>
                </p:custDataLst>
              </p:nvPr>
            </p:nvSpPr>
            <p:spPr>
              <a:xfrm>
                <a:off x="7572" y="6613"/>
                <a:ext cx="2692" cy="918"/>
              </a:xfrm>
              <a:prstGeom prst="rect">
                <a:avLst/>
              </a:prstGeom>
              <a:ln w="38100">
                <a:solidFill>
                  <a:srgbClr val="D20A0A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1000" b="1">
                    <a:solidFill>
                      <a:srgbClr val="D20A0A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6.在荧光显微镜下观察细胞。</a:t>
                </a:r>
                <a:endParaRPr lang="zh-CN" altLang="en-US" sz="1000" b="1">
                  <a:solidFill>
                    <a:srgbClr val="D20A0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6" name="右箭头 45"/>
              <p:cNvSpPr/>
              <p:nvPr>
                <p:custDataLst>
                  <p:tags r:id="rId15"/>
                </p:custDataLst>
              </p:nvPr>
            </p:nvSpPr>
            <p:spPr>
              <a:xfrm>
                <a:off x="10914" y="3079"/>
                <a:ext cx="1378" cy="800"/>
              </a:xfrm>
              <a:prstGeom prst="rightArrow">
                <a:avLst/>
              </a:prstGeom>
              <a:solidFill>
                <a:srgbClr val="D20A0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圆角右箭头 49"/>
              <p:cNvSpPr/>
              <p:nvPr>
                <p:custDataLst>
                  <p:tags r:id="rId16"/>
                </p:custDataLst>
              </p:nvPr>
            </p:nvSpPr>
            <p:spPr>
              <a:xfrm rot="5400000">
                <a:off x="15978" y="3323"/>
                <a:ext cx="1523" cy="1356"/>
              </a:xfrm>
              <a:prstGeom prst="bentArrow">
                <a:avLst>
                  <a:gd name="adj1" fmla="val 32411"/>
                  <a:gd name="adj2" fmla="val 25000"/>
                  <a:gd name="adj3" fmla="val 25000"/>
                  <a:gd name="adj4" fmla="val 43750"/>
                </a:avLst>
              </a:prstGeom>
              <a:solidFill>
                <a:srgbClr val="D20A0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圆角右箭头 61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15796" y="6031"/>
                <a:ext cx="1523" cy="1356"/>
              </a:xfrm>
              <a:prstGeom prst="bentArrow">
                <a:avLst>
                  <a:gd name="adj1" fmla="val 32411"/>
                  <a:gd name="adj2" fmla="val 25000"/>
                  <a:gd name="adj3" fmla="val 25000"/>
                  <a:gd name="adj4" fmla="val 43750"/>
                </a:avLst>
              </a:prstGeom>
              <a:solidFill>
                <a:srgbClr val="D20A0A"/>
              </a:solidFill>
              <a:ln>
                <a:solidFill>
                  <a:srgbClr val="D20A0A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右箭头 62"/>
              <p:cNvSpPr/>
              <p:nvPr>
                <p:custDataLst>
                  <p:tags r:id="rId18"/>
                </p:custDataLst>
              </p:nvPr>
            </p:nvSpPr>
            <p:spPr>
              <a:xfrm rot="10800000">
                <a:off x="10328" y="6731"/>
                <a:ext cx="1107" cy="800"/>
              </a:xfrm>
              <a:prstGeom prst="rightArrow">
                <a:avLst/>
              </a:prstGeom>
              <a:solidFill>
                <a:srgbClr val="D20A0A"/>
              </a:solidFill>
              <a:ln>
                <a:solidFill>
                  <a:srgbClr val="D20A0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4165" y="4458"/>
              <a:ext cx="3871" cy="726"/>
              <a:chOff x="3871" y="7224"/>
              <a:chExt cx="3871" cy="726"/>
            </a:xfrm>
          </p:grpSpPr>
          <p:sp>
            <p:nvSpPr>
              <p:cNvPr id="65" name="同侧圆角矩形 64"/>
              <p:cNvSpPr/>
              <p:nvPr>
                <p:custDataLst>
                  <p:tags r:id="rId19"/>
                </p:custDataLst>
              </p:nvPr>
            </p:nvSpPr>
            <p:spPr>
              <a:xfrm rot="5400000">
                <a:off x="4947" y="6227"/>
                <a:ext cx="726" cy="271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0000"/>
              </a:solidFill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3871" y="7339"/>
                <a:ext cx="387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spc="209">
                    <a:uFillTx/>
                    <a:sym typeface="+mn-ea"/>
                  </a:rPr>
                  <a:t>Fe</a:t>
                </a:r>
                <a:r>
                  <a:rPr lang="en-US" altLang="zh-CN" sz="1400" b="1" spc="209" baseline="30000">
                    <a:uFillTx/>
                    <a:sym typeface="+mn-ea"/>
                  </a:rPr>
                  <a:t>2+</a:t>
                </a:r>
                <a:r>
                  <a:rPr lang="en-US" altLang="zh-CN" sz="1400" b="1" spc="209">
                    <a:uFillTx/>
                    <a:sym typeface="+mn-ea"/>
                  </a:rPr>
                  <a:t>荧光探针</a:t>
                </a:r>
                <a:endParaRPr lang="en-US" altLang="zh-CN" sz="1400" b="1" spc="209">
                  <a:uFillTx/>
                  <a:sym typeface="+mn-ea"/>
                </a:endParaRPr>
              </a:p>
            </p:txBody>
          </p:sp>
        </p:grpSp>
      </p:grpSp>
      <p:grpSp>
        <p:nvGrpSpPr>
          <p:cNvPr id="67" name="组合 66"/>
          <p:cNvGrpSpPr/>
          <p:nvPr/>
        </p:nvGrpSpPr>
        <p:grpSpPr>
          <a:xfrm>
            <a:off x="2870200" y="3796030"/>
            <a:ext cx="8393430" cy="2467209"/>
            <a:chOff x="4145" y="5978"/>
            <a:chExt cx="13218" cy="3885"/>
          </a:xfrm>
        </p:grpSpPr>
        <p:grpSp>
          <p:nvGrpSpPr>
            <p:cNvPr id="68" name="组合 67"/>
            <p:cNvGrpSpPr/>
            <p:nvPr/>
          </p:nvGrpSpPr>
          <p:grpSpPr>
            <a:xfrm>
              <a:off x="4145" y="8865"/>
              <a:ext cx="3871" cy="937"/>
              <a:chOff x="3871" y="7224"/>
              <a:chExt cx="3871" cy="937"/>
            </a:xfrm>
          </p:grpSpPr>
          <p:sp>
            <p:nvSpPr>
              <p:cNvPr id="69" name="同侧圆角矩形 68"/>
              <p:cNvSpPr/>
              <p:nvPr>
                <p:custDataLst>
                  <p:tags r:id="rId21"/>
                </p:custDataLst>
              </p:nvPr>
            </p:nvSpPr>
            <p:spPr>
              <a:xfrm rot="5400000">
                <a:off x="5068" y="6107"/>
                <a:ext cx="726" cy="2960"/>
              </a:xfrm>
              <a:prstGeom prst="round2SameRect">
                <a:avLst>
                  <a:gd name="adj1" fmla="val 45523"/>
                  <a:gd name="adj2" fmla="val 0"/>
                </a:avLst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871" y="7339"/>
                <a:ext cx="3871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spc="209">
                    <a:uFillTx/>
                    <a:sym typeface="+mn-ea"/>
                  </a:rPr>
                  <a:t>ROS荧光探针</a:t>
                </a:r>
                <a:endParaRPr lang="en-US" altLang="zh-CN" sz="1400" b="1" spc="209">
                  <a:solidFill>
                    <a:schemeClr val="tx1"/>
                  </a:solidFill>
                  <a:uFillTx/>
                </a:endParaRPr>
              </a:p>
              <a:p>
                <a:endParaRPr lang="en-US" altLang="zh-CN" sz="1400" b="1" spc="209">
                  <a:uFillTx/>
                  <a:sym typeface="+mn-ea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5136" y="5978"/>
              <a:ext cx="12227" cy="3885"/>
              <a:chOff x="4995" y="5890"/>
              <a:chExt cx="12449" cy="4368"/>
            </a:xfrm>
          </p:grpSpPr>
          <p:pic>
            <p:nvPicPr>
              <p:cNvPr id="72" name="图片 71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24"/>
              <a:srcRect t="20737" b="30787"/>
              <a:stretch>
                <a:fillRect/>
              </a:stretch>
            </p:blipFill>
            <p:spPr>
              <a:xfrm>
                <a:off x="8969" y="6784"/>
                <a:ext cx="5132" cy="243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73" name="组合 72"/>
              <p:cNvGrpSpPr/>
              <p:nvPr/>
            </p:nvGrpSpPr>
            <p:grpSpPr>
              <a:xfrm>
                <a:off x="4995" y="5890"/>
                <a:ext cx="12449" cy="4368"/>
                <a:chOff x="3951" y="2976"/>
                <a:chExt cx="14789" cy="5158"/>
              </a:xfrm>
            </p:grpSpPr>
            <p:sp>
              <p:nvSpPr>
                <p:cNvPr id="74" name="矩形 73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951" y="4714"/>
                  <a:ext cx="4028" cy="1015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1.接种细胞于24孔板中，在37℃，5% CO</a:t>
                  </a:r>
                  <a:r>
                    <a:rPr lang="zh-CN" altLang="en-US" sz="1000" b="1" baseline="-25000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2</a:t>
                  </a: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培养箱中过夜培养。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5" name="矩形 74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8239" y="2976"/>
                  <a:ext cx="2553" cy="918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2.</a:t>
                  </a: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弃培养液，并用PBS洗涤细胞3次。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6" name="矩形 75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5465" y="4708"/>
                  <a:ext cx="3275" cy="1160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buClrTx/>
                    <a:buSzTx/>
                    <a:buFontTx/>
                  </a:pP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4.去除培养基，用缓冲液洗涤</a:t>
                  </a:r>
                  <a:r>
                    <a:rPr lang="en-US" altLang="zh-CN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</a:t>
                  </a: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次。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7" name="矩形 76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1519" y="7012"/>
                  <a:ext cx="4128" cy="1082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buClrTx/>
                    <a:buSzTx/>
                    <a:buFontTx/>
                  </a:pP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5.</a:t>
                  </a:r>
                  <a:r>
                    <a:rPr lang="zh-CN" altLang="en-US" sz="1000" b="1">
                      <a:solidFill>
                        <a:srgbClr val="D20A0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.</a:t>
                  </a: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加10 μmol/l的DCFH-DA工作液，在37℃孵育箱中培养20分钟。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8" name="矩形 77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2345" y="3008"/>
                  <a:ext cx="3548" cy="918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buClrTx/>
                    <a:buSzTx/>
                    <a:buFontTx/>
                  </a:pP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3.换含药培养基，在37℃，5% CO</a:t>
                  </a:r>
                  <a:r>
                    <a:rPr lang="zh-CN" altLang="en-US" sz="1000" b="1" baseline="-25000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2</a:t>
                  </a: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培养箱中培养。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9" name="圆角右箭头 78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5870" y="3096"/>
                  <a:ext cx="2323" cy="1457"/>
                </a:xfrm>
                <a:prstGeom prst="bentArrow">
                  <a:avLst/>
                </a:prstGeom>
                <a:solidFill>
                  <a:srgbClr val="007434"/>
                </a:solidFill>
                <a:ln>
                  <a:solidFill>
                    <a:srgbClr val="007434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矩形 79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7202" y="7026"/>
                  <a:ext cx="3063" cy="1108"/>
                </a:xfrm>
                <a:prstGeom prst="rect">
                  <a:avLst/>
                </a:prstGeom>
                <a:ln w="38100">
                  <a:solidFill>
                    <a:srgbClr val="007434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buClrTx/>
                    <a:buSzTx/>
                    <a:buFontTx/>
                  </a:pPr>
                  <a:r>
                    <a:rPr lang="zh-CN" altLang="en-US" sz="1000" b="1">
                      <a:solidFill>
                        <a:srgbClr val="007F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6. 去工作液，使用缓冲液清洗后，在显微镜下观察。</a:t>
                  </a:r>
                  <a:endParaRPr lang="zh-CN" altLang="en-US" sz="1000" b="1">
                    <a:solidFill>
                      <a:srgbClr val="007F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1" name="右箭头 8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14" y="3079"/>
                  <a:ext cx="1378" cy="800"/>
                </a:xfrm>
                <a:prstGeom prst="rightArrow">
                  <a:avLst/>
                </a:prstGeom>
                <a:solidFill>
                  <a:srgbClr val="007434"/>
                </a:solidFill>
                <a:ln>
                  <a:solidFill>
                    <a:srgbClr val="0074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82" name="圆角右箭头 81"/>
                <p:cNvSpPr/>
                <p:nvPr>
                  <p:custDataLst>
                    <p:tags r:id="rId33"/>
                  </p:custDataLst>
                </p:nvPr>
              </p:nvSpPr>
              <p:spPr>
                <a:xfrm rot="5400000">
                  <a:off x="16051" y="3192"/>
                  <a:ext cx="1308" cy="1358"/>
                </a:xfrm>
                <a:prstGeom prst="bentArrow">
                  <a:avLst>
                    <a:gd name="adj1" fmla="val 41894"/>
                    <a:gd name="adj2" fmla="val 23622"/>
                    <a:gd name="adj3" fmla="val 25000"/>
                    <a:gd name="adj4" fmla="val 43750"/>
                  </a:avLst>
                </a:prstGeom>
                <a:solidFill>
                  <a:srgbClr val="007434"/>
                </a:solidFill>
                <a:ln>
                  <a:solidFill>
                    <a:srgbClr val="007434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圆角右箭头 82"/>
                <p:cNvSpPr/>
                <p:nvPr>
                  <p:custDataLst>
                    <p:tags r:id="rId34"/>
                  </p:custDataLst>
                </p:nvPr>
              </p:nvSpPr>
              <p:spPr>
                <a:xfrm rot="10800000">
                  <a:off x="15832" y="6071"/>
                  <a:ext cx="1523" cy="1731"/>
                </a:xfrm>
                <a:prstGeom prst="bentArrow">
                  <a:avLst>
                    <a:gd name="adj1" fmla="val 32411"/>
                    <a:gd name="adj2" fmla="val 25000"/>
                    <a:gd name="adj3" fmla="val 25000"/>
                    <a:gd name="adj4" fmla="val 43750"/>
                  </a:avLst>
                </a:prstGeom>
                <a:solidFill>
                  <a:srgbClr val="007434"/>
                </a:solidFill>
                <a:ln>
                  <a:solidFill>
                    <a:srgbClr val="007434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右箭头 83"/>
                <p:cNvSpPr/>
                <p:nvPr>
                  <p:custDataLst>
                    <p:tags r:id="rId35"/>
                  </p:custDataLst>
                </p:nvPr>
              </p:nvSpPr>
              <p:spPr>
                <a:xfrm rot="10800000">
                  <a:off x="10328" y="7145"/>
                  <a:ext cx="1107" cy="800"/>
                </a:xfrm>
                <a:prstGeom prst="rightArrow">
                  <a:avLst/>
                </a:prstGeom>
                <a:solidFill>
                  <a:srgbClr val="007434"/>
                </a:solidFill>
                <a:ln>
                  <a:solidFill>
                    <a:srgbClr val="0074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</p:grpSp>
        </p:grpSp>
      </p:grpSp>
      <p:grpSp>
        <p:nvGrpSpPr>
          <p:cNvPr id="85" name="组合 84"/>
          <p:cNvGrpSpPr/>
          <p:nvPr/>
        </p:nvGrpSpPr>
        <p:grpSpPr>
          <a:xfrm>
            <a:off x="2214880" y="159485"/>
            <a:ext cx="8857615" cy="829923"/>
            <a:chOff x="4160" y="245"/>
            <a:chExt cx="13949" cy="1586"/>
          </a:xfrm>
        </p:grpSpPr>
        <p:sp>
          <p:nvSpPr>
            <p:cNvPr id="86" name="同侧圆角矩形 85"/>
            <p:cNvSpPr/>
            <p:nvPr>
              <p:custDataLst>
                <p:tags r:id="rId3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7" name="文本框 86"/>
            <p:cNvSpPr txBox="1"/>
            <p:nvPr>
              <p:custDataLst>
                <p:tags r:id="rId37"/>
              </p:custDataLst>
            </p:nvPr>
          </p:nvSpPr>
          <p:spPr>
            <a:xfrm>
              <a:off x="4486" y="245"/>
              <a:ext cx="13623" cy="1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3.6   Fe</a:t>
              </a:r>
              <a:r>
                <a:rPr lang="en-US" altLang="zh-CN" sz="2400" b="1" spc="209" baseline="3000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2+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荧光探针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和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ROS</a:t>
              </a:r>
              <a:r>
                <a:rPr lang="en-US" altLang="zh-CN" sz="2400" b="1" spc="209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荧光探针</a:t>
              </a:r>
              <a:endParaRPr lang="en-US" altLang="zh-CN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  <a:p>
              <a:endParaRPr lang="en-US" altLang="zh-CN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3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697230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1816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pSp>
        <p:nvGrpSpPr>
          <p:cNvPr id="14" name="组合 13"/>
          <p:cNvGrpSpPr/>
          <p:nvPr/>
        </p:nvGrpSpPr>
        <p:grpSpPr>
          <a:xfrm>
            <a:off x="2225040" y="159485"/>
            <a:ext cx="4271010" cy="479325"/>
            <a:chOff x="4160" y="245"/>
            <a:chExt cx="6726" cy="916"/>
          </a:xfrm>
        </p:grpSpPr>
        <p:sp>
          <p:nvSpPr>
            <p:cNvPr id="12" name="同侧圆角矩形 1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>
              <p:custDataLst>
                <p:tags r:id="rId7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3.7   免疫荧光</a:t>
              </a:r>
              <a:endParaRPr lang="en-US" altLang="zh-CN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26" name="图片 6" descr="IMG_25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18510" y="619760"/>
            <a:ext cx="7588885" cy="442849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8" name="图示 37"/>
          <p:cNvGraphicFramePr/>
          <p:nvPr>
            <p:custDataLst>
              <p:tags r:id="rId10"/>
            </p:custDataLst>
          </p:nvPr>
        </p:nvGraphicFramePr>
        <p:xfrm>
          <a:off x="2641599" y="5405755"/>
          <a:ext cx="9175115" cy="1097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40" name="图片 3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8281" r="16326"/>
          <a:stretch>
            <a:fillRect/>
          </a:stretch>
        </p:blipFill>
        <p:spPr>
          <a:xfrm>
            <a:off x="2641599" y="5399877"/>
            <a:ext cx="1195963" cy="1097915"/>
          </a:xfrm>
          <a:prstGeom prst="ellipse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9612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339153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研究过程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/>
              <a:t>研究结果</a:t>
            </a:r>
            <a:endParaRPr lang="zh-CN" altLang="en-US" sz="2400" b="1"/>
          </a:p>
        </p:txBody>
      </p:sp>
      <p:graphicFrame>
        <p:nvGraphicFramePr>
          <p:cNvPr id="3" name="图示 2"/>
          <p:cNvGraphicFramePr/>
          <p:nvPr>
            <p:custDataLst>
              <p:tags r:id="rId6"/>
            </p:custDataLst>
          </p:nvPr>
        </p:nvGraphicFramePr>
        <p:xfrm>
          <a:off x="3136265" y="3844925"/>
          <a:ext cx="7827645" cy="2204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24" name="组合 23"/>
          <p:cNvGrpSpPr/>
          <p:nvPr>
            <p:custDataLst>
              <p:tags r:id="rId12"/>
            </p:custDataLst>
          </p:nvPr>
        </p:nvGrpSpPr>
        <p:grpSpPr>
          <a:xfrm>
            <a:off x="5786755" y="4783455"/>
            <a:ext cx="5262880" cy="711200"/>
            <a:chOff x="9113" y="3217"/>
            <a:chExt cx="8288" cy="1120"/>
          </a:xfrm>
        </p:grpSpPr>
        <p:sp>
          <p:nvSpPr>
            <p:cNvPr id="18" name="文本框 17"/>
            <p:cNvSpPr txBox="1"/>
            <p:nvPr>
              <p:custDataLst>
                <p:tags r:id="rId13"/>
              </p:custDataLst>
            </p:nvPr>
          </p:nvSpPr>
          <p:spPr>
            <a:xfrm>
              <a:off x="11138" y="3217"/>
              <a:ext cx="2023" cy="1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4.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向步骤1中各管加入1mL工作液。 105°C水浴40 min。 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4"/>
              </p:custDataLst>
            </p:nvPr>
          </p:nvSpPr>
          <p:spPr>
            <a:xfrm>
              <a:off x="13168" y="3217"/>
              <a:ext cx="2105" cy="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5. 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流水冷却至室温,离心10min。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5"/>
              </p:custDataLst>
            </p:nvPr>
          </p:nvSpPr>
          <p:spPr>
            <a:xfrm>
              <a:off x="15205" y="3217"/>
              <a:ext cx="2196" cy="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6. 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spcAft>
                  <a:spcPct val="35000"/>
                </a:spcAft>
                <a:buClrTx/>
                <a:buSzTx/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酶标仪上测定532nm处的OD值。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9113" y="3217"/>
              <a:ext cx="2165" cy="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3.</a:t>
              </a:r>
              <a:endParaRPr lang="en-US" alt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样本的稀释：</a:t>
              </a:r>
              <a:endParaRPr 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配置</a:t>
              </a:r>
              <a:r>
                <a:rPr lang="zh-CN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空白管标准管</a:t>
              </a:r>
              <a:r>
                <a:rPr lang="en-US" sz="9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altLang="en-US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aphicFrame>
        <p:nvGraphicFramePr>
          <p:cNvPr id="25" name="图示 24"/>
          <p:cNvGraphicFramePr/>
          <p:nvPr>
            <p:custDataLst>
              <p:tags r:id="rId17"/>
            </p:custDataLst>
          </p:nvPr>
        </p:nvGraphicFramePr>
        <p:xfrm>
          <a:off x="3420745" y="1018540"/>
          <a:ext cx="7346950" cy="2490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pSp>
        <p:nvGrpSpPr>
          <p:cNvPr id="30" name="组合 29"/>
          <p:cNvGrpSpPr/>
          <p:nvPr>
            <p:custDataLst>
              <p:tags r:id="rId23"/>
            </p:custDataLst>
          </p:nvPr>
        </p:nvGrpSpPr>
        <p:grpSpPr>
          <a:xfrm>
            <a:off x="7192645" y="2221230"/>
            <a:ext cx="3385185" cy="1070610"/>
            <a:chOff x="11327" y="3192"/>
            <a:chExt cx="5331" cy="1686"/>
          </a:xfrm>
        </p:grpSpPr>
        <p:sp>
          <p:nvSpPr>
            <p:cNvPr id="27" name="文本框 26"/>
            <p:cNvSpPr txBox="1"/>
            <p:nvPr>
              <p:custDataLst>
                <p:tags r:id="rId24"/>
              </p:custDataLst>
            </p:nvPr>
          </p:nvSpPr>
          <p:spPr>
            <a:xfrm>
              <a:off x="11327" y="3280"/>
              <a:ext cx="160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</a:t>
              </a: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.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样品处理，在96 孔板中依次加入下列试剂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5"/>
              </p:custDataLst>
            </p:nvPr>
          </p:nvSpPr>
          <p:spPr>
            <a:xfrm>
              <a:off x="13111" y="3192"/>
              <a:ext cx="160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</a:t>
              </a: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.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酶标仪调节波长至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412 nm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蒸馏水调零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26"/>
              </p:custDataLst>
            </p:nvPr>
          </p:nvSpPr>
          <p:spPr>
            <a:xfrm>
              <a:off x="15050" y="3216"/>
              <a:ext cx="160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6</a:t>
              </a: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.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吸光值测定标准曲线的建立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204720" y="159485"/>
            <a:ext cx="5179060" cy="829923"/>
            <a:chOff x="4160" y="245"/>
            <a:chExt cx="8156" cy="1586"/>
          </a:xfrm>
        </p:grpSpPr>
        <p:sp>
          <p:nvSpPr>
            <p:cNvPr id="31" name="同侧圆角矩形 30"/>
            <p:cNvSpPr/>
            <p:nvPr>
              <p:custDataLst>
                <p:tags r:id="rId27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28"/>
              </p:custDataLst>
            </p:nvPr>
          </p:nvSpPr>
          <p:spPr>
            <a:xfrm>
              <a:off x="4486" y="245"/>
              <a:ext cx="7830" cy="1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3.8   </a:t>
              </a:r>
              <a:r>
                <a:rPr lang="en-US" altLang="zh-CN" sz="2400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GSH 试剂盒</a:t>
              </a:r>
              <a:r>
                <a:rPr lang="zh-CN" altLang="en-US" sz="2400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和</a:t>
              </a:r>
              <a:r>
                <a:rPr lang="en-US" altLang="zh-CN" sz="2400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MDA 试剂盒</a:t>
              </a:r>
              <a:endParaRPr lang="en-US" altLang="zh-CN" sz="2400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  <a:p>
              <a:endParaRPr lang="en-US" altLang="zh-CN" sz="2400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173095" y="4839335"/>
            <a:ext cx="1177925" cy="596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endParaRPr lang="en-US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7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提取细胞悬液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67860" y="4806315"/>
            <a:ext cx="1290320" cy="1047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zh-CN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细胞破碎</a:t>
            </a:r>
            <a:endParaRPr lang="zh-CN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(超声破碎)</a:t>
            </a:r>
            <a:endParaRPr lang="zh-CN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lang="zh-CN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0819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（第一阶段）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225040" y="177800"/>
            <a:ext cx="8966200" cy="695440"/>
            <a:chOff x="4160" y="280"/>
            <a:chExt cx="14120" cy="1329"/>
          </a:xfrm>
        </p:grpSpPr>
        <p:sp>
          <p:nvSpPr>
            <p:cNvPr id="66" name="同侧圆角矩形 65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4486" y="376"/>
              <a:ext cx="13794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4.1.1  </a:t>
              </a:r>
              <a:r>
                <a:rPr lang="zh-CN" altLang="en-US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ANE、PNS、LIP、</a:t>
              </a:r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RSL3</a:t>
              </a:r>
              <a:r>
                <a:rPr lang="zh-CN" altLang="en-US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对细胞存活率的影响</a:t>
              </a:r>
              <a:endParaRPr lang="zh-CN" altLang="en-US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         </a:t>
              </a:r>
              <a:r>
                <a:rPr lang="zh-CN" altLang="en-US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PNS显著改善细胞纤维化样形态</a:t>
              </a:r>
              <a:endParaRPr lang="zh-CN" altLang="en-US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44005" y="5484495"/>
            <a:ext cx="5411570" cy="1079500"/>
            <a:chOff x="5497" y="8951"/>
            <a:chExt cx="9219" cy="1700"/>
          </a:xfrm>
        </p:grpSpPr>
        <p:sp>
          <p:nvSpPr>
            <p:cNvPr id="3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6151" y="8981"/>
              <a:ext cx="7979" cy="16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indent="0" algn="ctr" latinLnBrk="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模型组：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细胞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变长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，呈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纤维化样改变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，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触角明显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endParaRPr>
            </a:p>
            <a:p>
              <a:pPr marL="0" indent="0" algn="ctr" latinLnBrk="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PNS低中高剂量组和Liproxstatin-1组：</a:t>
              </a:r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纤维化样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明显改善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endParaRPr>
            </a:p>
            <a:p>
              <a:pPr marL="0" indent="0" algn="ctr" latinLnBrk="0">
                <a:lnSpc>
                  <a:spcPct val="150000"/>
                </a:lnSpc>
              </a:pPr>
              <a:endPara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endParaRPr>
            </a:p>
          </p:txBody>
        </p:sp>
        <p:sp>
          <p:nvSpPr>
            <p:cNvPr id="12" name="圆角矩形 11"/>
            <p:cNvSpPr/>
            <p:nvPr>
              <p:custDataLst>
                <p:tags r:id="rId9"/>
              </p:custDataLst>
            </p:nvPr>
          </p:nvSpPr>
          <p:spPr>
            <a:xfrm>
              <a:off x="5497" y="8951"/>
              <a:ext cx="9219" cy="1399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7580630" y="4836160"/>
            <a:ext cx="5986145" cy="299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图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2  倒置显微镜下细胞形态(标尺为100μm)</a:t>
            </a:r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b="1"/>
          </a:p>
        </p:txBody>
      </p:sp>
      <p:sp>
        <p:nvSpPr>
          <p:cNvPr id="38" name="文本框 37"/>
          <p:cNvSpPr txBox="1"/>
          <p:nvPr>
            <p:custDataLst>
              <p:tags r:id="rId11"/>
            </p:custDataLst>
          </p:nvPr>
        </p:nvSpPr>
        <p:spPr>
          <a:xfrm>
            <a:off x="2136140" y="4371975"/>
            <a:ext cx="4667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光楷体一_CNKI" panose="02000500000000000000" charset="-122"/>
                <a:cs typeface="华光楷体一_CNKI" panose="02000500000000000000" charset="-122"/>
                <a:sym typeface="+mn-ea"/>
              </a:rPr>
              <a:t>图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光楷体一_CNKI" panose="02000500000000000000" charset="-122"/>
                <a:cs typeface="华光楷体一_CNKI" panose="02000500000000000000" charset="-122"/>
                <a:sym typeface="+mn-ea"/>
              </a:rPr>
              <a:t>1  CCK-8法检测ANE、PNS、LIP、RSL3</a:t>
            </a:r>
            <a:endParaRPr lang="en-US" altLang="zh-CN" sz="1400" b="1" dirty="0">
              <a:solidFill>
                <a:schemeClr val="tx1"/>
              </a:solidFill>
              <a:uFillTx/>
              <a:latin typeface="Times New Roman" panose="02020603050405020304" charset="0"/>
              <a:ea typeface="华光楷体一_CNKI" panose="02000500000000000000" charset="-122"/>
              <a:cs typeface="华光楷体一_CNKI" panose="02000500000000000000" charset="-122"/>
              <a:sym typeface="+mn-ea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光楷体一_CNKI" panose="02000500000000000000" charset="-122"/>
                <a:cs typeface="华光楷体一_CNKI" panose="02000500000000000000" charset="-122"/>
                <a:sym typeface="+mn-ea"/>
              </a:rPr>
              <a:t>各浓度下HaCaT细胞存活率</a:t>
            </a:r>
            <a:endParaRPr lang="en-US" altLang="zh-CN" sz="1400" b="1" dirty="0">
              <a:solidFill>
                <a:schemeClr val="tx1"/>
              </a:solidFill>
              <a:uFillTx/>
              <a:latin typeface="Times New Roman" panose="02020603050405020304" charset="0"/>
              <a:ea typeface="华光楷体一_CNKI" panose="02000500000000000000" charset="-122"/>
              <a:cs typeface="华光楷体一_CNKI" panose="02000500000000000000" charset="-122"/>
              <a:sym typeface="+mn-ea"/>
            </a:endParaRPr>
          </a:p>
        </p:txBody>
      </p:sp>
      <p:graphicFrame>
        <p:nvGraphicFramePr>
          <p:cNvPr id="39" name="表格 38"/>
          <p:cNvGraphicFramePr/>
          <p:nvPr>
            <p:custDataLst>
              <p:tags r:id="rId12"/>
            </p:custDataLst>
          </p:nvPr>
        </p:nvGraphicFramePr>
        <p:xfrm>
          <a:off x="3323590" y="4973320"/>
          <a:ext cx="2446020" cy="1554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790"/>
                <a:gridCol w="1459230"/>
              </a:tblGrid>
              <a:tr h="274320"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600" baseline="-25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浓度与给药时间的筛选结果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cPr/>
                </a:tc>
              </a:tr>
              <a:tr h="254635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给药时间</a:t>
                      </a:r>
                      <a:endParaRPr lang="zh-CN" altLang="en-US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24h   </a:t>
                      </a:r>
                      <a:endParaRPr lang="en-US" altLang="zh-CN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254635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ANE</a:t>
                      </a:r>
                      <a:r>
                        <a:rPr lang="zh-CN" altLang="en-US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浓度</a:t>
                      </a:r>
                      <a:endParaRPr lang="zh-CN" altLang="en-US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50 μg/ml</a:t>
                      </a:r>
                      <a:endParaRPr lang="en-US" altLang="zh-CN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254635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PNS浓度</a:t>
                      </a:r>
                      <a:endParaRPr lang="zh-CN" altLang="en-US" sz="1400" b="1" baseline="-25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12.5、25、50 μg/ml</a:t>
                      </a:r>
                      <a:endParaRPr lang="en-US" altLang="zh-CN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LIP-1</a:t>
                      </a:r>
                      <a:r>
                        <a:rPr lang="zh-CN" altLang="en-US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浓度</a:t>
                      </a:r>
                      <a:endParaRPr lang="zh-CN" altLang="en-US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2μmol·L</a:t>
                      </a:r>
                      <a:r>
                        <a:rPr lang="en-US" altLang="zh-CN" sz="1400" b="1" baseline="30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-1</a:t>
                      </a:r>
                      <a:endParaRPr lang="en-US" altLang="zh-CN" sz="1400" b="1" baseline="30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254635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RSL3</a:t>
                      </a:r>
                      <a:r>
                        <a:rPr lang="zh-CN" altLang="en-US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浓度</a:t>
                      </a:r>
                      <a:endParaRPr lang="en-US" altLang="zh-CN" sz="1400" b="1" baseline="-25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baseline="-25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1μmol·L</a:t>
                      </a:r>
                      <a:r>
                        <a:rPr lang="en-US" altLang="zh-CN" sz="1400" b="1" baseline="30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-1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5040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（第一阶段）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225040" y="177800"/>
            <a:ext cx="9450070" cy="461010"/>
            <a:chOff x="4160" y="280"/>
            <a:chExt cx="14882" cy="881"/>
          </a:xfrm>
        </p:grpSpPr>
        <p:sp>
          <p:nvSpPr>
            <p:cNvPr id="2" name="同侧圆角矩形 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4486" y="336"/>
              <a:ext cx="14556" cy="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4.1.3</a:t>
              </a:r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   </a:t>
              </a:r>
              <a:r>
                <a:rPr lang="en-US" altLang="zh-CN"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PNS</a:t>
              </a:r>
              <a:r>
                <a:rPr lang="zh-CN" altLang="en-US"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显著下调</a:t>
              </a:r>
              <a:r>
                <a:rPr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HaCaT细胞</a:t>
              </a:r>
              <a:r>
                <a:rPr lang="zh-CN"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内</a:t>
              </a:r>
              <a:r>
                <a:rPr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Fe</a:t>
              </a:r>
              <a:r>
                <a:rPr b="1" spc="20" baseline="3000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2+</a:t>
              </a:r>
              <a:r>
                <a:rPr b="1" spc="20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水平</a:t>
              </a:r>
              <a:endParaRPr b="1" spc="2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53335" y="1503680"/>
            <a:ext cx="9298940" cy="4329430"/>
            <a:chOff x="4021" y="992"/>
            <a:chExt cx="14644" cy="6818"/>
          </a:xfrm>
        </p:grpSpPr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4021" y="6501"/>
              <a:ext cx="14644" cy="1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vert="horz" wrap="square" lIns="60960" tIns="60960" rIns="60960" bIns="60960" numCol="1" spcCol="1270" anchor="t" anchorCtr="0" forceAA="0">
              <a:spAutoFit/>
            </a:bodyPr>
            <a:lstStyle/>
            <a:p>
              <a:pPr marL="0" indent="0" algn="ctr" defTabSz="711200" latinLnBrk="0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400" kern="12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A：空白组；B：模型组；C：PNS 低剂量组；D：PNS 中剂量组；E：PNS 高剂量组；F：Liproxstatin-1 组</a:t>
              </a:r>
              <a:endParaRPr lang="zh-CN" altLang="en-US" sz="1400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0" indent="0" algn="ctr" defTabSz="711200" latinLnBrk="0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注：与</a:t>
              </a:r>
              <a:r>
                <a:rPr lang="zh-CN" alt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空白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组比较,</a:t>
              </a:r>
              <a:r>
                <a:rPr lang="en-US" sz="1400" baseline="300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#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&lt;0.05,</a:t>
              </a:r>
              <a:r>
                <a:rPr lang="en-US" sz="1400" baseline="300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##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&lt;0.01,</a:t>
              </a:r>
              <a:r>
                <a:rPr lang="en-US" sz="1400" baseline="300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###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&lt;0.001;与</a:t>
              </a:r>
              <a:r>
                <a:rPr lang="zh-CN" alt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模型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组比较,*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&lt;0.05,**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&lt;0.01,***</a:t>
              </a:r>
              <a:r>
                <a:rPr lang="en-US" sz="1400" i="1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P</a:t>
              </a:r>
              <a:r>
                <a:rPr lang="en-US" sz="1400">
                  <a:latin typeface="Times New Roman" panose="02020603050405020304" charset="0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&lt;0.001</a:t>
              </a:r>
              <a:endPara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endParaRPr>
            </a:p>
            <a:p>
              <a:pPr marL="0" indent="0" algn="ctr" defTabSz="711200" latinLnBrk="0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图</a:t>
              </a:r>
              <a:r>
                <a:rPr lang="en-US" altLang="zh-CN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5  </a:t>
              </a:r>
              <a:r>
                <a: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 亚铁离子荧光探针检测各组HaCaT细胞</a:t>
              </a:r>
              <a:r>
                <a:rPr lang="en-US" altLang="zh-CN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Fe</a:t>
              </a:r>
              <a:r>
                <a:rPr lang="en-US" altLang="zh-CN" sz="1400" b="1" baseline="30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2+</a:t>
              </a:r>
              <a:r>
                <a: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水平及定量分析(上图标尺为50μm)</a:t>
              </a:r>
              <a:endParaRPr lang="zh-CN" altLang="en-US" sz="14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8" name="组合 20"/>
            <p:cNvGrpSpPr>
              <a:grpSpLocks noChangeAspect="1"/>
            </p:cNvGrpSpPr>
            <p:nvPr/>
          </p:nvGrpSpPr>
          <p:grpSpPr>
            <a:xfrm>
              <a:off x="4830" y="992"/>
              <a:ext cx="6662" cy="4821"/>
              <a:chOff x="-10" y="654"/>
              <a:chExt cx="11007" cy="8176"/>
            </a:xfrm>
          </p:grpSpPr>
          <p:grpSp>
            <p:nvGrpSpPr>
              <p:cNvPr id="19" name="组合 14"/>
              <p:cNvGrpSpPr/>
              <p:nvPr/>
            </p:nvGrpSpPr>
            <p:grpSpPr>
              <a:xfrm>
                <a:off x="-10" y="654"/>
                <a:ext cx="1527" cy="8176"/>
                <a:chOff x="-10" y="654"/>
                <a:chExt cx="1527" cy="8176"/>
              </a:xfrm>
            </p:grpSpPr>
            <p:sp>
              <p:nvSpPr>
                <p:cNvPr id="13" name="文本框 49"/>
                <p:cNvSpPr txBox="1"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-1323" y="1980"/>
                  <a:ext cx="4166" cy="15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 fontAlgn="base" hangingPunct="0"/>
                  <a:r>
                    <a:rPr lang="en-US" altLang="zh-CN" sz="1200" kern="1200">
                      <a:solidFill>
                        <a:srgbClr val="000000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Times New Roman" panose="02020603050405020304"/>
                      <a:sym typeface="Times New Roman" panose="02020603050405020304"/>
                    </a:rPr>
                    <a:t>FerroOrange</a:t>
                  </a:r>
                  <a:endParaRPr lang="en-US" altLang="zh-CN" sz="1200" kern="1200">
                    <a:solidFill>
                      <a:srgbClr val="000000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16" name="文本框 54"/>
                <p:cNvSpPr txBox="1"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-1047" y="6637"/>
                  <a:ext cx="3230" cy="1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 fontAlgn="base" hangingPunct="0"/>
                  <a:r>
                    <a:rPr lang="en-US" altLang="zh-CN" sz="1200" kern="1200">
                      <a:solidFill>
                        <a:srgbClr val="000000"/>
                      </a:solidFill>
                      <a:latin typeface="华光粗黑_CNKI" panose="02000500000000000000" charset="-122"/>
                      <a:ea typeface="华光粗黑_CNKI" panose="02000500000000000000" charset="-122"/>
                      <a:cs typeface="Times New Roman" panose="02020603050405020304"/>
                      <a:sym typeface="Times New Roman" panose="02020603050405020304"/>
                    </a:rPr>
                    <a:t>FerroOrange</a:t>
                  </a:r>
                  <a:endParaRPr lang="en-US" altLang="zh-CN" sz="750" kern="1200">
                    <a:solidFill>
                      <a:srgbClr val="000000"/>
                    </a:solidFill>
                    <a:latin typeface="华光粗黑_CNKI" panose="02000500000000000000" charset="-122"/>
                    <a:ea typeface="华光粗黑_CNKI" panose="02000500000000000000" charset="-122"/>
                    <a:cs typeface="Times New Roman" panose="02020603050405020304"/>
                    <a:sym typeface="Times New Roman" panose="02020603050405020304"/>
                  </a:endParaRPr>
                </a:p>
                <a:p>
                  <a:pPr algn="l" fontAlgn="base" hangingPunct="0"/>
                  <a:r>
                    <a:rPr lang="en-US" altLang="zh-CN" sz="750" kern="0">
                      <a:latin typeface="Calibri" panose="020F0502020204030204"/>
                      <a:ea typeface="宋体" panose="02010600030101010101" pitchFamily="2" charset="-122"/>
                      <a:cs typeface="Times New Roman" panose="02020603050405020304"/>
                      <a:sym typeface="Times New Roman" panose="02020603050405020304"/>
                    </a:rPr>
                    <a:t> </a:t>
                  </a:r>
                  <a:endParaRPr lang="en-US" altLang="zh-CN" sz="750" kern="0"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endParaRPr>
                </a:p>
                <a:p>
                  <a:pPr algn="just"/>
                  <a:r>
                    <a:rPr lang="en-US" altLang="zh-CN" sz="1050" kern="100">
                      <a:latin typeface="Calibri" panose="020F0502020204030204"/>
                      <a:ea typeface="宋体" panose="02010600030101010101" pitchFamily="2" charset="-122"/>
                      <a:cs typeface="Times New Roman" panose="02020603050405020304"/>
                      <a:sym typeface="Times New Roman" panose="02020603050405020304"/>
                    </a:rPr>
                    <a:t> </a:t>
                  </a:r>
                  <a:endParaRPr lang="en-US" altLang="zh-CN" sz="1050" kern="100"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  <p:sp>
            <p:nvSpPr>
              <p:cNvPr id="44" name="文本框 2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73" y="1296"/>
                <a:ext cx="1008" cy="11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A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5" name="文本框 2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420" y="1271"/>
                <a:ext cx="1055" cy="9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B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7" name="文本框 2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014" y="1254"/>
                <a:ext cx="974" cy="9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C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8" name="文本框 2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50" y="5276"/>
                <a:ext cx="1174" cy="10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D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9" name="文本框 2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306" y="5281"/>
                <a:ext cx="1052" cy="1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E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57" name="文本框 29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9960" y="5267"/>
                <a:ext cx="1037" cy="11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/>
              <a:lstStyle/>
              <a:p>
                <a:pPr algn="l" fontAlgn="base" hangingPunct="0"/>
                <a:r>
                  <a:rPr lang="en-US" altLang="zh-CN" sz="1050" kern="1200">
                    <a:solidFill>
                      <a:srgbClr val="FFFFFF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F</a:t>
                </a:r>
                <a:endParaRPr lang="en-US" altLang="zh-CN" sz="1050" kern="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849630"/>
            <a:ext cx="2244725" cy="796925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2204720" y="177800"/>
            <a:ext cx="7049135" cy="686544"/>
            <a:chOff x="4160" y="280"/>
            <a:chExt cx="11101" cy="1312"/>
          </a:xfrm>
        </p:grpSpPr>
        <p:sp>
          <p:nvSpPr>
            <p:cNvPr id="139" name="同侧圆角矩形 138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文本框 139"/>
            <p:cNvSpPr txBox="1"/>
            <p:nvPr>
              <p:custDataLst>
                <p:tags r:id="rId7"/>
              </p:custDataLst>
            </p:nvPr>
          </p:nvSpPr>
          <p:spPr>
            <a:xfrm>
              <a:off x="4486" y="359"/>
              <a:ext cx="10775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4.2.1   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PNS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通过</a:t>
              </a:r>
              <a:r>
                <a:rPr lang="zh-CN" altLang="en-US" b="1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上调</a:t>
              </a:r>
              <a:r>
                <a:rPr lang="en-US" altLang="zh-CN" b="1"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SLC7A11/GSH/GPX4信号通路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显著改善细胞</a:t>
              </a:r>
              <a:endPara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              纤维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化样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形态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、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线粒体形态</a:t>
              </a:r>
              <a:endPara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02" name="文本框 201"/>
          <p:cNvSpPr txBox="1"/>
          <p:nvPr>
            <p:custDataLst>
              <p:tags r:id="rId8"/>
            </p:custDataLst>
          </p:nvPr>
        </p:nvSpPr>
        <p:spPr>
          <a:xfrm>
            <a:off x="2192020" y="4836795"/>
            <a:ext cx="9902825" cy="34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图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11  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(a)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倒置显微镜下细胞形态和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(b)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透射电镜观察线粒体形态变化(</a:t>
            </a:r>
            <a:r>
              <a: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上图标尺为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100μm</a:t>
            </a:r>
            <a:r>
              <a: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，下</a:t>
            </a:r>
            <a:r>
              <a: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图标尺为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100nm</a:t>
            </a:r>
            <a:r>
              <a:rPr lang="en-US" alt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</a:rPr>
              <a:t>)</a:t>
            </a:r>
            <a:endParaRPr lang="en-US" altLang="zh-CN" sz="1400" b="1" dirty="0">
              <a:solidFill>
                <a:schemeClr val="tx1"/>
              </a:solidFill>
              <a:uFillTx/>
              <a:latin typeface="Times New Roman" panose="02020603050405020304" charset="0"/>
              <a:ea typeface="华文楷体" panose="02010600040101010101" pitchFamily="2" charset="-122"/>
            </a:endParaRPr>
          </a:p>
          <a:p>
            <a:pPr algn="ctr">
              <a:buClrTx/>
              <a:buSzTx/>
              <a:buFontTx/>
            </a:pPr>
            <a:endParaRPr lang="en-US" altLang="zh-CN" sz="1400" b="1" dirty="0">
              <a:solidFill>
                <a:schemeClr val="tx1"/>
              </a:solidFill>
              <a:uFillTx/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9"/>
            </p:custDataLst>
          </p:nvPr>
        </p:nvSpPr>
        <p:spPr>
          <a:xfrm>
            <a:off x="2879090" y="5552440"/>
            <a:ext cx="8583295" cy="800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ctr" latinLnBrk="0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与</a:t>
            </a:r>
            <a:r>
              <a:rPr lang="zh-CN" altLang="en-US" sz="1400" b="1" dirty="0">
                <a:solidFill>
                  <a:srgbClr val="2E54A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模型组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相比，</a:t>
            </a:r>
            <a:r>
              <a:rPr lang="zh-CN" altLang="en-US" sz="1400" b="1" dirty="0">
                <a:solidFill>
                  <a:srgbClr val="2E54A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PNS最适剂量组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细胞纤维化样特征及线粒体损伤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显著改善；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华光粗黑_CNKI" panose="02000500000000000000" charset="-122"/>
              <a:sym typeface="+mn-ea"/>
            </a:endParaRPr>
          </a:p>
          <a:p>
            <a:pPr marL="0" indent="0" algn="ctr" latinLnBrk="0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与</a:t>
            </a:r>
            <a:r>
              <a:rPr lang="zh-CN" altLang="en-US" sz="1400" b="1" dirty="0">
                <a:solidFill>
                  <a:srgbClr val="2E54A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RSL3组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相比，</a:t>
            </a:r>
            <a:r>
              <a:rPr lang="zh-CN" altLang="en-US" sz="1400" b="1" dirty="0">
                <a:solidFill>
                  <a:srgbClr val="2E54A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PNS+RSL3组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可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显著逆转铁死亡激活剂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华光粗黑_CNKI" panose="02000500000000000000" charset="-122"/>
                <a:sym typeface="+mn-ea"/>
              </a:rPr>
              <a:t>加重的细胞纤维化样特征及线粒体损伤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华光粗黑_CNKI" panose="02000500000000000000" charset="-122"/>
              <a:sym typeface="+mn-ea"/>
            </a:endParaRPr>
          </a:p>
        </p:txBody>
      </p:sp>
      <p:sp>
        <p:nvSpPr>
          <p:cNvPr id="205" name="圆角矩形 204"/>
          <p:cNvSpPr/>
          <p:nvPr>
            <p:custDataLst>
              <p:tags r:id="rId10"/>
            </p:custDataLst>
          </p:nvPr>
        </p:nvSpPr>
        <p:spPr>
          <a:xfrm>
            <a:off x="2883535" y="5491480"/>
            <a:ext cx="8632190" cy="905510"/>
          </a:xfrm>
          <a:prstGeom prst="round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7914640" y="4445000"/>
            <a:ext cx="1243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1400" kern="0" dirty="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pitchFamily="2" charset="-122"/>
                <a:cs typeface="微软雅黑" panose="020B0503020204020204" charset="-122"/>
              </a:rPr>
              <a:t>PNS+RSL3组</a:t>
            </a:r>
            <a:endParaRPr lang="zh-CN" altLang="zh-CN" sz="1400" kern="0" dirty="0">
              <a:solidFill>
                <a:schemeClr val="tx1"/>
              </a:solidFill>
              <a:uFillTx/>
              <a:latin typeface="Times New Roman" panose="02020603050405020304" charset="0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8092440" y="2595245"/>
            <a:ext cx="8934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kern="0" dirty="0">
                <a:latin typeface="Times New Roman" panose="02020603050405020304" charset="0"/>
                <a:ea typeface="华文楷体" panose="02010600040101010101" pitchFamily="2" charset="-122"/>
              </a:rPr>
              <a:t>模型组</a:t>
            </a:r>
            <a:endParaRPr lang="zh-CN" altLang="zh-CN" sz="1400" kern="0" dirty="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1898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1971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204720" y="177800"/>
            <a:ext cx="9782175" cy="461010"/>
            <a:chOff x="4160" y="280"/>
            <a:chExt cx="15405" cy="881"/>
          </a:xfrm>
        </p:grpSpPr>
        <p:sp>
          <p:nvSpPr>
            <p:cNvPr id="18" name="同侧圆角矩形 17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>
              <p:custDataLst>
                <p:tags r:id="rId7"/>
              </p:custDataLst>
            </p:nvPr>
          </p:nvSpPr>
          <p:spPr>
            <a:xfrm>
              <a:off x="4486" y="359"/>
              <a:ext cx="15079" cy="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4.2.2   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PNS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通过上调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SLC7A11/GSH/GPX4信号通路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抑制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铁死亡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缓解纤维化</a:t>
              </a:r>
              <a:endPara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3" name="图片 2" descr="WB TGF第二阶段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59752" b="64157"/>
          <a:stretch>
            <a:fillRect/>
          </a:stretch>
        </p:blipFill>
        <p:spPr>
          <a:xfrm>
            <a:off x="10444480" y="1057910"/>
            <a:ext cx="923612" cy="7200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362835" y="5208905"/>
            <a:ext cx="9298940" cy="13049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spAutoFit/>
          </a:bodyPr>
          <a:lstStyle/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1400" dirty="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M：模型组；R：RSL3组；R+P：PNS+RSL3组；P：PNS 最适剂量组</a:t>
            </a:r>
            <a:endParaRPr lang="en-US" altLang="zh-CN" sz="1400" b="0" dirty="0"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注：与</a:t>
            </a:r>
            <a:r>
              <a:rPr lang="zh-CN" alt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模型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组比较,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&lt;0.001;与</a:t>
            </a:r>
            <a:r>
              <a:rPr lang="en-US" altLang="zh-CN" sz="1400" dirty="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PNS+RSL3组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比较,*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&lt;0.01,***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</a:t>
            </a:r>
            <a:endParaRPr kumimoji="1" lang="zh-CN" altLang="en-US" sz="1400" b="0" dirty="0"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图3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RT-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q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PCR 法检测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COL-</a:t>
            </a:r>
            <a:r>
              <a:rPr lang="en-US" altLang="zh-CN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I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、E-cadherin、</a:t>
            </a:r>
            <a:r>
              <a:rPr lang="en-US" altLang="zh-CN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SLC7A11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</a:t>
            </a:r>
            <a:r>
              <a:rPr lang="en-US" altLang="zh-CN" sz="1400" b="1" kern="0">
                <a:latin typeface="Times New Roman" panose="02020603050405020304" charset="0"/>
                <a:ea typeface="华光楷体_CNKI" panose="02000500000000000000" charset="-122"/>
                <a:cs typeface="Times New Roman" panose="02020603050405020304" charset="0"/>
                <a:sym typeface="Times New Roman" panose="02020603050405020304"/>
              </a:rPr>
              <a:t>Vimentin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</a:t>
            </a:r>
            <a:r>
              <a:rPr lang="en-US" altLang="zh-CN" sz="1400" b="1" kern="0">
                <a:latin typeface="Times New Roman" panose="02020603050405020304" charset="0"/>
                <a:ea typeface="华光楷体_CNKI" panose="02000500000000000000" charset="-122"/>
                <a:cs typeface="Times New Roman" panose="02020603050405020304" charset="0"/>
                <a:sym typeface="Times New Roman" panose="02020603050405020304"/>
              </a:rPr>
              <a:t>α-SMA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、GPX4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的mRNA表达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endParaRPr kumimoji="1" lang="zh-CN" altLang="en-US" sz="1400" b="0" dirty="0">
              <a:latin typeface="Times New Roman" panose="02020603050405020304" charset="0"/>
              <a:ea typeface="华光楷体_CNKI" panose="02000500000000000000" charset="-122"/>
              <a:cs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/>
              </a:solidFill>
              <a:latin typeface="Times New Roman" panose="02020603050405020304" charset="0"/>
              <a:ea typeface="华光楷体_CNKI" panose="020005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783455" y="2791460"/>
            <a:ext cx="54610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700" b="1" kern="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COL-</a:t>
            </a:r>
            <a:r>
              <a:rPr lang="en-US" altLang="zh-CN" sz="700" b="1" kern="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endParaRPr lang="en-US" altLang="zh-CN" sz="700" b="1" kern="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2279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204720" y="177800"/>
            <a:ext cx="10732135" cy="461010"/>
            <a:chOff x="4160" y="280"/>
            <a:chExt cx="16901" cy="881"/>
          </a:xfrm>
        </p:grpSpPr>
        <p:sp>
          <p:nvSpPr>
            <p:cNvPr id="2" name="同侧圆角矩形 1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4486" y="359"/>
              <a:ext cx="16575" cy="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4.2.3   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PNS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通过上调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SLC7A11/GSH/GPX4信号通路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抑制</a:t>
              </a:r>
              <a:r>
                <a:rPr lang="en-US" altLang="zh-CN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铁死亡</a:t>
              </a:r>
              <a:r>
                <a:rPr lang="zh-CN" altLang="en-US" b="1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缓解纤维化</a:t>
              </a:r>
              <a:endPara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2362835" y="4679315"/>
            <a:ext cx="9298940" cy="59499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spAutoFit/>
          </a:bodyPr>
          <a:lstStyle/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注：与</a:t>
            </a:r>
            <a:r>
              <a:rPr lang="zh-CN" alt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模型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组比较,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&lt;0.001;与</a:t>
            </a:r>
            <a:r>
              <a:rPr lang="en-US" altLang="zh-CN" sz="1400" dirty="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PNS+RSL3组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比较,*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&lt;0.01,***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</a:t>
            </a:r>
            <a:endParaRPr lang="en-US" sz="1400"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图3</a:t>
            </a:r>
            <a:r>
              <a:rPr lang="en-US" altLang="zh-CN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  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 WB检测各组HaCaT细胞COL-</a:t>
            </a:r>
            <a:r>
              <a:rPr lang="en-US" altLang="zh-CN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1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、E-cadherin、</a:t>
            </a:r>
            <a:r>
              <a:rPr lang="en-US" altLang="zh-CN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SLC7A11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</a:t>
            </a:r>
            <a:r>
              <a:rPr lang="en-US" altLang="zh-CN" sz="1400" b="1" kern="0">
                <a:latin typeface="Times New Roman" panose="02020603050405020304" charset="0"/>
                <a:ea typeface="华光楷体_CNKI" panose="02000500000000000000" charset="-122"/>
                <a:cs typeface="Times New Roman" panose="02020603050405020304" charset="0"/>
                <a:sym typeface="Times New Roman" panose="02020603050405020304"/>
              </a:rPr>
              <a:t>Vimentin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</a:t>
            </a:r>
            <a:r>
              <a:rPr lang="en-US" altLang="zh-CN" sz="1400" b="1" kern="0">
                <a:latin typeface="Times New Roman" panose="02020603050405020304" charset="0"/>
                <a:ea typeface="华光楷体_CNKI" panose="02000500000000000000" charset="-122"/>
                <a:cs typeface="Times New Roman" panose="02020603050405020304" charset="0"/>
                <a:sym typeface="Times New Roman" panose="02020603050405020304"/>
              </a:rPr>
              <a:t>α-SMA</a:t>
            </a:r>
            <a:r>
              <a:rPr lang="zh-CN" altLang="en-US" sz="1400" b="1" kern="0" dirty="0">
                <a:solidFill>
                  <a:schemeClr val="tx1"/>
                </a:solidFill>
                <a:latin typeface="Times New Roman" panose="02020603050405020304" charset="0"/>
                <a:ea typeface="华光楷体_CNKI" panose="02000500000000000000" charset="-122"/>
                <a:sym typeface="+mn-ea"/>
              </a:rPr>
              <a:t>、GPX4蛋白质水平及定量分析</a:t>
            </a:r>
            <a:endParaRPr lang="zh-CN" altLang="en-US" sz="1400" b="1" kern="0" dirty="0">
              <a:solidFill>
                <a:schemeClr val="tx1"/>
              </a:solidFill>
              <a:latin typeface="Times New Roman" panose="02020603050405020304" charset="0"/>
              <a:ea typeface="华光楷体_CNKI" panose="02000500000000000000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90496" y="5376160"/>
            <a:ext cx="9584356" cy="1631802"/>
            <a:chOff x="7592" y="6552"/>
            <a:chExt cx="2911" cy="2921"/>
          </a:xfrm>
        </p:grpSpPr>
        <p:sp>
          <p:nvSpPr>
            <p:cNvPr id="46" name="圆角矩形 45"/>
            <p:cNvSpPr/>
            <p:nvPr>
              <p:custDataLst>
                <p:tags r:id="rId9"/>
              </p:custDataLst>
            </p:nvPr>
          </p:nvSpPr>
          <p:spPr>
            <a:xfrm>
              <a:off x="7592" y="6552"/>
              <a:ext cx="2911" cy="2365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>
              <p:custDataLst>
                <p:tags r:id="rId10"/>
              </p:custDataLst>
            </p:nvPr>
          </p:nvSpPr>
          <p:spPr>
            <a:xfrm>
              <a:off x="7640" y="6687"/>
              <a:ext cx="2815" cy="27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模型组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相比，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PNS最适剂量组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COL-1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α-</a:t>
              </a:r>
              <a:r>
                <a:rPr sz="1400" b="1" dirty="0" err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SMA、Vimentin蛋白水平及mRNA表达</a:t>
              </a:r>
              <a:r>
                <a:rPr lang="zh-CN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显著</a:t>
              </a:r>
              <a:r>
                <a:rPr sz="1400" b="1" dirty="0" err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减少</a:t>
              </a:r>
              <a:r>
                <a:rPr sz="1400" b="1" dirty="0" err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，E-cadherin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SLC7A11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GPX4蛋白及mRNA表达</a:t>
              </a:r>
              <a:r>
                <a:rPr lang="zh-CN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显著</a:t>
              </a:r>
              <a:r>
                <a:rPr sz="1400" b="1" dirty="0" err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增加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；</a:t>
              </a:r>
              <a:endParaRPr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RSL3组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相比，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PNS+RSL3组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可</a:t>
              </a:r>
              <a:r>
                <a:rPr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显著逆转铁死亡激活剂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加重的细胞纤维化样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指标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COL-1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Vimentin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α-SMA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的</a:t>
              </a:r>
              <a:r>
                <a:rPr sz="1400" b="1" dirty="0" err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表达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，</a:t>
              </a:r>
              <a:r>
                <a:rPr lang="zh-CN" sz="1400" b="1" dirty="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促进铁死亡关键下调蛋白</a:t>
              </a:r>
              <a:r>
                <a:rPr 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SLC7A11</a:t>
              </a:r>
              <a:r>
                <a:rPr lang="zh-CN" altLang="en-US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、</a:t>
              </a:r>
              <a:r>
                <a:rPr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GPX4</a:t>
              </a:r>
              <a:r>
                <a:rPr lang="zh-CN" sz="14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的表达</a:t>
              </a:r>
              <a:endParaRPr lang="zh-CN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</p:grp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96925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6"/>
            </p:custDataLst>
          </p:nvPr>
        </p:nvSpPr>
        <p:spPr>
          <a:xfrm>
            <a:off x="2839085" y="226695"/>
            <a:ext cx="89795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4.2.4</a:t>
            </a:r>
            <a:r>
              <a:rPr lang="en-US" altLang="zh-CN" b="1" spc="209">
                <a:solidFill>
                  <a:schemeClr val="tx1"/>
                </a:solidFill>
                <a:uFillTx/>
              </a:rPr>
              <a:t>   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PNS通过上调SLC7A11/GSH/GPX4信号通路抑制铁死亡</a:t>
            </a:r>
            <a:endParaRPr lang="zh-CN" altLang="en-US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上调</a:t>
            </a:r>
            <a:r>
              <a:rPr lang="en-US" altLang="zh-CN" b="1">
                <a:uFillTx/>
                <a:latin typeface="Times New Roman" panose="02020603050405020304" charset="0"/>
                <a:sym typeface="+mn-ea"/>
              </a:rPr>
              <a:t> </a:t>
            </a:r>
            <a:r>
              <a:rPr lang="en-US" altLang="zh-CN" b="1">
                <a:uFillTx/>
                <a:latin typeface="Times New Roman" panose="02020603050405020304" charset="0"/>
                <a:sym typeface="+mn-lt"/>
              </a:rPr>
              <a:t>α-SMA</a:t>
            </a:r>
            <a:r>
              <a:rPr lang="zh-CN" altLang="en-US" b="1">
                <a:uFillTx/>
                <a:latin typeface="Times New Roman" panose="02020603050405020304" charset="0"/>
                <a:sym typeface="+mn-lt"/>
              </a:rPr>
              <a:t>的表达</a:t>
            </a:r>
            <a:endParaRPr lang="zh-CN" altLang="en-US" b="1" dirty="0">
              <a:solidFill>
                <a:srgbClr val="122E66"/>
              </a:solidFill>
              <a:latin typeface="Times New Roman" panose="02020603050405020304" charset="0"/>
              <a:ea typeface="思源宋体 CN" panose="02020400000000000000" pitchFamily="18" charset="-122"/>
              <a:cs typeface="Times New Roman" panose="02020603050405020304" charset="0"/>
              <a:sym typeface="+mn-lt"/>
            </a:endParaRPr>
          </a:p>
          <a:p>
            <a:endParaRPr lang="zh-CN" altLang="en-US" b="1" dirty="0">
              <a:solidFill>
                <a:srgbClr val="122E66"/>
              </a:solidFill>
              <a:uFillTx/>
              <a:latin typeface="Times New Roman" panose="02020603050405020304" charset="0"/>
              <a:ea typeface="思源宋体 CN" panose="02020400000000000000" pitchFamily="18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" name="同侧圆角矩形 17"/>
          <p:cNvSpPr/>
          <p:nvPr>
            <p:custDataLst>
              <p:tags r:id="rId7"/>
            </p:custDataLst>
          </p:nvPr>
        </p:nvSpPr>
        <p:spPr>
          <a:xfrm rot="5400000">
            <a:off x="2481580" y="337185"/>
            <a:ext cx="461010" cy="1422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2527935" y="5905500"/>
            <a:ext cx="9298940" cy="4724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noAutofit/>
          </a:bodyPr>
          <a:lstStyle/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图3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 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 免疫荧光染色观察α-SMA在细胞中的定位及表达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（</a:t>
            </a:r>
            <a:r>
              <a:rPr lang="zh-CN" altLang="en-US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上图标尺为</a:t>
            </a:r>
            <a:r>
              <a:rPr lang="en-US" altLang="zh-CN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100μm</a:t>
            </a:r>
            <a:r>
              <a:rPr lang="zh-CN" altLang="en-US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697230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2510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6"/>
            </p:custDataLst>
          </p:nvPr>
        </p:nvSpPr>
        <p:spPr>
          <a:xfrm>
            <a:off x="2839085" y="206375"/>
            <a:ext cx="8979535" cy="634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4.2.4</a:t>
            </a:r>
            <a:r>
              <a:rPr lang="en-US" altLang="zh-CN" sz="2000" b="1" spc="209">
                <a:solidFill>
                  <a:schemeClr val="tx1"/>
                </a:solidFill>
                <a:uFillTx/>
              </a:rPr>
              <a:t>   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PNS通过上调SLC7A11/GSH/GPX4信号通路抑制铁死亡</a:t>
            </a:r>
            <a:endParaRPr lang="zh-CN" altLang="en-US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zh-CN" altLang="en-US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下调</a:t>
            </a: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 </a:t>
            </a:r>
            <a:r>
              <a:rPr lang="zh-CN" altLang="en-US" b="1">
                <a:uFillTx/>
                <a:latin typeface="Times New Roman" panose="02020603050405020304" charset="0"/>
                <a:sym typeface="+mn-lt"/>
              </a:rPr>
              <a:t>E-cadherin的表达</a:t>
            </a:r>
            <a:endParaRPr lang="zh-CN" altLang="en-US" b="1">
              <a:solidFill>
                <a:schemeClr val="tx1"/>
              </a:solidFill>
              <a:uFillTx/>
              <a:latin typeface="Times New Roman" panose="02020603050405020304" charset="0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884805" y="5614670"/>
            <a:ext cx="8595360" cy="977265"/>
            <a:chOff x="4543" y="9071"/>
            <a:chExt cx="13536" cy="1539"/>
          </a:xfrm>
        </p:grpSpPr>
        <p:sp>
          <p:nvSpPr>
            <p:cNvPr id="25" name="文本框 24"/>
            <p:cNvSpPr txBox="1"/>
            <p:nvPr>
              <p:custDataLst>
                <p:tags r:id="rId7"/>
              </p:custDataLst>
            </p:nvPr>
          </p:nvSpPr>
          <p:spPr>
            <a:xfrm>
              <a:off x="4728" y="9121"/>
              <a:ext cx="13340" cy="14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模型组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相比，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PNS最适剂量组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细胞</a:t>
              </a:r>
              <a:r>
                <a:rPr lang="en-US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α-SMA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平均荧光强度显著降低，</a:t>
              </a:r>
              <a:r>
                <a:rPr 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E-cadherin</a:t>
              </a:r>
              <a:r>
                <a:rPr lang="zh-CN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平均荧光强度显著增加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；</a:t>
              </a:r>
              <a:endParaRPr 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RSL3组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比较，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PNS+RSL3组</a:t>
              </a:r>
              <a:r>
                <a:rPr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可</a:t>
              </a:r>
              <a:r>
                <a:rPr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显著逆转铁死亡激活剂</a:t>
              </a:r>
              <a:r>
                <a:rPr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加重的细胞</a:t>
              </a:r>
              <a:r>
                <a:rPr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纤维化样指标</a:t>
              </a:r>
              <a:r>
                <a:rPr 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α-SMA</a:t>
              </a:r>
              <a:r>
                <a:rPr lang="zh-CN" alt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平均荧光强度，</a:t>
              </a:r>
              <a:r>
                <a:rPr lang="zh-CN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恢复上皮样标志物</a:t>
              </a:r>
              <a:r>
                <a:rPr 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E-cadherin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平均荧光强度</a:t>
              </a:r>
              <a:endParaRPr lang="zh-CN" altLang="en-US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8" name="圆角矩形 97"/>
            <p:cNvSpPr/>
            <p:nvPr>
              <p:custDataLst>
                <p:tags r:id="rId8"/>
              </p:custDataLst>
            </p:nvPr>
          </p:nvSpPr>
          <p:spPr>
            <a:xfrm>
              <a:off x="4543" y="9071"/>
              <a:ext cx="13536" cy="1539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同侧圆角矩形 1"/>
          <p:cNvSpPr/>
          <p:nvPr>
            <p:custDataLst>
              <p:tags r:id="rId9"/>
            </p:custDataLst>
          </p:nvPr>
        </p:nvSpPr>
        <p:spPr>
          <a:xfrm rot="5400000">
            <a:off x="2481580" y="337185"/>
            <a:ext cx="461010" cy="1422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10"/>
            </p:custDataLst>
          </p:nvPr>
        </p:nvSpPr>
        <p:spPr>
          <a:xfrm>
            <a:off x="2580640" y="5099685"/>
            <a:ext cx="9298940" cy="4724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noAutofit/>
          </a:bodyPr>
          <a:lstStyle/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图3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 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 免疫荧光染色观察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</a:rPr>
              <a:t>E-cadherin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</a:rPr>
              <a:t>在细胞中的定位及表达（</a:t>
            </a:r>
            <a:r>
              <a:rPr lang="zh-CN" altLang="en-US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上图标尺为</a:t>
            </a:r>
            <a:r>
              <a:rPr lang="en-US" altLang="zh-CN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100μm</a:t>
            </a:r>
            <a:r>
              <a:rPr lang="zh-CN" altLang="en-US" sz="1400" b="1" dirty="0">
                <a:latin typeface="Times New Roman" panose="02020603050405020304" charset="0"/>
                <a:ea typeface="华文楷体" panose="02010600040101010101" pitchFamily="2" charset="-122"/>
                <a:sym typeface="+mn-ea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08533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41600" y="177800"/>
            <a:ext cx="9945370" cy="682881"/>
            <a:chOff x="4160" y="280"/>
            <a:chExt cx="15662" cy="1305"/>
          </a:xfrm>
        </p:grpSpPr>
        <p:sp>
          <p:nvSpPr>
            <p:cNvPr id="18" name="同侧圆角矩形 17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4486" y="352"/>
              <a:ext cx="15336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4.2.5</a:t>
              </a:r>
              <a:r>
                <a:rPr lang="en-US" altLang="zh-CN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en-US" altLang="zh-CN" b="1" spc="20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PNS通过促进SLC7A11/GSH/GPX4信号通路</a:t>
              </a:r>
              <a:r>
                <a:rPr lang="zh-CN" altLang="en-US" b="1" spc="20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的</a:t>
              </a:r>
              <a:r>
                <a:rPr lang="en-US" altLang="zh-CN" b="1" spc="20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表达显著</a:t>
              </a:r>
              <a:endParaRPr lang="en-US" altLang="zh-CN" b="1" spc="20">
                <a:solidFill>
                  <a:schemeClr val="tx1"/>
                </a:solidFill>
                <a:uFillTx/>
                <a:latin typeface="Times New Roman" panose="02020603050405020304" charset="0"/>
              </a:endParaRPr>
            </a:p>
            <a:p>
              <a:r>
                <a:rPr lang="en-US" altLang="zh-CN" b="1" spc="20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              </a:t>
              </a:r>
              <a:r>
                <a:rPr lang="zh-CN" altLang="en-US" b="1" spc="20">
                  <a:solidFill>
                    <a:schemeClr val="tx1"/>
                  </a:solidFill>
                  <a:uFillTx/>
                  <a:latin typeface="Times New Roman" panose="02020603050405020304" charset="0"/>
                </a:rPr>
                <a:t>下调</a:t>
              </a:r>
              <a:r>
                <a:rPr lang="zh-CN" altLang="en-US" b="1" spc="20">
                  <a:solidFill>
                    <a:schemeClr val="tx1"/>
                  </a:solidFill>
                  <a:uFillTx/>
                  <a:latin typeface="Times New Roman" panose="02020603050405020304" charset="0"/>
                  <a:sym typeface="+mn-ea"/>
                </a:rPr>
                <a:t>ROS水平</a:t>
              </a:r>
              <a:endParaRPr lang="zh-CN" altLang="en-US" b="1" spc="2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endParaRPr>
            </a:p>
          </p:txBody>
        </p:sp>
      </p:grp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2364105" y="5181600"/>
            <a:ext cx="9632315" cy="81026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spAutoFit/>
          </a:bodyPr>
          <a:lstStyle/>
          <a:p>
            <a:pPr marL="0" indent="0" algn="ctr" defTabSz="711200" latinLnBrk="0">
              <a:lnSpc>
                <a:spcPct val="16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注：与</a:t>
            </a:r>
            <a:r>
              <a:rPr lang="zh-CN" alt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模型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组比较,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&lt;0.001;与</a:t>
            </a:r>
            <a:r>
              <a:rPr lang="en-US" altLang="zh-CN" sz="1400" dirty="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PNS+RSL3组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比较,*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&lt;0.01,***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</a:t>
            </a:r>
            <a:endParaRPr kumimoji="1" lang="zh-CN" altLang="en-US" sz="1400" b="0" dirty="0"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 algn="ctr" defTabSz="711200" latinLnBrk="0">
              <a:lnSpc>
                <a:spcPct val="16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图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5 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ROS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荧光探针检测各组HaCaT细胞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ROS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水平及定量分析(上图标尺为50μm)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14184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082415"/>
            <a:ext cx="2191385" cy="74168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研究结论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129405"/>
            <a:ext cx="1550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bg2"/>
                </a:solidFill>
              </a:rPr>
              <a:t>研究结果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l"/>
            <a:r>
              <a:rPr lang="zh-CN" altLang="en-US" sz="1600" b="1">
                <a:solidFill>
                  <a:schemeClr val="bg2"/>
                </a:solidFill>
              </a:rPr>
              <a:t>（第二阶段）</a:t>
            </a:r>
            <a:endParaRPr lang="zh-CN" altLang="en-US" sz="1600" b="1">
              <a:solidFill>
                <a:schemeClr val="bg2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41600" y="177800"/>
            <a:ext cx="9945370" cy="682881"/>
            <a:chOff x="4160" y="280"/>
            <a:chExt cx="15662" cy="1305"/>
          </a:xfrm>
        </p:grpSpPr>
        <p:sp>
          <p:nvSpPr>
            <p:cNvPr id="18" name="同侧圆角矩形 17"/>
            <p:cNvSpPr/>
            <p:nvPr>
              <p:custDataLst>
                <p:tags r:id="rId6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4486" y="352"/>
              <a:ext cx="15336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4.2.6</a:t>
              </a:r>
              <a:r>
                <a:rPr lang="en-US" altLang="zh-CN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en-US" altLang="zh-CN" b="1" spc="20">
                  <a:uFillTx/>
                  <a:latin typeface="Times New Roman" panose="02020603050405020304" charset="0"/>
                  <a:sym typeface="+mn-ea"/>
                </a:rPr>
                <a:t>PNS通过促进SLC7A11/GSH/GPX4信号通路</a:t>
              </a:r>
              <a:r>
                <a:rPr lang="zh-CN" altLang="en-US" b="1" spc="20">
                  <a:uFillTx/>
                  <a:latin typeface="Times New Roman" panose="02020603050405020304" charset="0"/>
                  <a:sym typeface="+mn-ea"/>
                </a:rPr>
                <a:t>的</a:t>
              </a:r>
              <a:r>
                <a:rPr lang="en-US" altLang="zh-CN" b="1" spc="20">
                  <a:uFillTx/>
                  <a:latin typeface="Times New Roman" panose="02020603050405020304" charset="0"/>
                  <a:sym typeface="+mn-ea"/>
                </a:rPr>
                <a:t>表达显著</a:t>
              </a:r>
              <a:endParaRPr lang="en-US" altLang="zh-CN" b="1" spc="20">
                <a:solidFill>
                  <a:schemeClr val="tx1"/>
                </a:solidFill>
                <a:uFillTx/>
                <a:latin typeface="Times New Roman" panose="02020603050405020304" charset="0"/>
              </a:endParaRPr>
            </a:p>
            <a:p>
              <a:r>
                <a:rPr lang="en-US" altLang="zh-CN" b="1" spc="20">
                  <a:uFillTx/>
                  <a:latin typeface="Times New Roman" panose="02020603050405020304" charset="0"/>
                  <a:sym typeface="+mn-ea"/>
                </a:rPr>
                <a:t>              </a:t>
              </a:r>
              <a:r>
                <a:rPr lang="zh-CN" altLang="en-US" b="1" spc="20">
                  <a:uFillTx/>
                  <a:latin typeface="Times New Roman" panose="02020603050405020304" charset="0"/>
                  <a:sym typeface="+mn-ea"/>
                </a:rPr>
                <a:t>下调</a:t>
              </a:r>
              <a:r>
                <a:rPr lang="en-US" altLang="zh-CN" b="1" spc="20">
                  <a:uFillTx/>
                  <a:latin typeface="Times New Roman" panose="02020603050405020304" charset="0"/>
                  <a:sym typeface="+mn-ea"/>
                </a:rPr>
                <a:t>MDA</a:t>
              </a:r>
              <a:r>
                <a:rPr lang="zh-CN" altLang="en-US" b="1" spc="20">
                  <a:uFillTx/>
                  <a:latin typeface="Times New Roman" panose="02020603050405020304" charset="0"/>
                  <a:sym typeface="+mn-ea"/>
                </a:rPr>
                <a:t>水平</a:t>
              </a:r>
              <a:endParaRPr lang="zh-CN" altLang="en-US" b="1" spc="209">
                <a:solidFill>
                  <a:schemeClr val="tx1"/>
                </a:solidFill>
                <a:uFillTx/>
                <a:latin typeface="Times New Roman" panose="02020603050405020304" charset="0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364105" y="4469130"/>
            <a:ext cx="9632315" cy="59499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60960" tIns="60960" rIns="60960" bIns="60960" numCol="1" spcCol="1270" anchor="t" anchorCtr="0" forceAA="0">
            <a:spAutoFit/>
          </a:bodyPr>
          <a:lstStyle/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注：与</a:t>
            </a:r>
            <a:r>
              <a:rPr lang="zh-CN" alt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模型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组比较,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</a:t>
            </a:r>
            <a:r>
              <a:rPr lang="en-US" sz="1400" baseline="300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###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&lt;0.001;与</a:t>
            </a:r>
            <a:r>
              <a:rPr lang="en-US" altLang="zh-CN" sz="1400" dirty="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PNS+RSL3组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比较,*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&lt;0.05,**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&lt;0.01,***</a:t>
            </a:r>
            <a:r>
              <a:rPr lang="en-US" sz="1400" i="1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</a:t>
            </a:r>
            <a:r>
              <a:rPr lang="en-US" sz="1400"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&lt;0.001</a:t>
            </a:r>
            <a:endParaRPr lang="en-US" sz="1400"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marL="0" indent="0" algn="ctr" defTabSz="711200" latinLnBrk="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图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5 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MDA 试剂盒检测细胞内 MDA 含量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charset="0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pic>
        <p:nvPicPr>
          <p:cNvPr id="109" name="图片 108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24125" y="1077595"/>
            <a:ext cx="5207635" cy="29419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" name="组合 11"/>
          <p:cNvGrpSpPr/>
          <p:nvPr/>
        </p:nvGrpSpPr>
        <p:grpSpPr>
          <a:xfrm>
            <a:off x="3002280" y="5473065"/>
            <a:ext cx="8604250" cy="977265"/>
            <a:chOff x="4728" y="9058"/>
            <a:chExt cx="13550" cy="1539"/>
          </a:xfrm>
        </p:grpSpPr>
        <p:sp>
          <p:nvSpPr>
            <p:cNvPr id="25" name="文本框 24"/>
            <p:cNvSpPr txBox="1"/>
            <p:nvPr>
              <p:custDataLst>
                <p:tags r:id="rId11"/>
              </p:custDataLst>
            </p:nvPr>
          </p:nvSpPr>
          <p:spPr>
            <a:xfrm>
              <a:off x="4938" y="9286"/>
              <a:ext cx="13340" cy="10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模型组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相比，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PNS最适剂量组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细胞</a:t>
              </a:r>
              <a:r>
                <a:rPr lang="en-US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ROS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平均荧光强度显著降低，</a:t>
              </a:r>
              <a:r>
                <a:rPr 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MDA</a:t>
              </a:r>
              <a:r>
                <a:rPr lang="zh-CN" altLang="en-US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含量</a:t>
              </a:r>
              <a:r>
                <a:rPr lang="zh-CN" sz="1400" b="1" dirty="0"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显著减少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；</a:t>
              </a:r>
              <a:endParaRPr lang="zh-CN" sz="14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fontAlgn="auto">
                <a:lnSpc>
                  <a:spcPct val="120000"/>
                </a:lnSpc>
                <a:spcAft>
                  <a:spcPts val="600"/>
                </a:spcAft>
              </a:pP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RSL3组</a:t>
              </a:r>
              <a:r>
                <a:rPr lang="zh-CN"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比较，</a:t>
              </a:r>
              <a:r>
                <a:rPr lang="zh-CN" altLang="en-US" sz="1400" b="1" dirty="0">
                  <a:solidFill>
                    <a:srgbClr val="2E54A1"/>
                  </a:solidFill>
                  <a:latin typeface="Times New Roman" panose="02020603050405020304" charset="0"/>
                  <a:ea typeface="微软雅黑" panose="020B0503020204020204" charset="-122"/>
                  <a:cs typeface="华光粗黑_CNKI" panose="02000500000000000000" charset="-122"/>
                  <a:sym typeface="+mn-ea"/>
                </a:rPr>
                <a:t>PNS+RSL3组</a:t>
              </a:r>
              <a:r>
                <a:rPr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可</a:t>
              </a:r>
              <a:r>
                <a:rPr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显著逆转铁死亡激活剂</a:t>
              </a:r>
              <a:r>
                <a:rPr sz="1400" b="1" dirty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加重的细胞</a:t>
              </a:r>
              <a:r>
                <a:rPr lang="zh-CN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铁死亡产物</a:t>
              </a:r>
              <a:r>
                <a:rPr lang="en-US" altLang="zh-CN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ROS</a:t>
              </a:r>
              <a:r>
                <a:rPr lang="zh-CN" altLang="en-US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</a:t>
              </a:r>
              <a:r>
                <a:rPr lang="en-US" altLang="zh-CN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MDA</a:t>
              </a:r>
              <a:r>
                <a:rPr lang="zh-CN" altLang="en-US" sz="1400" b="1" dirty="0">
                  <a:solidFill>
                    <a:srgbClr val="FF0000"/>
                  </a:solidFill>
                  <a:uFillTx/>
                  <a:latin typeface="Times New Roman" panose="02020603050405020304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的堆积</a:t>
              </a:r>
              <a:endParaRPr lang="zh-CN" altLang="en-US" sz="14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8" name="圆角矩形 97"/>
            <p:cNvSpPr/>
            <p:nvPr>
              <p:custDataLst>
                <p:tags r:id="rId12"/>
              </p:custDataLst>
            </p:nvPr>
          </p:nvSpPr>
          <p:spPr>
            <a:xfrm>
              <a:off x="4728" y="9058"/>
              <a:ext cx="12741" cy="1539"/>
            </a:xfrm>
            <a:prstGeom prst="round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 descr="MDA二阶段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862570" y="1045845"/>
            <a:ext cx="3002280" cy="315468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ipe/>
      </p:transition>
    </mc:Choice>
    <mc:Fallback>
      <p:transition>
        <p:wip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05" y="-114300"/>
            <a:ext cx="2244725" cy="718820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98919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2"/>
                </a:solidFill>
              </a:rPr>
              <a:t>研究结论</a:t>
            </a:r>
            <a:endParaRPr lang="zh-CN" altLang="en-US" sz="2400" b="1">
              <a:solidFill>
                <a:schemeClr val="bg2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tx1"/>
                </a:solidFill>
              </a:rPr>
              <a:t>研究结果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2246630" y="1374775"/>
            <a:ext cx="9738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spc="209">
                <a:solidFill>
                  <a:schemeClr val="tx1"/>
                </a:solidFill>
                <a:uFillTx/>
              </a:rPr>
              <a:t> </a:t>
            </a:r>
            <a:endParaRPr sz="2000" b="1" spc="209">
              <a:solidFill>
                <a:schemeClr val="tx1"/>
              </a:solidFill>
              <a:uFillTx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641600" y="159485"/>
            <a:ext cx="4271010" cy="479325"/>
            <a:chOff x="4160" y="245"/>
            <a:chExt cx="6726" cy="916"/>
          </a:xfrm>
        </p:grpSpPr>
        <p:sp>
          <p:nvSpPr>
            <p:cNvPr id="24" name="同侧圆角矩形 23"/>
            <p:cNvSpPr/>
            <p:nvPr>
              <p:custDataLst>
                <p:tags r:id="rId7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5.1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研究结论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22" name="圆角矩形 221"/>
          <p:cNvSpPr/>
          <p:nvPr>
            <p:custDataLst>
              <p:tags r:id="rId9"/>
            </p:custDataLst>
          </p:nvPr>
        </p:nvSpPr>
        <p:spPr>
          <a:xfrm>
            <a:off x="5628005" y="1533525"/>
            <a:ext cx="4473575" cy="615950"/>
          </a:xfrm>
          <a:prstGeom prst="roundRect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3" name="直接连接符 222"/>
          <p:cNvCxnSpPr/>
          <p:nvPr>
            <p:custDataLst>
              <p:tags r:id="rId10"/>
            </p:custDataLst>
          </p:nvPr>
        </p:nvCxnSpPr>
        <p:spPr>
          <a:xfrm>
            <a:off x="5492750" y="1456055"/>
            <a:ext cx="8255" cy="1892300"/>
          </a:xfrm>
          <a:prstGeom prst="line">
            <a:avLst/>
          </a:prstGeom>
          <a:ln w="28575">
            <a:solidFill>
              <a:srgbClr val="04487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文本框 241"/>
          <p:cNvSpPr txBox="1"/>
          <p:nvPr>
            <p:custDataLst>
              <p:tags r:id="rId11"/>
            </p:custDataLst>
          </p:nvPr>
        </p:nvSpPr>
        <p:spPr>
          <a:xfrm>
            <a:off x="6007100" y="1565910"/>
            <a:ext cx="44081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PNS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可通过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抑制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HaCaT 细胞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铁死亡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缓解槟榔碱诱导的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口腔黏膜下纤维化</a:t>
            </a:r>
            <a:endParaRPr lang="zh-CN" altLang="en-US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243320" y="2296795"/>
            <a:ext cx="3343910" cy="894080"/>
            <a:chOff x="4332" y="3800"/>
            <a:chExt cx="5266" cy="1408"/>
          </a:xfrm>
        </p:grpSpPr>
        <p:grpSp>
          <p:nvGrpSpPr>
            <p:cNvPr id="243" name="组合 242"/>
            <p:cNvGrpSpPr/>
            <p:nvPr/>
          </p:nvGrpSpPr>
          <p:grpSpPr>
            <a:xfrm>
              <a:off x="4332" y="3800"/>
              <a:ext cx="5266" cy="1408"/>
              <a:chOff x="247" y="3221"/>
              <a:chExt cx="8219" cy="2063"/>
            </a:xfrm>
          </p:grpSpPr>
          <p:grpSp>
            <p:nvGrpSpPr>
              <p:cNvPr id="244" name="组合 243"/>
              <p:cNvGrpSpPr/>
              <p:nvPr/>
            </p:nvGrpSpPr>
            <p:grpSpPr>
              <a:xfrm>
                <a:off x="247" y="3221"/>
                <a:ext cx="8219" cy="2063"/>
                <a:chOff x="247" y="3221"/>
                <a:chExt cx="8219" cy="2063"/>
              </a:xfrm>
            </p:grpSpPr>
            <p:pic>
              <p:nvPicPr>
                <p:cNvPr id="245" name="图片 244" descr="V}073%JVVQCJ{JW{C06%YTJ"/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7" y="3453"/>
                  <a:ext cx="1619" cy="1614"/>
                </a:xfrm>
                <a:prstGeom prst="rect">
                  <a:avLst/>
                </a:prstGeom>
              </p:spPr>
            </p:pic>
            <p:grpSp>
              <p:nvGrpSpPr>
                <p:cNvPr id="246" name="组合 245"/>
                <p:cNvGrpSpPr/>
                <p:nvPr/>
              </p:nvGrpSpPr>
              <p:grpSpPr>
                <a:xfrm>
                  <a:off x="1296" y="3221"/>
                  <a:ext cx="7170" cy="2063"/>
                  <a:chOff x="1296" y="3221"/>
                  <a:chExt cx="7170" cy="2063"/>
                </a:xfrm>
              </p:grpSpPr>
              <p:pic>
                <p:nvPicPr>
                  <p:cNvPr id="247" name="图片 246" descr="P@)]@8JB5I69(1DILLV9BF6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728" y="3222"/>
                    <a:ext cx="2115" cy="2062"/>
                  </a:xfrm>
                  <a:prstGeom prst="rect">
                    <a:avLst/>
                  </a:prstGeom>
                </p:spPr>
              </p:pic>
              <p:pic>
                <p:nvPicPr>
                  <p:cNvPr id="248" name="图片 247" descr="2ZCEZT9QL4H[AS`R$L~LNCC"/>
                  <p:cNvPicPr>
                    <a:picLocks noChangeAspect="1"/>
                  </p:cNvPicPr>
                  <p:nvPr>
                    <p:custDataLst>
                      <p:tags r:id="rId16"/>
                    </p:custDataLst>
                  </p:nvPr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5905" y="3354"/>
                    <a:ext cx="2561" cy="1701"/>
                  </a:xfrm>
                  <a:prstGeom prst="rect">
                    <a:avLst/>
                  </a:prstGeom>
                </p:spPr>
              </p:pic>
              <p:pic>
                <p:nvPicPr>
                  <p:cNvPr id="249" name="图片 248" descr="PX8~5RMYY~16T7W%X1DIE%Y"/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296" y="3221"/>
                    <a:ext cx="995" cy="662"/>
                  </a:xfrm>
                  <a:prstGeom prst="rect">
                    <a:avLst/>
                  </a:prstGeom>
                </p:spPr>
              </p:pic>
              <p:cxnSp>
                <p:nvCxnSpPr>
                  <p:cNvPr id="250" name="直接箭头连接符 249"/>
                  <p:cNvCxnSpPr>
                    <a:stCxn id="249" idx="3"/>
                  </p:cNvCxnSpPr>
                  <p:nvPr>
                    <p:custDataLst>
                      <p:tags r:id="rId20"/>
                    </p:custDataLst>
                  </p:nvPr>
                </p:nvCxnSpPr>
                <p:spPr>
                  <a:xfrm>
                    <a:off x="2291" y="3552"/>
                    <a:ext cx="424" cy="337"/>
                  </a:xfrm>
                  <a:prstGeom prst="straightConnector1">
                    <a:avLst/>
                  </a:prstGeom>
                  <a:ln w="12700">
                    <a:solidFill>
                      <a:srgbClr val="FF000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51" name="文本框 250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384" y="3656"/>
                <a:ext cx="1345" cy="4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9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ANE</a:t>
                </a:r>
                <a:endParaRPr lang="en-US" altLang="zh-CN" sz="9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62" name="组合 261"/>
            <p:cNvGrpSpPr/>
            <p:nvPr/>
          </p:nvGrpSpPr>
          <p:grpSpPr>
            <a:xfrm rot="16200000">
              <a:off x="7488" y="4345"/>
              <a:ext cx="213" cy="347"/>
              <a:chOff x="3226" y="6338"/>
              <a:chExt cx="378" cy="803"/>
            </a:xfrm>
          </p:grpSpPr>
          <p:cxnSp>
            <p:nvCxnSpPr>
              <p:cNvPr id="263" name="直接连接符 262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3409" y="6338"/>
                <a:ext cx="0" cy="79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3226" y="7135"/>
                <a:ext cx="378" cy="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4" name="组合 273"/>
            <p:cNvGrpSpPr/>
            <p:nvPr/>
          </p:nvGrpSpPr>
          <p:grpSpPr>
            <a:xfrm rot="16200000">
              <a:off x="5449" y="4341"/>
              <a:ext cx="213" cy="347"/>
              <a:chOff x="3226" y="6338"/>
              <a:chExt cx="378" cy="803"/>
            </a:xfrm>
          </p:grpSpPr>
          <p:cxnSp>
            <p:nvCxnSpPr>
              <p:cNvPr id="275" name="直接连接符 274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3409" y="6338"/>
                <a:ext cx="0" cy="79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3226" y="7135"/>
                <a:ext cx="378" cy="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波形 29"/>
          <p:cNvSpPr/>
          <p:nvPr/>
        </p:nvSpPr>
        <p:spPr>
          <a:xfrm>
            <a:off x="3759835" y="1493520"/>
            <a:ext cx="1567815" cy="666115"/>
          </a:xfrm>
          <a:prstGeom prst="wav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华光粗黑_CNKI" panose="02000500000000000000" charset="-122"/>
                <a:ea typeface="华光粗黑_CNKI" panose="02000500000000000000" charset="-122"/>
              </a:rPr>
              <a:t>第一阶段</a:t>
            </a:r>
            <a:endParaRPr lang="zh-CN" altLang="en-US">
              <a:latin typeface="华光粗黑_CNKI" panose="02000500000000000000" charset="-122"/>
              <a:ea typeface="华光粗黑_CNKI" panose="02000500000000000000" charset="-122"/>
            </a:endParaRPr>
          </a:p>
        </p:txBody>
      </p:sp>
      <p:grpSp>
        <p:nvGrpSpPr>
          <p:cNvPr id="45" name="组合 44"/>
          <p:cNvGrpSpPr/>
          <p:nvPr>
            <p:custDataLst>
              <p:tags r:id="rId26"/>
            </p:custDataLst>
          </p:nvPr>
        </p:nvGrpSpPr>
        <p:grpSpPr>
          <a:xfrm>
            <a:off x="5086007" y="1350819"/>
            <a:ext cx="823444" cy="171276"/>
            <a:chOff x="1400175" y="4597400"/>
            <a:chExt cx="2381250" cy="495300"/>
          </a:xfrm>
        </p:grpSpPr>
        <p:sp>
          <p:nvSpPr>
            <p:cNvPr id="47" name="梯形 46"/>
            <p:cNvSpPr/>
            <p:nvPr>
              <p:custDataLst>
                <p:tags r:id="rId27"/>
              </p:custDataLst>
            </p:nvPr>
          </p:nvSpPr>
          <p:spPr>
            <a:xfrm>
              <a:off x="1400175" y="4597400"/>
              <a:ext cx="2381250" cy="336551"/>
            </a:xfrm>
            <a:prstGeom prst="trapezoid">
              <a:avLst>
                <a:gd name="adj" fmla="val 55159"/>
              </a:avLst>
            </a:prstGeom>
            <a:solidFill>
              <a:srgbClr val="E779A3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28"/>
              </p:custDataLst>
            </p:nvPr>
          </p:nvSpPr>
          <p:spPr>
            <a:xfrm>
              <a:off x="1595438" y="4597400"/>
              <a:ext cx="1990725" cy="495300"/>
            </a:xfrm>
            <a:custGeom>
              <a:avLst/>
              <a:gdLst>
                <a:gd name="connsiteX0" fmla="*/ 1704974 w 1990725"/>
                <a:gd name="connsiteY0" fmla="*/ 161925 h 495300"/>
                <a:gd name="connsiteX1" fmla="*/ 1684737 w 1990725"/>
                <a:gd name="connsiteY1" fmla="*/ 227413 h 495300"/>
                <a:gd name="connsiteX2" fmla="*/ 1619249 w 1990725"/>
                <a:gd name="connsiteY2" fmla="*/ 227413 h 495300"/>
                <a:gd name="connsiteX3" fmla="*/ 1672231 w 1990725"/>
                <a:gd name="connsiteY3" fmla="*/ 267886 h 495300"/>
                <a:gd name="connsiteX4" fmla="*/ 1651993 w 1990725"/>
                <a:gd name="connsiteY4" fmla="*/ 333375 h 495300"/>
                <a:gd name="connsiteX5" fmla="*/ 1704974 w 1990725"/>
                <a:gd name="connsiteY5" fmla="*/ 292900 h 495300"/>
                <a:gd name="connsiteX6" fmla="*/ 1757955 w 1990725"/>
                <a:gd name="connsiteY6" fmla="*/ 333375 h 495300"/>
                <a:gd name="connsiteX7" fmla="*/ 1737717 w 1990725"/>
                <a:gd name="connsiteY7" fmla="*/ 267886 h 495300"/>
                <a:gd name="connsiteX8" fmla="*/ 1790699 w 1990725"/>
                <a:gd name="connsiteY8" fmla="*/ 227413 h 495300"/>
                <a:gd name="connsiteX9" fmla="*/ 1725211 w 1990725"/>
                <a:gd name="connsiteY9" fmla="*/ 227413 h 495300"/>
                <a:gd name="connsiteX10" fmla="*/ 1485899 w 1990725"/>
                <a:gd name="connsiteY10" fmla="*/ 161925 h 495300"/>
                <a:gd name="connsiteX11" fmla="*/ 1465662 w 1990725"/>
                <a:gd name="connsiteY11" fmla="*/ 227413 h 495300"/>
                <a:gd name="connsiteX12" fmla="*/ 1400174 w 1990725"/>
                <a:gd name="connsiteY12" fmla="*/ 227413 h 495300"/>
                <a:gd name="connsiteX13" fmla="*/ 1453156 w 1990725"/>
                <a:gd name="connsiteY13" fmla="*/ 267886 h 495300"/>
                <a:gd name="connsiteX14" fmla="*/ 1432918 w 1990725"/>
                <a:gd name="connsiteY14" fmla="*/ 333375 h 495300"/>
                <a:gd name="connsiteX15" fmla="*/ 1485899 w 1990725"/>
                <a:gd name="connsiteY15" fmla="*/ 292900 h 495300"/>
                <a:gd name="connsiteX16" fmla="*/ 1538880 w 1990725"/>
                <a:gd name="connsiteY16" fmla="*/ 333375 h 495300"/>
                <a:gd name="connsiteX17" fmla="*/ 1518642 w 1990725"/>
                <a:gd name="connsiteY17" fmla="*/ 267886 h 495300"/>
                <a:gd name="connsiteX18" fmla="*/ 1571624 w 1990725"/>
                <a:gd name="connsiteY18" fmla="*/ 227413 h 495300"/>
                <a:gd name="connsiteX19" fmla="*/ 1506136 w 1990725"/>
                <a:gd name="connsiteY19" fmla="*/ 227413 h 495300"/>
                <a:gd name="connsiteX20" fmla="*/ 1266825 w 1990725"/>
                <a:gd name="connsiteY20" fmla="*/ 161925 h 495300"/>
                <a:gd name="connsiteX21" fmla="*/ 1246588 w 1990725"/>
                <a:gd name="connsiteY21" fmla="*/ 227413 h 495300"/>
                <a:gd name="connsiteX22" fmla="*/ 1181100 w 1990725"/>
                <a:gd name="connsiteY22" fmla="*/ 227413 h 495300"/>
                <a:gd name="connsiteX23" fmla="*/ 1234082 w 1990725"/>
                <a:gd name="connsiteY23" fmla="*/ 267886 h 495300"/>
                <a:gd name="connsiteX24" fmla="*/ 1213844 w 1990725"/>
                <a:gd name="connsiteY24" fmla="*/ 333375 h 495300"/>
                <a:gd name="connsiteX25" fmla="*/ 1266825 w 1990725"/>
                <a:gd name="connsiteY25" fmla="*/ 292900 h 495300"/>
                <a:gd name="connsiteX26" fmla="*/ 1319806 w 1990725"/>
                <a:gd name="connsiteY26" fmla="*/ 333375 h 495300"/>
                <a:gd name="connsiteX27" fmla="*/ 1299568 w 1990725"/>
                <a:gd name="connsiteY27" fmla="*/ 267886 h 495300"/>
                <a:gd name="connsiteX28" fmla="*/ 1352550 w 1990725"/>
                <a:gd name="connsiteY28" fmla="*/ 227413 h 495300"/>
                <a:gd name="connsiteX29" fmla="*/ 1287062 w 1990725"/>
                <a:gd name="connsiteY29" fmla="*/ 227413 h 495300"/>
                <a:gd name="connsiteX30" fmla="*/ 723900 w 1990725"/>
                <a:gd name="connsiteY30" fmla="*/ 161925 h 495300"/>
                <a:gd name="connsiteX31" fmla="*/ 703663 w 1990725"/>
                <a:gd name="connsiteY31" fmla="*/ 227413 h 495300"/>
                <a:gd name="connsiteX32" fmla="*/ 638175 w 1990725"/>
                <a:gd name="connsiteY32" fmla="*/ 227413 h 495300"/>
                <a:gd name="connsiteX33" fmla="*/ 691157 w 1990725"/>
                <a:gd name="connsiteY33" fmla="*/ 267886 h 495300"/>
                <a:gd name="connsiteX34" fmla="*/ 670919 w 1990725"/>
                <a:gd name="connsiteY34" fmla="*/ 333375 h 495300"/>
                <a:gd name="connsiteX35" fmla="*/ 723900 w 1990725"/>
                <a:gd name="connsiteY35" fmla="*/ 292900 h 495300"/>
                <a:gd name="connsiteX36" fmla="*/ 776881 w 1990725"/>
                <a:gd name="connsiteY36" fmla="*/ 333375 h 495300"/>
                <a:gd name="connsiteX37" fmla="*/ 756643 w 1990725"/>
                <a:gd name="connsiteY37" fmla="*/ 267886 h 495300"/>
                <a:gd name="connsiteX38" fmla="*/ 809625 w 1990725"/>
                <a:gd name="connsiteY38" fmla="*/ 227413 h 495300"/>
                <a:gd name="connsiteX39" fmla="*/ 744137 w 1990725"/>
                <a:gd name="connsiteY39" fmla="*/ 227413 h 495300"/>
                <a:gd name="connsiteX40" fmla="*/ 504825 w 1990725"/>
                <a:gd name="connsiteY40" fmla="*/ 161925 h 495300"/>
                <a:gd name="connsiteX41" fmla="*/ 484588 w 1990725"/>
                <a:gd name="connsiteY41" fmla="*/ 227413 h 495300"/>
                <a:gd name="connsiteX42" fmla="*/ 419100 w 1990725"/>
                <a:gd name="connsiteY42" fmla="*/ 227413 h 495300"/>
                <a:gd name="connsiteX43" fmla="*/ 472082 w 1990725"/>
                <a:gd name="connsiteY43" fmla="*/ 267886 h 495300"/>
                <a:gd name="connsiteX44" fmla="*/ 451844 w 1990725"/>
                <a:gd name="connsiteY44" fmla="*/ 333375 h 495300"/>
                <a:gd name="connsiteX45" fmla="*/ 504825 w 1990725"/>
                <a:gd name="connsiteY45" fmla="*/ 292900 h 495300"/>
                <a:gd name="connsiteX46" fmla="*/ 557806 w 1990725"/>
                <a:gd name="connsiteY46" fmla="*/ 333375 h 495300"/>
                <a:gd name="connsiteX47" fmla="*/ 537568 w 1990725"/>
                <a:gd name="connsiteY47" fmla="*/ 267886 h 495300"/>
                <a:gd name="connsiteX48" fmla="*/ 590550 w 1990725"/>
                <a:gd name="connsiteY48" fmla="*/ 227413 h 495300"/>
                <a:gd name="connsiteX49" fmla="*/ 525062 w 1990725"/>
                <a:gd name="connsiteY49" fmla="*/ 227413 h 495300"/>
                <a:gd name="connsiteX50" fmla="*/ 285751 w 1990725"/>
                <a:gd name="connsiteY50" fmla="*/ 161925 h 495300"/>
                <a:gd name="connsiteX51" fmla="*/ 265514 w 1990725"/>
                <a:gd name="connsiteY51" fmla="*/ 227413 h 495300"/>
                <a:gd name="connsiteX52" fmla="*/ 200026 w 1990725"/>
                <a:gd name="connsiteY52" fmla="*/ 227413 h 495300"/>
                <a:gd name="connsiteX53" fmla="*/ 253008 w 1990725"/>
                <a:gd name="connsiteY53" fmla="*/ 267886 h 495300"/>
                <a:gd name="connsiteX54" fmla="*/ 232770 w 1990725"/>
                <a:gd name="connsiteY54" fmla="*/ 333375 h 495300"/>
                <a:gd name="connsiteX55" fmla="*/ 285751 w 1990725"/>
                <a:gd name="connsiteY55" fmla="*/ 292900 h 495300"/>
                <a:gd name="connsiteX56" fmla="*/ 338732 w 1990725"/>
                <a:gd name="connsiteY56" fmla="*/ 333375 h 495300"/>
                <a:gd name="connsiteX57" fmla="*/ 318494 w 1990725"/>
                <a:gd name="connsiteY57" fmla="*/ 267886 h 495300"/>
                <a:gd name="connsiteX58" fmla="*/ 371476 w 1990725"/>
                <a:gd name="connsiteY58" fmla="*/ 227413 h 495300"/>
                <a:gd name="connsiteX59" fmla="*/ 305988 w 1990725"/>
                <a:gd name="connsiteY59" fmla="*/ 227413 h 495300"/>
                <a:gd name="connsiteX60" fmla="*/ 0 w 1990725"/>
                <a:gd name="connsiteY60" fmla="*/ 0 h 495300"/>
                <a:gd name="connsiteX61" fmla="*/ 1990725 w 1990725"/>
                <a:gd name="connsiteY61" fmla="*/ 0 h 495300"/>
                <a:gd name="connsiteX62" fmla="*/ 1798400 w 1990725"/>
                <a:gd name="connsiteY62" fmla="*/ 495300 h 495300"/>
                <a:gd name="connsiteX63" fmla="*/ 192325 w 1990725"/>
                <a:gd name="connsiteY63" fmla="*/ 4953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90725" h="495300">
                  <a:moveTo>
                    <a:pt x="1704974" y="161925"/>
                  </a:moveTo>
                  <a:lnTo>
                    <a:pt x="1684737" y="227413"/>
                  </a:lnTo>
                  <a:lnTo>
                    <a:pt x="1619249" y="227413"/>
                  </a:lnTo>
                  <a:lnTo>
                    <a:pt x="1672231" y="267886"/>
                  </a:lnTo>
                  <a:lnTo>
                    <a:pt x="1651993" y="333375"/>
                  </a:lnTo>
                  <a:lnTo>
                    <a:pt x="1704974" y="292900"/>
                  </a:lnTo>
                  <a:lnTo>
                    <a:pt x="1757955" y="333375"/>
                  </a:lnTo>
                  <a:lnTo>
                    <a:pt x="1737717" y="267886"/>
                  </a:lnTo>
                  <a:lnTo>
                    <a:pt x="1790699" y="227413"/>
                  </a:lnTo>
                  <a:lnTo>
                    <a:pt x="1725211" y="227413"/>
                  </a:lnTo>
                  <a:close/>
                  <a:moveTo>
                    <a:pt x="1485899" y="161925"/>
                  </a:moveTo>
                  <a:lnTo>
                    <a:pt x="1465662" y="227413"/>
                  </a:lnTo>
                  <a:lnTo>
                    <a:pt x="1400174" y="227413"/>
                  </a:lnTo>
                  <a:lnTo>
                    <a:pt x="1453156" y="267886"/>
                  </a:lnTo>
                  <a:lnTo>
                    <a:pt x="1432918" y="333375"/>
                  </a:lnTo>
                  <a:lnTo>
                    <a:pt x="1485899" y="292900"/>
                  </a:lnTo>
                  <a:lnTo>
                    <a:pt x="1538880" y="333375"/>
                  </a:lnTo>
                  <a:lnTo>
                    <a:pt x="1518642" y="267886"/>
                  </a:lnTo>
                  <a:lnTo>
                    <a:pt x="1571624" y="227413"/>
                  </a:lnTo>
                  <a:lnTo>
                    <a:pt x="1506136" y="227413"/>
                  </a:lnTo>
                  <a:close/>
                  <a:moveTo>
                    <a:pt x="1266825" y="161925"/>
                  </a:moveTo>
                  <a:lnTo>
                    <a:pt x="1246588" y="227413"/>
                  </a:lnTo>
                  <a:lnTo>
                    <a:pt x="1181100" y="227413"/>
                  </a:lnTo>
                  <a:lnTo>
                    <a:pt x="1234082" y="267886"/>
                  </a:lnTo>
                  <a:lnTo>
                    <a:pt x="1213844" y="333375"/>
                  </a:lnTo>
                  <a:lnTo>
                    <a:pt x="1266825" y="292900"/>
                  </a:lnTo>
                  <a:lnTo>
                    <a:pt x="1319806" y="333375"/>
                  </a:lnTo>
                  <a:lnTo>
                    <a:pt x="1299568" y="267886"/>
                  </a:lnTo>
                  <a:lnTo>
                    <a:pt x="1352550" y="227413"/>
                  </a:lnTo>
                  <a:lnTo>
                    <a:pt x="1287062" y="227413"/>
                  </a:lnTo>
                  <a:close/>
                  <a:moveTo>
                    <a:pt x="723900" y="161925"/>
                  </a:moveTo>
                  <a:lnTo>
                    <a:pt x="703663" y="227413"/>
                  </a:lnTo>
                  <a:lnTo>
                    <a:pt x="638175" y="227413"/>
                  </a:lnTo>
                  <a:lnTo>
                    <a:pt x="691157" y="267886"/>
                  </a:lnTo>
                  <a:lnTo>
                    <a:pt x="670919" y="333375"/>
                  </a:lnTo>
                  <a:lnTo>
                    <a:pt x="723900" y="292900"/>
                  </a:lnTo>
                  <a:lnTo>
                    <a:pt x="776881" y="333375"/>
                  </a:lnTo>
                  <a:lnTo>
                    <a:pt x="756643" y="267886"/>
                  </a:lnTo>
                  <a:lnTo>
                    <a:pt x="809625" y="227413"/>
                  </a:lnTo>
                  <a:lnTo>
                    <a:pt x="744137" y="227413"/>
                  </a:lnTo>
                  <a:close/>
                  <a:moveTo>
                    <a:pt x="504825" y="161925"/>
                  </a:moveTo>
                  <a:lnTo>
                    <a:pt x="484588" y="227413"/>
                  </a:lnTo>
                  <a:lnTo>
                    <a:pt x="419100" y="227413"/>
                  </a:lnTo>
                  <a:lnTo>
                    <a:pt x="472082" y="267886"/>
                  </a:lnTo>
                  <a:lnTo>
                    <a:pt x="451844" y="333375"/>
                  </a:lnTo>
                  <a:lnTo>
                    <a:pt x="504825" y="292900"/>
                  </a:lnTo>
                  <a:lnTo>
                    <a:pt x="557806" y="333375"/>
                  </a:lnTo>
                  <a:lnTo>
                    <a:pt x="537568" y="267886"/>
                  </a:lnTo>
                  <a:lnTo>
                    <a:pt x="590550" y="227413"/>
                  </a:lnTo>
                  <a:lnTo>
                    <a:pt x="525062" y="227413"/>
                  </a:lnTo>
                  <a:close/>
                  <a:moveTo>
                    <a:pt x="285751" y="161925"/>
                  </a:moveTo>
                  <a:lnTo>
                    <a:pt x="265514" y="227413"/>
                  </a:lnTo>
                  <a:lnTo>
                    <a:pt x="200026" y="227413"/>
                  </a:lnTo>
                  <a:lnTo>
                    <a:pt x="253008" y="267886"/>
                  </a:lnTo>
                  <a:lnTo>
                    <a:pt x="232770" y="333375"/>
                  </a:lnTo>
                  <a:lnTo>
                    <a:pt x="285751" y="292900"/>
                  </a:lnTo>
                  <a:lnTo>
                    <a:pt x="338732" y="333375"/>
                  </a:lnTo>
                  <a:lnTo>
                    <a:pt x="318494" y="267886"/>
                  </a:lnTo>
                  <a:lnTo>
                    <a:pt x="371476" y="227413"/>
                  </a:lnTo>
                  <a:lnTo>
                    <a:pt x="305988" y="227413"/>
                  </a:lnTo>
                  <a:close/>
                  <a:moveTo>
                    <a:pt x="0" y="0"/>
                  </a:moveTo>
                  <a:lnTo>
                    <a:pt x="1990725" y="0"/>
                  </a:lnTo>
                  <a:lnTo>
                    <a:pt x="1798400" y="495300"/>
                  </a:lnTo>
                  <a:lnTo>
                    <a:pt x="192325" y="495300"/>
                  </a:lnTo>
                  <a:close/>
                </a:path>
              </a:pathLst>
            </a:custGeom>
            <a:solidFill>
              <a:srgbClr val="E779A3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 fontScale="25000" lnSpcReduction="20000"/>
            </a:bodyPr>
            <a:lstStyle/>
            <a:p>
              <a:pPr algn="ctr"/>
              <a:r>
                <a:rPr lang="en-US" altLang="zh-CN" sz="2800" dirty="0">
                  <a:solidFill>
                    <a:srgbClr val="E779A3">
                      <a:lumMod val="50000"/>
                    </a:srgbClr>
                  </a:solidFill>
                </a:rPr>
                <a:t>A</a:t>
              </a:r>
              <a:endParaRPr lang="zh-CN" altLang="en-US" sz="2800" dirty="0">
                <a:solidFill>
                  <a:srgbClr val="E779A3">
                    <a:lumMod val="50000"/>
                  </a:srgbClr>
                </a:solidFill>
              </a:endParaRPr>
            </a:p>
          </p:txBody>
        </p:sp>
      </p:grpSp>
    </p:spTree>
    <p:custDataLst>
      <p:tags r:id="rId2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24598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498919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2"/>
                </a:solidFill>
              </a:rPr>
              <a:t>研究结论</a:t>
            </a:r>
            <a:endParaRPr lang="zh-CN" altLang="en-US" sz="2400" b="1">
              <a:solidFill>
                <a:schemeClr val="bg2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感悟及致谢</a:t>
            </a:r>
            <a:endParaRPr lang="zh-CN" altLang="en-US" sz="2400" b="1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tx1"/>
                </a:solidFill>
              </a:rPr>
              <a:t>研究结果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2246630" y="1374775"/>
            <a:ext cx="9738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spc="209">
                <a:solidFill>
                  <a:schemeClr val="tx1"/>
                </a:solidFill>
                <a:uFillTx/>
              </a:rPr>
              <a:t> </a:t>
            </a:r>
            <a:endParaRPr sz="2000" b="1" spc="209">
              <a:solidFill>
                <a:schemeClr val="tx1"/>
              </a:solidFill>
              <a:uFillTx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641600" y="159485"/>
            <a:ext cx="4271010" cy="479325"/>
            <a:chOff x="4160" y="245"/>
            <a:chExt cx="6726" cy="916"/>
          </a:xfrm>
        </p:grpSpPr>
        <p:sp>
          <p:nvSpPr>
            <p:cNvPr id="24" name="同侧圆角矩形 23"/>
            <p:cNvSpPr/>
            <p:nvPr>
              <p:custDataLst>
                <p:tags r:id="rId7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5.1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研究结论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759835" y="1456055"/>
            <a:ext cx="6655435" cy="4462145"/>
            <a:chOff x="4049" y="1701"/>
            <a:chExt cx="10481" cy="7027"/>
          </a:xfrm>
        </p:grpSpPr>
        <p:sp>
          <p:nvSpPr>
            <p:cNvPr id="222" name="圆角矩形 221"/>
            <p:cNvSpPr/>
            <p:nvPr>
              <p:custDataLst>
                <p:tags r:id="rId9"/>
              </p:custDataLst>
            </p:nvPr>
          </p:nvSpPr>
          <p:spPr>
            <a:xfrm>
              <a:off x="6991" y="1823"/>
              <a:ext cx="7045" cy="970"/>
            </a:xfrm>
            <a:prstGeom prst="roundRect">
              <a:avLst/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3" name="直接连接符 222"/>
            <p:cNvCxnSpPr/>
            <p:nvPr>
              <p:custDataLst>
                <p:tags r:id="rId10"/>
              </p:custDataLst>
            </p:nvPr>
          </p:nvCxnSpPr>
          <p:spPr>
            <a:xfrm>
              <a:off x="6778" y="1701"/>
              <a:ext cx="26" cy="6734"/>
            </a:xfrm>
            <a:prstGeom prst="line">
              <a:avLst/>
            </a:prstGeom>
            <a:ln w="28575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文本框 241"/>
            <p:cNvSpPr txBox="1"/>
            <p:nvPr>
              <p:custDataLst>
                <p:tags r:id="rId11"/>
              </p:custDataLst>
            </p:nvPr>
          </p:nvSpPr>
          <p:spPr>
            <a:xfrm>
              <a:off x="7588" y="1874"/>
              <a:ext cx="6942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PNS</a:t>
              </a:r>
              <a:r>
                <a:rPr lang="zh-CN" altLang="en-US" sz="1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可通过</a:t>
              </a:r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抑制</a:t>
              </a:r>
              <a:r>
                <a:rPr lang="zh-CN" altLang="en-US" sz="1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HaCaT 细胞</a:t>
              </a:r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铁死亡</a:t>
              </a:r>
              <a:endPara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r>
                <a:rPr lang="zh-CN" altLang="en-US" sz="1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缓解槟榔碱诱导的</a:t>
              </a:r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口腔黏膜下纤维化</a:t>
              </a:r>
              <a:endPara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991" y="4981"/>
              <a:ext cx="7136" cy="974"/>
              <a:chOff x="6991" y="6181"/>
              <a:chExt cx="7136" cy="974"/>
            </a:xfrm>
          </p:grpSpPr>
          <p:sp>
            <p:nvSpPr>
              <p:cNvPr id="221" name="圆角矩形 220"/>
              <p:cNvSpPr/>
              <p:nvPr>
                <p:custDataLst>
                  <p:tags r:id="rId12"/>
                </p:custDataLst>
              </p:nvPr>
            </p:nvSpPr>
            <p:spPr>
              <a:xfrm>
                <a:off x="6991" y="6185"/>
                <a:ext cx="7045" cy="970"/>
              </a:xfrm>
              <a:prstGeom prst="roundRect">
                <a:avLst/>
              </a:prstGeom>
              <a:ln w="38100"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文本框 25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991" y="6181"/>
                <a:ext cx="7136" cy="91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sz="16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PNS</a:t>
                </a:r>
                <a:r>
                  <a:rPr sz="16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具体可通过</a:t>
                </a:r>
                <a:r>
                  <a:rPr sz="16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上调 SLC7A11/GSH/GPX4 </a:t>
                </a:r>
                <a:r>
                  <a:rPr sz="16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信号通路</a:t>
                </a:r>
                <a:r>
                  <a:rPr sz="16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抑制铁死亡</a:t>
                </a:r>
                <a:r>
                  <a:rPr sz="16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缓解口腔黏膜下纤维化</a:t>
                </a:r>
                <a:endParaRPr sz="1600" b="1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688" y="3251"/>
              <a:ext cx="2708" cy="599"/>
              <a:chOff x="5060" y="4026"/>
              <a:chExt cx="2708" cy="599"/>
            </a:xfrm>
          </p:grpSpPr>
          <p:grpSp>
            <p:nvGrpSpPr>
              <p:cNvPr id="243" name="组合 242"/>
              <p:cNvGrpSpPr/>
              <p:nvPr/>
            </p:nvGrpSpPr>
            <p:grpSpPr>
              <a:xfrm>
                <a:off x="5060" y="4026"/>
                <a:ext cx="862" cy="385"/>
                <a:chOff x="1384" y="3552"/>
                <a:chExt cx="1345" cy="564"/>
              </a:xfrm>
            </p:grpSpPr>
            <p:cxnSp>
              <p:nvCxnSpPr>
                <p:cNvPr id="250" name="直接箭头连接符 249"/>
                <p:cNvCxnSpPr>
                  <a:stCxn id="249" idx="3"/>
                </p:cNvCxnSpPr>
                <p:nvPr>
                  <p:custDataLst>
                    <p:tags r:id="rId14"/>
                  </p:custDataLst>
                </p:nvPr>
              </p:nvCxnSpPr>
              <p:spPr>
                <a:xfrm>
                  <a:off x="2291" y="3552"/>
                  <a:ext cx="424" cy="337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1" name="文本框 250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384" y="3656"/>
                  <a:ext cx="1345" cy="46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900" b="1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ANE</a:t>
                  </a:r>
                  <a:endParaRPr lang="en-US" altLang="zh-CN" sz="90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262" name="组合 261"/>
              <p:cNvGrpSpPr/>
              <p:nvPr/>
            </p:nvGrpSpPr>
            <p:grpSpPr>
              <a:xfrm rot="16200000">
                <a:off x="7488" y="4345"/>
                <a:ext cx="213" cy="347"/>
                <a:chOff x="3226" y="6338"/>
                <a:chExt cx="378" cy="803"/>
              </a:xfrm>
            </p:grpSpPr>
            <p:cxnSp>
              <p:nvCxnSpPr>
                <p:cNvPr id="263" name="直接连接符 262"/>
                <p:cNvCxnSpPr/>
                <p:nvPr>
                  <p:custDataLst>
                    <p:tags r:id="rId16"/>
                  </p:custDataLst>
                </p:nvPr>
              </p:nvCxnSpPr>
              <p:spPr>
                <a:xfrm>
                  <a:off x="3409" y="6338"/>
                  <a:ext cx="0" cy="79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直接连接符 263"/>
                <p:cNvCxnSpPr/>
                <p:nvPr>
                  <p:custDataLst>
                    <p:tags r:id="rId17"/>
                  </p:custDataLst>
                </p:nvPr>
              </p:nvCxnSpPr>
              <p:spPr>
                <a:xfrm>
                  <a:off x="3226" y="7135"/>
                  <a:ext cx="378" cy="6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组合 273"/>
              <p:cNvGrpSpPr/>
              <p:nvPr/>
            </p:nvGrpSpPr>
            <p:grpSpPr>
              <a:xfrm rot="16200000">
                <a:off x="5449" y="4341"/>
                <a:ext cx="213" cy="347"/>
                <a:chOff x="3226" y="6338"/>
                <a:chExt cx="378" cy="803"/>
              </a:xfrm>
            </p:grpSpPr>
            <p:cxnSp>
              <p:nvCxnSpPr>
                <p:cNvPr id="275" name="直接连接符 274"/>
                <p:cNvCxnSpPr/>
                <p:nvPr>
                  <p:custDataLst>
                    <p:tags r:id="rId18"/>
                  </p:custDataLst>
                </p:nvPr>
              </p:nvCxnSpPr>
              <p:spPr>
                <a:xfrm>
                  <a:off x="3409" y="6338"/>
                  <a:ext cx="0" cy="79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连接符 275"/>
                <p:cNvCxnSpPr/>
                <p:nvPr>
                  <p:custDataLst>
                    <p:tags r:id="rId19"/>
                  </p:custDataLst>
                </p:nvPr>
              </p:nvCxnSpPr>
              <p:spPr>
                <a:xfrm>
                  <a:off x="3226" y="7135"/>
                  <a:ext cx="378" cy="6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组合 28"/>
            <p:cNvGrpSpPr/>
            <p:nvPr/>
          </p:nvGrpSpPr>
          <p:grpSpPr>
            <a:xfrm>
              <a:off x="8846" y="6874"/>
              <a:ext cx="4412" cy="1854"/>
              <a:chOff x="8630" y="6874"/>
              <a:chExt cx="4412" cy="185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150" y="6874"/>
                <a:ext cx="3892" cy="1854"/>
                <a:chOff x="5760" y="7988"/>
                <a:chExt cx="3892" cy="1854"/>
              </a:xfrm>
            </p:grpSpPr>
            <p:grpSp>
              <p:nvGrpSpPr>
                <p:cNvPr id="254" name="组合 253"/>
                <p:cNvGrpSpPr/>
                <p:nvPr/>
              </p:nvGrpSpPr>
              <p:grpSpPr>
                <a:xfrm>
                  <a:off x="5760" y="8168"/>
                  <a:ext cx="3892" cy="1674"/>
                  <a:chOff x="2339" y="8068"/>
                  <a:chExt cx="7263" cy="2693"/>
                </a:xfrm>
              </p:grpSpPr>
              <p:sp>
                <p:nvSpPr>
                  <p:cNvPr id="257" name="圆角矩形 256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2339" y="8068"/>
                    <a:ext cx="3747" cy="81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SLC7A11/GSH/GPX4</a:t>
                    </a:r>
                    <a:endParaRPr sz="10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59" name="文本框 258"/>
                  <p:cNvSpPr txBox="1"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7445" y="8153"/>
                    <a:ext cx="2157" cy="5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zh-CN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铁死亡</a:t>
                    </a:r>
                    <a:endParaRPr lang="zh-CN" altLang="en-US" sz="10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61" name="文本框 260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7556" y="10375"/>
                    <a:ext cx="1823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OSF</a:t>
                    </a:r>
                    <a:endParaRPr lang="zh-CN" altLang="en-US" sz="10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271" name="组合 270"/>
                <p:cNvGrpSpPr/>
                <p:nvPr/>
              </p:nvGrpSpPr>
              <p:grpSpPr>
                <a:xfrm rot="14820000">
                  <a:off x="8085" y="7921"/>
                  <a:ext cx="213" cy="347"/>
                  <a:chOff x="3226" y="6338"/>
                  <a:chExt cx="378" cy="803"/>
                </a:xfrm>
              </p:grpSpPr>
              <p:cxnSp>
                <p:nvCxnSpPr>
                  <p:cNvPr id="272" name="直接连接符 271"/>
                  <p:cNvCxnSpPr/>
                  <p:nvPr>
                    <p:custDataLst>
                      <p:tags r:id="rId23"/>
                    </p:custDataLst>
                  </p:nvPr>
                </p:nvCxnSpPr>
                <p:spPr>
                  <a:xfrm>
                    <a:off x="3409" y="6338"/>
                    <a:ext cx="0" cy="797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直接连接符 272"/>
                  <p:cNvCxnSpPr/>
                  <p:nvPr>
                    <p:custDataLst>
                      <p:tags r:id="rId24"/>
                    </p:custDataLst>
                  </p:nvPr>
                </p:nvCxnSpPr>
                <p:spPr>
                  <a:xfrm>
                    <a:off x="3226" y="7135"/>
                    <a:ext cx="378" cy="6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7" name="组合 276"/>
                <p:cNvGrpSpPr/>
                <p:nvPr/>
              </p:nvGrpSpPr>
              <p:grpSpPr>
                <a:xfrm>
                  <a:off x="8739" y="8500"/>
                  <a:ext cx="213" cy="347"/>
                  <a:chOff x="3226" y="6338"/>
                  <a:chExt cx="378" cy="803"/>
                </a:xfrm>
              </p:grpSpPr>
              <p:cxnSp>
                <p:nvCxnSpPr>
                  <p:cNvPr id="278" name="直接连接符 277"/>
                  <p:cNvCxnSpPr/>
                  <p:nvPr>
                    <p:custDataLst>
                      <p:tags r:id="rId25"/>
                    </p:custDataLst>
                  </p:nvPr>
                </p:nvCxnSpPr>
                <p:spPr>
                  <a:xfrm>
                    <a:off x="3409" y="6338"/>
                    <a:ext cx="0" cy="797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直接连接符 278"/>
                  <p:cNvCxnSpPr/>
                  <p:nvPr>
                    <p:custDataLst>
                      <p:tags r:id="rId26"/>
                    </p:custDataLst>
                  </p:nvPr>
                </p:nvCxnSpPr>
                <p:spPr>
                  <a:xfrm>
                    <a:off x="3226" y="7135"/>
                    <a:ext cx="378" cy="6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8" name="直接箭头连接符 27"/>
              <p:cNvCxnSpPr/>
              <p:nvPr/>
            </p:nvCxnSpPr>
            <p:spPr>
              <a:xfrm>
                <a:off x="8630" y="7304"/>
                <a:ext cx="448" cy="4"/>
              </a:xfrm>
              <a:prstGeom prst="straightConnector1">
                <a:avLst/>
              </a:prstGeom>
              <a:ln w="34925" cmpd="sng">
                <a:solidFill>
                  <a:schemeClr val="accent1">
                    <a:shade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波形 29"/>
            <p:cNvSpPr/>
            <p:nvPr/>
          </p:nvSpPr>
          <p:spPr>
            <a:xfrm>
              <a:off x="4049" y="1760"/>
              <a:ext cx="2469" cy="1049"/>
            </a:xfrm>
            <a:prstGeom prst="wav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latin typeface="华光粗黑_CNKI" panose="02000500000000000000" charset="-122"/>
                  <a:ea typeface="华光粗黑_CNKI" panose="02000500000000000000" charset="-122"/>
                </a:rPr>
                <a:t>第一阶段</a:t>
              </a:r>
              <a:endParaRPr lang="zh-CN" altLang="en-US">
                <a:latin typeface="华光粗黑_CNKI" panose="02000500000000000000" charset="-122"/>
                <a:ea typeface="华光粗黑_CNKI" panose="02000500000000000000" charset="-122"/>
              </a:endParaRPr>
            </a:p>
          </p:txBody>
        </p:sp>
        <p:sp>
          <p:nvSpPr>
            <p:cNvPr id="31" name="波形 30"/>
            <p:cNvSpPr/>
            <p:nvPr>
              <p:custDataLst>
                <p:tags r:id="rId27"/>
              </p:custDataLst>
            </p:nvPr>
          </p:nvSpPr>
          <p:spPr>
            <a:xfrm>
              <a:off x="4049" y="4915"/>
              <a:ext cx="2469" cy="1049"/>
            </a:xfrm>
            <a:prstGeom prst="wav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latin typeface="华光粗黑_CNKI" panose="02000500000000000000" charset="-122"/>
                  <a:ea typeface="华光粗黑_CNKI" panose="02000500000000000000" charset="-122"/>
                </a:rPr>
                <a:t>第二阶段</a:t>
              </a:r>
              <a:endParaRPr lang="zh-CN" altLang="en-US">
                <a:latin typeface="华光粗黑_CNKI" panose="02000500000000000000" charset="-122"/>
                <a:ea typeface="华光粗黑_CNKI" panose="02000500000000000000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28"/>
            </p:custDataLst>
          </p:nvPr>
        </p:nvGrpSpPr>
        <p:grpSpPr>
          <a:xfrm>
            <a:off x="5086007" y="1350819"/>
            <a:ext cx="823444" cy="171276"/>
            <a:chOff x="1400175" y="4597400"/>
            <a:chExt cx="2381250" cy="495300"/>
          </a:xfrm>
        </p:grpSpPr>
        <p:sp>
          <p:nvSpPr>
            <p:cNvPr id="47" name="梯形 46"/>
            <p:cNvSpPr/>
            <p:nvPr>
              <p:custDataLst>
                <p:tags r:id="rId29"/>
              </p:custDataLst>
            </p:nvPr>
          </p:nvSpPr>
          <p:spPr>
            <a:xfrm>
              <a:off x="1400175" y="4597400"/>
              <a:ext cx="2381250" cy="336551"/>
            </a:xfrm>
            <a:prstGeom prst="trapezoid">
              <a:avLst>
                <a:gd name="adj" fmla="val 55159"/>
              </a:avLst>
            </a:prstGeom>
            <a:solidFill>
              <a:srgbClr val="E779A3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" name="任意多边形 1"/>
            <p:cNvSpPr/>
            <p:nvPr>
              <p:custDataLst>
                <p:tags r:id="rId30"/>
              </p:custDataLst>
            </p:nvPr>
          </p:nvSpPr>
          <p:spPr>
            <a:xfrm>
              <a:off x="1595438" y="4597400"/>
              <a:ext cx="1990725" cy="495300"/>
            </a:xfrm>
            <a:custGeom>
              <a:avLst/>
              <a:gdLst>
                <a:gd name="connsiteX0" fmla="*/ 1704974 w 1990725"/>
                <a:gd name="connsiteY0" fmla="*/ 161925 h 495300"/>
                <a:gd name="connsiteX1" fmla="*/ 1684737 w 1990725"/>
                <a:gd name="connsiteY1" fmla="*/ 227413 h 495300"/>
                <a:gd name="connsiteX2" fmla="*/ 1619249 w 1990725"/>
                <a:gd name="connsiteY2" fmla="*/ 227413 h 495300"/>
                <a:gd name="connsiteX3" fmla="*/ 1672231 w 1990725"/>
                <a:gd name="connsiteY3" fmla="*/ 267886 h 495300"/>
                <a:gd name="connsiteX4" fmla="*/ 1651993 w 1990725"/>
                <a:gd name="connsiteY4" fmla="*/ 333375 h 495300"/>
                <a:gd name="connsiteX5" fmla="*/ 1704974 w 1990725"/>
                <a:gd name="connsiteY5" fmla="*/ 292900 h 495300"/>
                <a:gd name="connsiteX6" fmla="*/ 1757955 w 1990725"/>
                <a:gd name="connsiteY6" fmla="*/ 333375 h 495300"/>
                <a:gd name="connsiteX7" fmla="*/ 1737717 w 1990725"/>
                <a:gd name="connsiteY7" fmla="*/ 267886 h 495300"/>
                <a:gd name="connsiteX8" fmla="*/ 1790699 w 1990725"/>
                <a:gd name="connsiteY8" fmla="*/ 227413 h 495300"/>
                <a:gd name="connsiteX9" fmla="*/ 1725211 w 1990725"/>
                <a:gd name="connsiteY9" fmla="*/ 227413 h 495300"/>
                <a:gd name="connsiteX10" fmla="*/ 1485899 w 1990725"/>
                <a:gd name="connsiteY10" fmla="*/ 161925 h 495300"/>
                <a:gd name="connsiteX11" fmla="*/ 1465662 w 1990725"/>
                <a:gd name="connsiteY11" fmla="*/ 227413 h 495300"/>
                <a:gd name="connsiteX12" fmla="*/ 1400174 w 1990725"/>
                <a:gd name="connsiteY12" fmla="*/ 227413 h 495300"/>
                <a:gd name="connsiteX13" fmla="*/ 1453156 w 1990725"/>
                <a:gd name="connsiteY13" fmla="*/ 267886 h 495300"/>
                <a:gd name="connsiteX14" fmla="*/ 1432918 w 1990725"/>
                <a:gd name="connsiteY14" fmla="*/ 333375 h 495300"/>
                <a:gd name="connsiteX15" fmla="*/ 1485899 w 1990725"/>
                <a:gd name="connsiteY15" fmla="*/ 292900 h 495300"/>
                <a:gd name="connsiteX16" fmla="*/ 1538880 w 1990725"/>
                <a:gd name="connsiteY16" fmla="*/ 333375 h 495300"/>
                <a:gd name="connsiteX17" fmla="*/ 1518642 w 1990725"/>
                <a:gd name="connsiteY17" fmla="*/ 267886 h 495300"/>
                <a:gd name="connsiteX18" fmla="*/ 1571624 w 1990725"/>
                <a:gd name="connsiteY18" fmla="*/ 227413 h 495300"/>
                <a:gd name="connsiteX19" fmla="*/ 1506136 w 1990725"/>
                <a:gd name="connsiteY19" fmla="*/ 227413 h 495300"/>
                <a:gd name="connsiteX20" fmla="*/ 1266825 w 1990725"/>
                <a:gd name="connsiteY20" fmla="*/ 161925 h 495300"/>
                <a:gd name="connsiteX21" fmla="*/ 1246588 w 1990725"/>
                <a:gd name="connsiteY21" fmla="*/ 227413 h 495300"/>
                <a:gd name="connsiteX22" fmla="*/ 1181100 w 1990725"/>
                <a:gd name="connsiteY22" fmla="*/ 227413 h 495300"/>
                <a:gd name="connsiteX23" fmla="*/ 1234082 w 1990725"/>
                <a:gd name="connsiteY23" fmla="*/ 267886 h 495300"/>
                <a:gd name="connsiteX24" fmla="*/ 1213844 w 1990725"/>
                <a:gd name="connsiteY24" fmla="*/ 333375 h 495300"/>
                <a:gd name="connsiteX25" fmla="*/ 1266825 w 1990725"/>
                <a:gd name="connsiteY25" fmla="*/ 292900 h 495300"/>
                <a:gd name="connsiteX26" fmla="*/ 1319806 w 1990725"/>
                <a:gd name="connsiteY26" fmla="*/ 333375 h 495300"/>
                <a:gd name="connsiteX27" fmla="*/ 1299568 w 1990725"/>
                <a:gd name="connsiteY27" fmla="*/ 267886 h 495300"/>
                <a:gd name="connsiteX28" fmla="*/ 1352550 w 1990725"/>
                <a:gd name="connsiteY28" fmla="*/ 227413 h 495300"/>
                <a:gd name="connsiteX29" fmla="*/ 1287062 w 1990725"/>
                <a:gd name="connsiteY29" fmla="*/ 227413 h 495300"/>
                <a:gd name="connsiteX30" fmla="*/ 723900 w 1990725"/>
                <a:gd name="connsiteY30" fmla="*/ 161925 h 495300"/>
                <a:gd name="connsiteX31" fmla="*/ 703663 w 1990725"/>
                <a:gd name="connsiteY31" fmla="*/ 227413 h 495300"/>
                <a:gd name="connsiteX32" fmla="*/ 638175 w 1990725"/>
                <a:gd name="connsiteY32" fmla="*/ 227413 h 495300"/>
                <a:gd name="connsiteX33" fmla="*/ 691157 w 1990725"/>
                <a:gd name="connsiteY33" fmla="*/ 267886 h 495300"/>
                <a:gd name="connsiteX34" fmla="*/ 670919 w 1990725"/>
                <a:gd name="connsiteY34" fmla="*/ 333375 h 495300"/>
                <a:gd name="connsiteX35" fmla="*/ 723900 w 1990725"/>
                <a:gd name="connsiteY35" fmla="*/ 292900 h 495300"/>
                <a:gd name="connsiteX36" fmla="*/ 776881 w 1990725"/>
                <a:gd name="connsiteY36" fmla="*/ 333375 h 495300"/>
                <a:gd name="connsiteX37" fmla="*/ 756643 w 1990725"/>
                <a:gd name="connsiteY37" fmla="*/ 267886 h 495300"/>
                <a:gd name="connsiteX38" fmla="*/ 809625 w 1990725"/>
                <a:gd name="connsiteY38" fmla="*/ 227413 h 495300"/>
                <a:gd name="connsiteX39" fmla="*/ 744137 w 1990725"/>
                <a:gd name="connsiteY39" fmla="*/ 227413 h 495300"/>
                <a:gd name="connsiteX40" fmla="*/ 504825 w 1990725"/>
                <a:gd name="connsiteY40" fmla="*/ 161925 h 495300"/>
                <a:gd name="connsiteX41" fmla="*/ 484588 w 1990725"/>
                <a:gd name="connsiteY41" fmla="*/ 227413 h 495300"/>
                <a:gd name="connsiteX42" fmla="*/ 419100 w 1990725"/>
                <a:gd name="connsiteY42" fmla="*/ 227413 h 495300"/>
                <a:gd name="connsiteX43" fmla="*/ 472082 w 1990725"/>
                <a:gd name="connsiteY43" fmla="*/ 267886 h 495300"/>
                <a:gd name="connsiteX44" fmla="*/ 451844 w 1990725"/>
                <a:gd name="connsiteY44" fmla="*/ 333375 h 495300"/>
                <a:gd name="connsiteX45" fmla="*/ 504825 w 1990725"/>
                <a:gd name="connsiteY45" fmla="*/ 292900 h 495300"/>
                <a:gd name="connsiteX46" fmla="*/ 557806 w 1990725"/>
                <a:gd name="connsiteY46" fmla="*/ 333375 h 495300"/>
                <a:gd name="connsiteX47" fmla="*/ 537568 w 1990725"/>
                <a:gd name="connsiteY47" fmla="*/ 267886 h 495300"/>
                <a:gd name="connsiteX48" fmla="*/ 590550 w 1990725"/>
                <a:gd name="connsiteY48" fmla="*/ 227413 h 495300"/>
                <a:gd name="connsiteX49" fmla="*/ 525062 w 1990725"/>
                <a:gd name="connsiteY49" fmla="*/ 227413 h 495300"/>
                <a:gd name="connsiteX50" fmla="*/ 285751 w 1990725"/>
                <a:gd name="connsiteY50" fmla="*/ 161925 h 495300"/>
                <a:gd name="connsiteX51" fmla="*/ 265514 w 1990725"/>
                <a:gd name="connsiteY51" fmla="*/ 227413 h 495300"/>
                <a:gd name="connsiteX52" fmla="*/ 200026 w 1990725"/>
                <a:gd name="connsiteY52" fmla="*/ 227413 h 495300"/>
                <a:gd name="connsiteX53" fmla="*/ 253008 w 1990725"/>
                <a:gd name="connsiteY53" fmla="*/ 267886 h 495300"/>
                <a:gd name="connsiteX54" fmla="*/ 232770 w 1990725"/>
                <a:gd name="connsiteY54" fmla="*/ 333375 h 495300"/>
                <a:gd name="connsiteX55" fmla="*/ 285751 w 1990725"/>
                <a:gd name="connsiteY55" fmla="*/ 292900 h 495300"/>
                <a:gd name="connsiteX56" fmla="*/ 338732 w 1990725"/>
                <a:gd name="connsiteY56" fmla="*/ 333375 h 495300"/>
                <a:gd name="connsiteX57" fmla="*/ 318494 w 1990725"/>
                <a:gd name="connsiteY57" fmla="*/ 267886 h 495300"/>
                <a:gd name="connsiteX58" fmla="*/ 371476 w 1990725"/>
                <a:gd name="connsiteY58" fmla="*/ 227413 h 495300"/>
                <a:gd name="connsiteX59" fmla="*/ 305988 w 1990725"/>
                <a:gd name="connsiteY59" fmla="*/ 227413 h 495300"/>
                <a:gd name="connsiteX60" fmla="*/ 0 w 1990725"/>
                <a:gd name="connsiteY60" fmla="*/ 0 h 495300"/>
                <a:gd name="connsiteX61" fmla="*/ 1990725 w 1990725"/>
                <a:gd name="connsiteY61" fmla="*/ 0 h 495300"/>
                <a:gd name="connsiteX62" fmla="*/ 1798400 w 1990725"/>
                <a:gd name="connsiteY62" fmla="*/ 495300 h 495300"/>
                <a:gd name="connsiteX63" fmla="*/ 192325 w 1990725"/>
                <a:gd name="connsiteY63" fmla="*/ 4953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90725" h="495300">
                  <a:moveTo>
                    <a:pt x="1704974" y="161925"/>
                  </a:moveTo>
                  <a:lnTo>
                    <a:pt x="1684737" y="227413"/>
                  </a:lnTo>
                  <a:lnTo>
                    <a:pt x="1619249" y="227413"/>
                  </a:lnTo>
                  <a:lnTo>
                    <a:pt x="1672231" y="267886"/>
                  </a:lnTo>
                  <a:lnTo>
                    <a:pt x="1651993" y="333375"/>
                  </a:lnTo>
                  <a:lnTo>
                    <a:pt x="1704974" y="292900"/>
                  </a:lnTo>
                  <a:lnTo>
                    <a:pt x="1757955" y="333375"/>
                  </a:lnTo>
                  <a:lnTo>
                    <a:pt x="1737717" y="267886"/>
                  </a:lnTo>
                  <a:lnTo>
                    <a:pt x="1790699" y="227413"/>
                  </a:lnTo>
                  <a:lnTo>
                    <a:pt x="1725211" y="227413"/>
                  </a:lnTo>
                  <a:close/>
                  <a:moveTo>
                    <a:pt x="1485899" y="161925"/>
                  </a:moveTo>
                  <a:lnTo>
                    <a:pt x="1465662" y="227413"/>
                  </a:lnTo>
                  <a:lnTo>
                    <a:pt x="1400174" y="227413"/>
                  </a:lnTo>
                  <a:lnTo>
                    <a:pt x="1453156" y="267886"/>
                  </a:lnTo>
                  <a:lnTo>
                    <a:pt x="1432918" y="333375"/>
                  </a:lnTo>
                  <a:lnTo>
                    <a:pt x="1485899" y="292900"/>
                  </a:lnTo>
                  <a:lnTo>
                    <a:pt x="1538880" y="333375"/>
                  </a:lnTo>
                  <a:lnTo>
                    <a:pt x="1518642" y="267886"/>
                  </a:lnTo>
                  <a:lnTo>
                    <a:pt x="1571624" y="227413"/>
                  </a:lnTo>
                  <a:lnTo>
                    <a:pt x="1506136" y="227413"/>
                  </a:lnTo>
                  <a:close/>
                  <a:moveTo>
                    <a:pt x="1266825" y="161925"/>
                  </a:moveTo>
                  <a:lnTo>
                    <a:pt x="1246588" y="227413"/>
                  </a:lnTo>
                  <a:lnTo>
                    <a:pt x="1181100" y="227413"/>
                  </a:lnTo>
                  <a:lnTo>
                    <a:pt x="1234082" y="267886"/>
                  </a:lnTo>
                  <a:lnTo>
                    <a:pt x="1213844" y="333375"/>
                  </a:lnTo>
                  <a:lnTo>
                    <a:pt x="1266825" y="292900"/>
                  </a:lnTo>
                  <a:lnTo>
                    <a:pt x="1319806" y="333375"/>
                  </a:lnTo>
                  <a:lnTo>
                    <a:pt x="1299568" y="267886"/>
                  </a:lnTo>
                  <a:lnTo>
                    <a:pt x="1352550" y="227413"/>
                  </a:lnTo>
                  <a:lnTo>
                    <a:pt x="1287062" y="227413"/>
                  </a:lnTo>
                  <a:close/>
                  <a:moveTo>
                    <a:pt x="723900" y="161925"/>
                  </a:moveTo>
                  <a:lnTo>
                    <a:pt x="703663" y="227413"/>
                  </a:lnTo>
                  <a:lnTo>
                    <a:pt x="638175" y="227413"/>
                  </a:lnTo>
                  <a:lnTo>
                    <a:pt x="691157" y="267886"/>
                  </a:lnTo>
                  <a:lnTo>
                    <a:pt x="670919" y="333375"/>
                  </a:lnTo>
                  <a:lnTo>
                    <a:pt x="723900" y="292900"/>
                  </a:lnTo>
                  <a:lnTo>
                    <a:pt x="776881" y="333375"/>
                  </a:lnTo>
                  <a:lnTo>
                    <a:pt x="756643" y="267886"/>
                  </a:lnTo>
                  <a:lnTo>
                    <a:pt x="809625" y="227413"/>
                  </a:lnTo>
                  <a:lnTo>
                    <a:pt x="744137" y="227413"/>
                  </a:lnTo>
                  <a:close/>
                  <a:moveTo>
                    <a:pt x="504825" y="161925"/>
                  </a:moveTo>
                  <a:lnTo>
                    <a:pt x="484588" y="227413"/>
                  </a:lnTo>
                  <a:lnTo>
                    <a:pt x="419100" y="227413"/>
                  </a:lnTo>
                  <a:lnTo>
                    <a:pt x="472082" y="267886"/>
                  </a:lnTo>
                  <a:lnTo>
                    <a:pt x="451844" y="333375"/>
                  </a:lnTo>
                  <a:lnTo>
                    <a:pt x="504825" y="292900"/>
                  </a:lnTo>
                  <a:lnTo>
                    <a:pt x="557806" y="333375"/>
                  </a:lnTo>
                  <a:lnTo>
                    <a:pt x="537568" y="267886"/>
                  </a:lnTo>
                  <a:lnTo>
                    <a:pt x="590550" y="227413"/>
                  </a:lnTo>
                  <a:lnTo>
                    <a:pt x="525062" y="227413"/>
                  </a:lnTo>
                  <a:close/>
                  <a:moveTo>
                    <a:pt x="285751" y="161925"/>
                  </a:moveTo>
                  <a:lnTo>
                    <a:pt x="265514" y="227413"/>
                  </a:lnTo>
                  <a:lnTo>
                    <a:pt x="200026" y="227413"/>
                  </a:lnTo>
                  <a:lnTo>
                    <a:pt x="253008" y="267886"/>
                  </a:lnTo>
                  <a:lnTo>
                    <a:pt x="232770" y="333375"/>
                  </a:lnTo>
                  <a:lnTo>
                    <a:pt x="285751" y="292900"/>
                  </a:lnTo>
                  <a:lnTo>
                    <a:pt x="338732" y="333375"/>
                  </a:lnTo>
                  <a:lnTo>
                    <a:pt x="318494" y="267886"/>
                  </a:lnTo>
                  <a:lnTo>
                    <a:pt x="371476" y="227413"/>
                  </a:lnTo>
                  <a:lnTo>
                    <a:pt x="305988" y="227413"/>
                  </a:lnTo>
                  <a:close/>
                  <a:moveTo>
                    <a:pt x="0" y="0"/>
                  </a:moveTo>
                  <a:lnTo>
                    <a:pt x="1990725" y="0"/>
                  </a:lnTo>
                  <a:lnTo>
                    <a:pt x="1798400" y="495300"/>
                  </a:lnTo>
                  <a:lnTo>
                    <a:pt x="192325" y="495300"/>
                  </a:lnTo>
                  <a:close/>
                </a:path>
              </a:pathLst>
            </a:custGeom>
            <a:solidFill>
              <a:srgbClr val="E779A3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 fontScale="25000" lnSpcReduction="20000"/>
            </a:bodyPr>
            <a:lstStyle/>
            <a:p>
              <a:pPr algn="ctr"/>
              <a:r>
                <a:rPr lang="en-US" altLang="zh-CN" sz="2800" dirty="0">
                  <a:solidFill>
                    <a:srgbClr val="E779A3">
                      <a:lumMod val="50000"/>
                    </a:srgbClr>
                  </a:solidFill>
                </a:rPr>
                <a:t>A</a:t>
              </a:r>
              <a:endParaRPr lang="zh-CN" altLang="en-US" sz="2800" dirty="0">
                <a:solidFill>
                  <a:srgbClr val="E779A3">
                    <a:lumMod val="50000"/>
                  </a:srgbClr>
                </a:solidFill>
              </a:endParaRPr>
            </a:p>
          </p:txBody>
        </p:sp>
      </p:grpSp>
    </p:spTree>
    <p:custDataLst>
      <p:tags r:id="rId3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wedge/>
      </p:transition>
    </mc:Choice>
    <mc:Fallback>
      <p:transition>
        <p:wedg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21106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578802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研究结论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感悟及致谢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tx1"/>
                </a:solidFill>
              </a:rPr>
              <a:t>研究结果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>
            <p:custDataLst>
              <p:tags r:id="rId6"/>
            </p:custDataLst>
          </p:nvPr>
        </p:nvGrpSpPr>
        <p:grpSpPr>
          <a:xfrm>
            <a:off x="2419350" y="1080770"/>
            <a:ext cx="9601200" cy="5756754"/>
            <a:chOff x="3861" y="1107"/>
            <a:chExt cx="15120" cy="9066"/>
          </a:xfrm>
        </p:grpSpPr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3861" y="5862"/>
              <a:ext cx="2875" cy="3431"/>
            </a:xfrm>
            <a:prstGeom prst="rect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2000">
                    <a:srgbClr val="92A6CF">
                      <a:alpha val="100000"/>
                    </a:srgb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22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3948" y="1107"/>
              <a:ext cx="15033" cy="9066"/>
              <a:chOff x="3948" y="1107"/>
              <a:chExt cx="15033" cy="9066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3948" y="1373"/>
                <a:ext cx="15033" cy="8800"/>
                <a:chOff x="398" y="1465"/>
                <a:chExt cx="18772" cy="10504"/>
              </a:xfrm>
            </p:grpSpPr>
            <p:sp>
              <p:nvSpPr>
                <p:cNvPr id="18" name="文本框 17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398" y="7451"/>
                  <a:ext cx="3400" cy="4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indent="0" algn="just" latinLnBrk="0">
                    <a:lnSpc>
                      <a:spcPct val="140000"/>
                    </a:lnSpc>
                  </a:pPr>
                  <a:r>
                    <a:rPr lang="zh-CN" altLang="en-US" sz="16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详细设计实验内容，统筹实验，进行</a:t>
                  </a:r>
                  <a:r>
                    <a:rPr lang="zh-CN" altLang="en-US" sz="1600" b="1">
                      <a:solidFill>
                        <a:srgbClr val="C00000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CCK-8、RT-qPCR</a:t>
                  </a:r>
                  <a:r>
                    <a:rPr lang="zh-CN" altLang="en-US" sz="16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检测等</a:t>
                  </a:r>
                  <a:endParaRPr lang="zh-CN" altLang="en-US" sz="16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  <a:p>
                  <a:pPr marL="0" indent="0" algn="just" latinLnBrk="0">
                    <a:lnSpc>
                      <a:spcPct val="140000"/>
                    </a:lnSpc>
                  </a:pPr>
                  <a:endParaRPr lang="zh-CN" altLang="en-US" sz="16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  <a:p>
                  <a:pPr algn="just">
                    <a:lnSpc>
                      <a:spcPct val="140000"/>
                    </a:lnSpc>
                  </a:pPr>
                  <a:endParaRPr lang="zh-CN" altLang="en-US" sz="16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  <a:p>
                  <a:pPr algn="just"/>
                  <a:endParaRPr lang="zh-CN" altLang="en-US" sz="1600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grpSp>
              <p:nvGrpSpPr>
                <p:cNvPr id="22" name="组合 21"/>
                <p:cNvGrpSpPr/>
                <p:nvPr/>
              </p:nvGrpSpPr>
              <p:grpSpPr>
                <a:xfrm>
                  <a:off x="1328" y="1465"/>
                  <a:ext cx="17842" cy="8776"/>
                  <a:chOff x="1328" y="1465"/>
                  <a:chExt cx="17842" cy="8776"/>
                </a:xfrm>
              </p:grpSpPr>
              <p:sp>
                <p:nvSpPr>
                  <p:cNvPr id="32" name="Line 17"/>
                  <p:cNvSpPr>
                    <a:spLocks noChangeShapeType="1"/>
                  </p:cNvSpPr>
                  <p:nvPr>
                    <p:custDataLst>
                      <p:tags r:id="rId9"/>
                    </p:custDataLst>
                  </p:nvPr>
                </p:nvSpPr>
                <p:spPr bwMode="auto">
                  <a:xfrm flipV="1">
                    <a:off x="1963" y="5992"/>
                    <a:ext cx="17207" cy="3"/>
                  </a:xfrm>
                  <a:prstGeom prst="lin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34" name="Oval 6"/>
                  <p:cNvSpPr>
                    <a:spLocks noChangeArrowheads="1"/>
                  </p:cNvSpPr>
                  <p:nvPr>
                    <p:custDataLst>
                      <p:tags r:id="rId10"/>
                    </p:custDataLst>
                  </p:nvPr>
                </p:nvSpPr>
                <p:spPr bwMode="auto">
                  <a:xfrm>
                    <a:off x="1871" y="5815"/>
                    <a:ext cx="350" cy="343"/>
                  </a:xfrm>
                  <a:prstGeom prst="ellips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35" name="Oval 7"/>
                  <p:cNvSpPr>
                    <a:spLocks noChangeArrowheads="1"/>
                  </p:cNvSpPr>
                  <p:nvPr>
                    <p:custDataLst>
                      <p:tags r:id="rId11"/>
                    </p:custDataLst>
                  </p:nvPr>
                </p:nvSpPr>
                <p:spPr bwMode="auto">
                  <a:xfrm>
                    <a:off x="1963" y="5903"/>
                    <a:ext cx="166" cy="17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36" name="Rectangle 18"/>
                  <p:cNvSpPr>
                    <a:spLocks noChangeArrowheads="1"/>
                  </p:cNvSpPr>
                  <p:nvPr>
                    <p:custDataLst>
                      <p:tags r:id="rId12"/>
                    </p:custDataLst>
                  </p:nvPr>
                </p:nvSpPr>
                <p:spPr bwMode="auto">
                  <a:xfrm>
                    <a:off x="1328" y="5299"/>
                    <a:ext cx="1378" cy="4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 anchor="ctr"/>
                  <a:lstStyle/>
                  <a:p>
                    <a:pPr algn="ctr"/>
                    <a:endParaRPr lang="zh-CN" altLang="en-US" sz="1800" b="1">
                      <a:solidFill>
                        <a:schemeClr val="accent1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+mj-cs"/>
                      <a:sym typeface="+mn-ea"/>
                    </a:endParaRPr>
                  </a:p>
                </p:txBody>
              </p:sp>
              <p:sp>
                <p:nvSpPr>
                  <p:cNvPr id="37" name="Freeform 20"/>
                  <p:cNvSpPr/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1732" y="4094"/>
                    <a:ext cx="628" cy="529"/>
                  </a:xfrm>
                  <a:custGeom>
                    <a:avLst/>
                    <a:gdLst>
                      <a:gd name="T0" fmla="*/ 127 w 130"/>
                      <a:gd name="T1" fmla="*/ 73 h 110"/>
                      <a:gd name="T2" fmla="*/ 121 w 130"/>
                      <a:gd name="T3" fmla="*/ 75 h 110"/>
                      <a:gd name="T4" fmla="*/ 115 w 130"/>
                      <a:gd name="T5" fmla="*/ 73 h 110"/>
                      <a:gd name="T6" fmla="*/ 113 w 130"/>
                      <a:gd name="T7" fmla="*/ 71 h 110"/>
                      <a:gd name="T8" fmla="*/ 113 w 130"/>
                      <a:gd name="T9" fmla="*/ 110 h 110"/>
                      <a:gd name="T10" fmla="*/ 81 w 130"/>
                      <a:gd name="T11" fmla="*/ 110 h 110"/>
                      <a:gd name="T12" fmla="*/ 81 w 130"/>
                      <a:gd name="T13" fmla="*/ 70 h 110"/>
                      <a:gd name="T14" fmla="*/ 49 w 130"/>
                      <a:gd name="T15" fmla="*/ 70 h 110"/>
                      <a:gd name="T16" fmla="*/ 49 w 130"/>
                      <a:gd name="T17" fmla="*/ 110 h 110"/>
                      <a:gd name="T18" fmla="*/ 17 w 130"/>
                      <a:gd name="T19" fmla="*/ 110 h 110"/>
                      <a:gd name="T20" fmla="*/ 17 w 130"/>
                      <a:gd name="T21" fmla="*/ 71 h 110"/>
                      <a:gd name="T22" fmla="*/ 15 w 130"/>
                      <a:gd name="T23" fmla="*/ 73 h 110"/>
                      <a:gd name="T24" fmla="*/ 3 w 130"/>
                      <a:gd name="T25" fmla="*/ 73 h 110"/>
                      <a:gd name="T26" fmla="*/ 3 w 130"/>
                      <a:gd name="T27" fmla="*/ 62 h 110"/>
                      <a:gd name="T28" fmla="*/ 65 w 130"/>
                      <a:gd name="T29" fmla="*/ 0 h 110"/>
                      <a:gd name="T30" fmla="*/ 127 w 130"/>
                      <a:gd name="T31" fmla="*/ 62 h 110"/>
                      <a:gd name="T32" fmla="*/ 127 w 130"/>
                      <a:gd name="T33" fmla="*/ 73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30" h="110">
                        <a:moveTo>
                          <a:pt x="127" y="73"/>
                        </a:moveTo>
                        <a:cubicBezTo>
                          <a:pt x="125" y="75"/>
                          <a:pt x="123" y="75"/>
                          <a:pt x="121" y="75"/>
                        </a:cubicBezTo>
                        <a:cubicBezTo>
                          <a:pt x="119" y="75"/>
                          <a:pt x="117" y="75"/>
                          <a:pt x="115" y="73"/>
                        </a:cubicBezTo>
                        <a:cubicBezTo>
                          <a:pt x="113" y="71"/>
                          <a:pt x="113" y="71"/>
                          <a:pt x="113" y="71"/>
                        </a:cubicBezTo>
                        <a:cubicBezTo>
                          <a:pt x="113" y="110"/>
                          <a:pt x="113" y="110"/>
                          <a:pt x="113" y="110"/>
                        </a:cubicBezTo>
                        <a:cubicBezTo>
                          <a:pt x="81" y="110"/>
                          <a:pt x="81" y="110"/>
                          <a:pt x="81" y="110"/>
                        </a:cubicBezTo>
                        <a:cubicBezTo>
                          <a:pt x="81" y="70"/>
                          <a:pt x="81" y="70"/>
                          <a:pt x="81" y="70"/>
                        </a:cubicBezTo>
                        <a:cubicBezTo>
                          <a:pt x="49" y="70"/>
                          <a:pt x="49" y="70"/>
                          <a:pt x="49" y="70"/>
                        </a:cubicBezTo>
                        <a:cubicBezTo>
                          <a:pt x="49" y="110"/>
                          <a:pt x="49" y="110"/>
                          <a:pt x="49" y="110"/>
                        </a:cubicBezTo>
                        <a:cubicBezTo>
                          <a:pt x="17" y="110"/>
                          <a:pt x="17" y="110"/>
                          <a:pt x="17" y="110"/>
                        </a:cubicBezTo>
                        <a:cubicBezTo>
                          <a:pt x="17" y="71"/>
                          <a:pt x="17" y="71"/>
                          <a:pt x="17" y="71"/>
                        </a:cubicBezTo>
                        <a:cubicBezTo>
                          <a:pt x="15" y="73"/>
                          <a:pt x="15" y="73"/>
                          <a:pt x="15" y="73"/>
                        </a:cubicBezTo>
                        <a:cubicBezTo>
                          <a:pt x="12" y="76"/>
                          <a:pt x="6" y="76"/>
                          <a:pt x="3" y="73"/>
                        </a:cubicBezTo>
                        <a:cubicBezTo>
                          <a:pt x="0" y="70"/>
                          <a:pt x="0" y="65"/>
                          <a:pt x="3" y="62"/>
                        </a:cubicBezTo>
                        <a:cubicBezTo>
                          <a:pt x="65" y="0"/>
                          <a:pt x="65" y="0"/>
                          <a:pt x="65" y="0"/>
                        </a:cubicBezTo>
                        <a:cubicBezTo>
                          <a:pt x="127" y="62"/>
                          <a:pt x="127" y="62"/>
                          <a:pt x="127" y="62"/>
                        </a:cubicBezTo>
                        <a:cubicBezTo>
                          <a:pt x="130" y="65"/>
                          <a:pt x="130" y="70"/>
                          <a:pt x="127" y="7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>
                    <a:normAutofit fontScale="775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38" name="Freeform 26"/>
                  <p:cNvSpPr>
                    <a:spLocks noEditPoints="1"/>
                  </p:cNvSpPr>
                  <p:nvPr>
                    <p:custDataLst>
                      <p:tags r:id="rId14"/>
                    </p:custDataLst>
                  </p:nvPr>
                </p:nvSpPr>
                <p:spPr bwMode="auto">
                  <a:xfrm>
                    <a:off x="7711" y="4067"/>
                    <a:ext cx="614" cy="618"/>
                  </a:xfrm>
                  <a:custGeom>
                    <a:avLst/>
                    <a:gdLst>
                      <a:gd name="T0" fmla="*/ 110 w 127"/>
                      <a:gd name="T1" fmla="*/ 55 h 128"/>
                      <a:gd name="T2" fmla="*/ 111 w 127"/>
                      <a:gd name="T3" fmla="*/ 18 h 128"/>
                      <a:gd name="T4" fmla="*/ 79 w 127"/>
                      <a:gd name="T5" fmla="*/ 19 h 128"/>
                      <a:gd name="T6" fmla="*/ 47 w 127"/>
                      <a:gd name="T7" fmla="*/ 0 h 128"/>
                      <a:gd name="T8" fmla="*/ 32 w 127"/>
                      <a:gd name="T9" fmla="*/ 28 h 128"/>
                      <a:gd name="T10" fmla="*/ 0 w 127"/>
                      <a:gd name="T11" fmla="*/ 46 h 128"/>
                      <a:gd name="T12" fmla="*/ 15 w 127"/>
                      <a:gd name="T13" fmla="*/ 64 h 128"/>
                      <a:gd name="T14" fmla="*/ 0 w 127"/>
                      <a:gd name="T15" fmla="*/ 82 h 128"/>
                      <a:gd name="T16" fmla="*/ 32 w 127"/>
                      <a:gd name="T17" fmla="*/ 101 h 128"/>
                      <a:gd name="T18" fmla="*/ 47 w 127"/>
                      <a:gd name="T19" fmla="*/ 128 h 128"/>
                      <a:gd name="T20" fmla="*/ 79 w 127"/>
                      <a:gd name="T21" fmla="*/ 109 h 128"/>
                      <a:gd name="T22" fmla="*/ 111 w 127"/>
                      <a:gd name="T23" fmla="*/ 110 h 128"/>
                      <a:gd name="T24" fmla="*/ 110 w 127"/>
                      <a:gd name="T25" fmla="*/ 73 h 128"/>
                      <a:gd name="T26" fmla="*/ 116 w 127"/>
                      <a:gd name="T27" fmla="*/ 85 h 128"/>
                      <a:gd name="T28" fmla="*/ 93 w 127"/>
                      <a:gd name="T29" fmla="*/ 91 h 128"/>
                      <a:gd name="T30" fmla="*/ 76 w 127"/>
                      <a:gd name="T31" fmla="*/ 102 h 128"/>
                      <a:gd name="T32" fmla="*/ 71 w 127"/>
                      <a:gd name="T33" fmla="*/ 120 h 128"/>
                      <a:gd name="T34" fmla="*/ 55 w 127"/>
                      <a:gd name="T35" fmla="*/ 104 h 128"/>
                      <a:gd name="T36" fmla="*/ 37 w 127"/>
                      <a:gd name="T37" fmla="*/ 95 h 128"/>
                      <a:gd name="T38" fmla="*/ 19 w 127"/>
                      <a:gd name="T39" fmla="*/ 99 h 128"/>
                      <a:gd name="T40" fmla="*/ 25 w 127"/>
                      <a:gd name="T41" fmla="*/ 77 h 128"/>
                      <a:gd name="T42" fmla="*/ 23 w 127"/>
                      <a:gd name="T43" fmla="*/ 64 h 128"/>
                      <a:gd name="T44" fmla="*/ 25 w 127"/>
                      <a:gd name="T45" fmla="*/ 51 h 128"/>
                      <a:gd name="T46" fmla="*/ 19 w 127"/>
                      <a:gd name="T47" fmla="*/ 29 h 128"/>
                      <a:gd name="T48" fmla="*/ 37 w 127"/>
                      <a:gd name="T49" fmla="*/ 34 h 128"/>
                      <a:gd name="T50" fmla="*/ 55 w 127"/>
                      <a:gd name="T51" fmla="*/ 25 h 128"/>
                      <a:gd name="T52" fmla="*/ 71 w 127"/>
                      <a:gd name="T53" fmla="*/ 8 h 128"/>
                      <a:gd name="T54" fmla="*/ 76 w 127"/>
                      <a:gd name="T55" fmla="*/ 27 h 128"/>
                      <a:gd name="T56" fmla="*/ 93 w 127"/>
                      <a:gd name="T57" fmla="*/ 37 h 128"/>
                      <a:gd name="T58" fmla="*/ 116 w 127"/>
                      <a:gd name="T59" fmla="*/ 43 h 128"/>
                      <a:gd name="T60" fmla="*/ 102 w 127"/>
                      <a:gd name="T61" fmla="*/ 57 h 128"/>
                      <a:gd name="T62" fmla="*/ 102 w 127"/>
                      <a:gd name="T63" fmla="*/ 71 h 128"/>
                      <a:gd name="T64" fmla="*/ 116 w 127"/>
                      <a:gd name="T65" fmla="*/ 85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27" h="128">
                        <a:moveTo>
                          <a:pt x="111" y="64"/>
                        </a:moveTo>
                        <a:cubicBezTo>
                          <a:pt x="111" y="61"/>
                          <a:pt x="111" y="58"/>
                          <a:pt x="110" y="55"/>
                        </a:cubicBezTo>
                        <a:cubicBezTo>
                          <a:pt x="127" y="46"/>
                          <a:pt x="127" y="46"/>
                          <a:pt x="127" y="46"/>
                        </a:cubicBezTo>
                        <a:cubicBezTo>
                          <a:pt x="111" y="18"/>
                          <a:pt x="111" y="18"/>
                          <a:pt x="111" y="18"/>
                        </a:cubicBezTo>
                        <a:cubicBezTo>
                          <a:pt x="94" y="28"/>
                          <a:pt x="94" y="28"/>
                          <a:pt x="94" y="28"/>
                        </a:cubicBezTo>
                        <a:cubicBezTo>
                          <a:pt x="90" y="24"/>
                          <a:pt x="85" y="21"/>
                          <a:pt x="79" y="19"/>
                        </a:cubicBezTo>
                        <a:cubicBezTo>
                          <a:pt x="79" y="0"/>
                          <a:pt x="79" y="0"/>
                          <a:pt x="79" y="0"/>
                        </a:cubicBezTo>
                        <a:cubicBezTo>
                          <a:pt x="47" y="0"/>
                          <a:pt x="47" y="0"/>
                          <a:pt x="47" y="0"/>
                        </a:cubicBezTo>
                        <a:cubicBezTo>
                          <a:pt x="47" y="19"/>
                          <a:pt x="47" y="19"/>
                          <a:pt x="47" y="19"/>
                        </a:cubicBezTo>
                        <a:cubicBezTo>
                          <a:pt x="42" y="21"/>
                          <a:pt x="36" y="24"/>
                          <a:pt x="32" y="28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0" y="46"/>
                          <a:pt x="0" y="46"/>
                          <a:pt x="0" y="46"/>
                        </a:cubicBezTo>
                        <a:cubicBezTo>
                          <a:pt x="16" y="55"/>
                          <a:pt x="16" y="55"/>
                          <a:pt x="16" y="55"/>
                        </a:cubicBezTo>
                        <a:cubicBezTo>
                          <a:pt x="15" y="58"/>
                          <a:pt x="15" y="61"/>
                          <a:pt x="15" y="64"/>
                        </a:cubicBezTo>
                        <a:cubicBezTo>
                          <a:pt x="15" y="67"/>
                          <a:pt x="15" y="70"/>
                          <a:pt x="16" y="73"/>
                        </a:cubicBezTo>
                        <a:cubicBezTo>
                          <a:pt x="0" y="82"/>
                          <a:pt x="0" y="82"/>
                          <a:pt x="0" y="82"/>
                        </a:cubicBezTo>
                        <a:cubicBezTo>
                          <a:pt x="16" y="110"/>
                          <a:pt x="16" y="110"/>
                          <a:pt x="16" y="110"/>
                        </a:cubicBezTo>
                        <a:cubicBezTo>
                          <a:pt x="32" y="101"/>
                          <a:pt x="32" y="101"/>
                          <a:pt x="32" y="101"/>
                        </a:cubicBezTo>
                        <a:cubicBezTo>
                          <a:pt x="36" y="104"/>
                          <a:pt x="42" y="107"/>
                          <a:pt x="47" y="109"/>
                        </a:cubicBezTo>
                        <a:cubicBezTo>
                          <a:pt x="47" y="128"/>
                          <a:pt x="47" y="128"/>
                          <a:pt x="47" y="128"/>
                        </a:cubicBezTo>
                        <a:cubicBezTo>
                          <a:pt x="79" y="128"/>
                          <a:pt x="79" y="128"/>
                          <a:pt x="79" y="128"/>
                        </a:cubicBezTo>
                        <a:cubicBezTo>
                          <a:pt x="79" y="109"/>
                          <a:pt x="79" y="109"/>
                          <a:pt x="79" y="109"/>
                        </a:cubicBezTo>
                        <a:cubicBezTo>
                          <a:pt x="85" y="107"/>
                          <a:pt x="90" y="104"/>
                          <a:pt x="94" y="101"/>
                        </a:cubicBezTo>
                        <a:cubicBezTo>
                          <a:pt x="111" y="110"/>
                          <a:pt x="111" y="110"/>
                          <a:pt x="111" y="110"/>
                        </a:cubicBezTo>
                        <a:cubicBezTo>
                          <a:pt x="127" y="82"/>
                          <a:pt x="127" y="82"/>
                          <a:pt x="127" y="82"/>
                        </a:cubicBezTo>
                        <a:cubicBezTo>
                          <a:pt x="110" y="73"/>
                          <a:pt x="110" y="73"/>
                          <a:pt x="110" y="73"/>
                        </a:cubicBezTo>
                        <a:cubicBezTo>
                          <a:pt x="111" y="70"/>
                          <a:pt x="111" y="67"/>
                          <a:pt x="111" y="64"/>
                        </a:cubicBezTo>
                        <a:close/>
                        <a:moveTo>
                          <a:pt x="116" y="85"/>
                        </a:moveTo>
                        <a:cubicBezTo>
                          <a:pt x="108" y="99"/>
                          <a:pt x="108" y="99"/>
                          <a:pt x="108" y="99"/>
                        </a:cubicBezTo>
                        <a:cubicBezTo>
                          <a:pt x="93" y="91"/>
                          <a:pt x="93" y="91"/>
                          <a:pt x="93" y="91"/>
                        </a:cubicBezTo>
                        <a:cubicBezTo>
                          <a:pt x="89" y="95"/>
                          <a:pt x="89" y="95"/>
                          <a:pt x="89" y="95"/>
                        </a:cubicBezTo>
                        <a:cubicBezTo>
                          <a:pt x="85" y="98"/>
                          <a:pt x="81" y="100"/>
                          <a:pt x="76" y="102"/>
                        </a:cubicBezTo>
                        <a:cubicBezTo>
                          <a:pt x="71" y="104"/>
                          <a:pt x="71" y="104"/>
                          <a:pt x="71" y="104"/>
                        </a:cubicBezTo>
                        <a:cubicBezTo>
                          <a:pt x="71" y="120"/>
                          <a:pt x="71" y="120"/>
                          <a:pt x="71" y="120"/>
                        </a:cubicBezTo>
                        <a:cubicBezTo>
                          <a:pt x="55" y="120"/>
                          <a:pt x="55" y="120"/>
                          <a:pt x="55" y="120"/>
                        </a:cubicBezTo>
                        <a:cubicBezTo>
                          <a:pt x="55" y="104"/>
                          <a:pt x="55" y="104"/>
                          <a:pt x="55" y="104"/>
                        </a:cubicBezTo>
                        <a:cubicBezTo>
                          <a:pt x="50" y="102"/>
                          <a:pt x="50" y="102"/>
                          <a:pt x="50" y="102"/>
                        </a:cubicBezTo>
                        <a:cubicBezTo>
                          <a:pt x="45" y="100"/>
                          <a:pt x="41" y="98"/>
                          <a:pt x="37" y="95"/>
                        </a:cubicBezTo>
                        <a:cubicBezTo>
                          <a:pt x="33" y="91"/>
                          <a:pt x="33" y="91"/>
                          <a:pt x="33" y="91"/>
                        </a:cubicBezTo>
                        <a:cubicBezTo>
                          <a:pt x="19" y="99"/>
                          <a:pt x="19" y="99"/>
                          <a:pt x="19" y="99"/>
                        </a:cubicBezTo>
                        <a:cubicBezTo>
                          <a:pt x="11" y="85"/>
                          <a:pt x="11" y="85"/>
                          <a:pt x="11" y="85"/>
                        </a:cubicBezTo>
                        <a:cubicBezTo>
                          <a:pt x="25" y="77"/>
                          <a:pt x="25" y="77"/>
                          <a:pt x="25" y="77"/>
                        </a:cubicBezTo>
                        <a:cubicBezTo>
                          <a:pt x="24" y="71"/>
                          <a:pt x="24" y="71"/>
                          <a:pt x="24" y="71"/>
                        </a:cubicBezTo>
                        <a:cubicBezTo>
                          <a:pt x="23" y="69"/>
                          <a:pt x="23" y="67"/>
                          <a:pt x="23" y="64"/>
                        </a:cubicBezTo>
                        <a:cubicBezTo>
                          <a:pt x="23" y="62"/>
                          <a:pt x="23" y="59"/>
                          <a:pt x="24" y="57"/>
                        </a:cubicBezTo>
                        <a:cubicBezTo>
                          <a:pt x="25" y="51"/>
                          <a:pt x="25" y="51"/>
                          <a:pt x="25" y="51"/>
                        </a:cubicBezTo>
                        <a:cubicBezTo>
                          <a:pt x="11" y="43"/>
                          <a:pt x="11" y="43"/>
                          <a:pt x="11" y="43"/>
                        </a:cubicBezTo>
                        <a:cubicBezTo>
                          <a:pt x="19" y="29"/>
                          <a:pt x="19" y="29"/>
                          <a:pt x="19" y="29"/>
                        </a:cubicBezTo>
                        <a:cubicBezTo>
                          <a:pt x="33" y="37"/>
                          <a:pt x="33" y="37"/>
                          <a:pt x="33" y="37"/>
                        </a:cubicBezTo>
                        <a:cubicBezTo>
                          <a:pt x="37" y="34"/>
                          <a:pt x="37" y="34"/>
                          <a:pt x="37" y="34"/>
                        </a:cubicBezTo>
                        <a:cubicBezTo>
                          <a:pt x="41" y="31"/>
                          <a:pt x="45" y="28"/>
                          <a:pt x="50" y="27"/>
                        </a:cubicBezTo>
                        <a:cubicBezTo>
                          <a:pt x="55" y="25"/>
                          <a:pt x="55" y="25"/>
                          <a:pt x="55" y="25"/>
                        </a:cubicBezTo>
                        <a:cubicBezTo>
                          <a:pt x="55" y="8"/>
                          <a:pt x="55" y="8"/>
                          <a:pt x="55" y="8"/>
                        </a:cubicBezTo>
                        <a:cubicBezTo>
                          <a:pt x="71" y="8"/>
                          <a:pt x="71" y="8"/>
                          <a:pt x="71" y="8"/>
                        </a:cubicBezTo>
                        <a:cubicBezTo>
                          <a:pt x="71" y="25"/>
                          <a:pt x="71" y="25"/>
                          <a:pt x="71" y="25"/>
                        </a:cubicBezTo>
                        <a:cubicBezTo>
                          <a:pt x="76" y="27"/>
                          <a:pt x="76" y="27"/>
                          <a:pt x="76" y="27"/>
                        </a:cubicBezTo>
                        <a:cubicBezTo>
                          <a:pt x="81" y="28"/>
                          <a:pt x="85" y="31"/>
                          <a:pt x="89" y="34"/>
                        </a:cubicBezTo>
                        <a:cubicBezTo>
                          <a:pt x="93" y="37"/>
                          <a:pt x="93" y="37"/>
                          <a:pt x="93" y="37"/>
                        </a:cubicBezTo>
                        <a:cubicBezTo>
                          <a:pt x="108" y="29"/>
                          <a:pt x="108" y="29"/>
                          <a:pt x="108" y="29"/>
                        </a:cubicBezTo>
                        <a:cubicBezTo>
                          <a:pt x="116" y="43"/>
                          <a:pt x="116" y="43"/>
                          <a:pt x="116" y="43"/>
                        </a:cubicBezTo>
                        <a:cubicBezTo>
                          <a:pt x="101" y="51"/>
                          <a:pt x="101" y="51"/>
                          <a:pt x="101" y="51"/>
                        </a:cubicBezTo>
                        <a:cubicBezTo>
                          <a:pt x="102" y="57"/>
                          <a:pt x="102" y="57"/>
                          <a:pt x="102" y="57"/>
                        </a:cubicBezTo>
                        <a:cubicBezTo>
                          <a:pt x="103" y="59"/>
                          <a:pt x="103" y="62"/>
                          <a:pt x="103" y="64"/>
                        </a:cubicBezTo>
                        <a:cubicBezTo>
                          <a:pt x="103" y="67"/>
                          <a:pt x="103" y="69"/>
                          <a:pt x="102" y="71"/>
                        </a:cubicBezTo>
                        <a:cubicBezTo>
                          <a:pt x="101" y="77"/>
                          <a:pt x="101" y="77"/>
                          <a:pt x="101" y="77"/>
                        </a:cubicBezTo>
                        <a:lnTo>
                          <a:pt x="116" y="8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>
                    <a:normAutofit fontScale="90000" lnSpcReduction="1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0" name="Freeform 27"/>
                  <p:cNvSpPr>
                    <a:spLocks noEditPoints="1"/>
                  </p:cNvSpPr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7901" y="4261"/>
                    <a:ext cx="231" cy="231"/>
                  </a:xfrm>
                  <a:custGeom>
                    <a:avLst/>
                    <a:gdLst>
                      <a:gd name="T0" fmla="*/ 24 w 48"/>
                      <a:gd name="T1" fmla="*/ 8 h 48"/>
                      <a:gd name="T2" fmla="*/ 40 w 48"/>
                      <a:gd name="T3" fmla="*/ 24 h 48"/>
                      <a:gd name="T4" fmla="*/ 24 w 48"/>
                      <a:gd name="T5" fmla="*/ 40 h 48"/>
                      <a:gd name="T6" fmla="*/ 8 w 48"/>
                      <a:gd name="T7" fmla="*/ 24 h 48"/>
                      <a:gd name="T8" fmla="*/ 24 w 48"/>
                      <a:gd name="T9" fmla="*/ 8 h 48"/>
                      <a:gd name="T10" fmla="*/ 24 w 48"/>
                      <a:gd name="T11" fmla="*/ 0 h 48"/>
                      <a:gd name="T12" fmla="*/ 0 w 48"/>
                      <a:gd name="T13" fmla="*/ 24 h 48"/>
                      <a:gd name="T14" fmla="*/ 24 w 48"/>
                      <a:gd name="T15" fmla="*/ 48 h 48"/>
                      <a:gd name="T16" fmla="*/ 48 w 48"/>
                      <a:gd name="T17" fmla="*/ 24 h 48"/>
                      <a:gd name="T18" fmla="*/ 24 w 48"/>
                      <a:gd name="T19" fmla="*/ 0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8" h="48">
                        <a:moveTo>
                          <a:pt x="24" y="8"/>
                        </a:moveTo>
                        <a:cubicBezTo>
                          <a:pt x="33" y="8"/>
                          <a:pt x="40" y="15"/>
                          <a:pt x="40" y="24"/>
                        </a:cubicBezTo>
                        <a:cubicBezTo>
                          <a:pt x="40" y="33"/>
                          <a:pt x="33" y="40"/>
                          <a:pt x="24" y="40"/>
                        </a:cubicBezTo>
                        <a:cubicBezTo>
                          <a:pt x="15" y="40"/>
                          <a:pt x="8" y="33"/>
                          <a:pt x="8" y="24"/>
                        </a:cubicBezTo>
                        <a:cubicBezTo>
                          <a:pt x="8" y="15"/>
                          <a:pt x="15" y="8"/>
                          <a:pt x="24" y="8"/>
                        </a:cubicBezTo>
                        <a:close/>
                        <a:moveTo>
                          <a:pt x="24" y="0"/>
                        </a:moveTo>
                        <a:cubicBezTo>
                          <a:pt x="11" y="0"/>
                          <a:pt x="0" y="11"/>
                          <a:pt x="0" y="24"/>
                        </a:cubicBezTo>
                        <a:cubicBezTo>
                          <a:pt x="0" y="37"/>
                          <a:pt x="11" y="48"/>
                          <a:pt x="24" y="48"/>
                        </a:cubicBezTo>
                        <a:cubicBezTo>
                          <a:pt x="37" y="48"/>
                          <a:pt x="48" y="37"/>
                          <a:pt x="48" y="24"/>
                        </a:cubicBezTo>
                        <a:cubicBezTo>
                          <a:pt x="48" y="11"/>
                          <a:pt x="37" y="0"/>
                          <a:pt x="24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1" name="Oval 14"/>
                  <p:cNvSpPr>
                    <a:spLocks noChangeArrowheads="1"/>
                  </p:cNvSpPr>
                  <p:nvPr>
                    <p:custDataLst>
                      <p:tags r:id="rId16"/>
                    </p:custDataLst>
                  </p:nvPr>
                </p:nvSpPr>
                <p:spPr bwMode="auto">
                  <a:xfrm>
                    <a:off x="12961" y="5815"/>
                    <a:ext cx="346" cy="343"/>
                  </a:xfrm>
                  <a:prstGeom prst="ellips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9" name="Oval 15"/>
                  <p:cNvSpPr>
                    <a:spLocks noChangeArrowheads="1"/>
                  </p:cNvSpPr>
                  <p:nvPr>
                    <p:custDataLst>
                      <p:tags r:id="rId17"/>
                    </p:custDataLst>
                  </p:nvPr>
                </p:nvSpPr>
                <p:spPr bwMode="auto">
                  <a:xfrm>
                    <a:off x="13062" y="5903"/>
                    <a:ext cx="162" cy="17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3" name="Freeform 19"/>
                  <p:cNvSpPr>
                    <a:spLocks noEditPoints="1"/>
                  </p:cNvSpPr>
                  <p:nvPr>
                    <p:custDataLst>
                      <p:tags r:id="rId18"/>
                    </p:custDataLst>
                  </p:nvPr>
                </p:nvSpPr>
                <p:spPr bwMode="auto">
                  <a:xfrm>
                    <a:off x="13805" y="4074"/>
                    <a:ext cx="462" cy="614"/>
                  </a:xfrm>
                  <a:custGeom>
                    <a:avLst/>
                    <a:gdLst>
                      <a:gd name="T0" fmla="*/ 96 w 96"/>
                      <a:gd name="T1" fmla="*/ 40 h 128"/>
                      <a:gd name="T2" fmla="*/ 96 w 96"/>
                      <a:gd name="T3" fmla="*/ 56 h 128"/>
                      <a:gd name="T4" fmla="*/ 56 w 96"/>
                      <a:gd name="T5" fmla="*/ 104 h 128"/>
                      <a:gd name="T6" fmla="*/ 56 w 96"/>
                      <a:gd name="T7" fmla="*/ 120 h 128"/>
                      <a:gd name="T8" fmla="*/ 68 w 96"/>
                      <a:gd name="T9" fmla="*/ 120 h 128"/>
                      <a:gd name="T10" fmla="*/ 72 w 96"/>
                      <a:gd name="T11" fmla="*/ 124 h 128"/>
                      <a:gd name="T12" fmla="*/ 68 w 96"/>
                      <a:gd name="T13" fmla="*/ 128 h 128"/>
                      <a:gd name="T14" fmla="*/ 28 w 96"/>
                      <a:gd name="T15" fmla="*/ 128 h 128"/>
                      <a:gd name="T16" fmla="*/ 24 w 96"/>
                      <a:gd name="T17" fmla="*/ 124 h 128"/>
                      <a:gd name="T18" fmla="*/ 28 w 96"/>
                      <a:gd name="T19" fmla="*/ 120 h 128"/>
                      <a:gd name="T20" fmla="*/ 40 w 96"/>
                      <a:gd name="T21" fmla="*/ 120 h 128"/>
                      <a:gd name="T22" fmla="*/ 40 w 96"/>
                      <a:gd name="T23" fmla="*/ 104 h 128"/>
                      <a:gd name="T24" fmla="*/ 0 w 96"/>
                      <a:gd name="T25" fmla="*/ 56 h 128"/>
                      <a:gd name="T26" fmla="*/ 0 w 96"/>
                      <a:gd name="T27" fmla="*/ 40 h 128"/>
                      <a:gd name="T28" fmla="*/ 8 w 96"/>
                      <a:gd name="T29" fmla="*/ 40 h 128"/>
                      <a:gd name="T30" fmla="*/ 8 w 96"/>
                      <a:gd name="T31" fmla="*/ 56 h 128"/>
                      <a:gd name="T32" fmla="*/ 28 w 96"/>
                      <a:gd name="T33" fmla="*/ 91 h 128"/>
                      <a:gd name="T34" fmla="*/ 68 w 96"/>
                      <a:gd name="T35" fmla="*/ 91 h 128"/>
                      <a:gd name="T36" fmla="*/ 88 w 96"/>
                      <a:gd name="T37" fmla="*/ 56 h 128"/>
                      <a:gd name="T38" fmla="*/ 88 w 96"/>
                      <a:gd name="T39" fmla="*/ 40 h 128"/>
                      <a:gd name="T40" fmla="*/ 96 w 96"/>
                      <a:gd name="T41" fmla="*/ 40 h 128"/>
                      <a:gd name="T42" fmla="*/ 48 w 96"/>
                      <a:gd name="T43" fmla="*/ 80 h 128"/>
                      <a:gd name="T44" fmla="*/ 72 w 96"/>
                      <a:gd name="T45" fmla="*/ 56 h 128"/>
                      <a:gd name="T46" fmla="*/ 72 w 96"/>
                      <a:gd name="T47" fmla="*/ 24 h 128"/>
                      <a:gd name="T48" fmla="*/ 48 w 96"/>
                      <a:gd name="T49" fmla="*/ 0 h 128"/>
                      <a:gd name="T50" fmla="*/ 24 w 96"/>
                      <a:gd name="T51" fmla="*/ 24 h 128"/>
                      <a:gd name="T52" fmla="*/ 24 w 96"/>
                      <a:gd name="T53" fmla="*/ 56 h 128"/>
                      <a:gd name="T54" fmla="*/ 48 w 96"/>
                      <a:gd name="T55" fmla="*/ 80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96" h="128">
                        <a:moveTo>
                          <a:pt x="96" y="40"/>
                        </a:moveTo>
                        <a:cubicBezTo>
                          <a:pt x="96" y="56"/>
                          <a:pt x="96" y="56"/>
                          <a:pt x="96" y="56"/>
                        </a:cubicBezTo>
                        <a:cubicBezTo>
                          <a:pt x="96" y="80"/>
                          <a:pt x="79" y="100"/>
                          <a:pt x="56" y="104"/>
                        </a:cubicBezTo>
                        <a:cubicBezTo>
                          <a:pt x="56" y="120"/>
                          <a:pt x="56" y="120"/>
                          <a:pt x="56" y="120"/>
                        </a:cubicBezTo>
                        <a:cubicBezTo>
                          <a:pt x="68" y="120"/>
                          <a:pt x="68" y="120"/>
                          <a:pt x="68" y="120"/>
                        </a:cubicBezTo>
                        <a:cubicBezTo>
                          <a:pt x="70" y="120"/>
                          <a:pt x="72" y="122"/>
                          <a:pt x="72" y="124"/>
                        </a:cubicBezTo>
                        <a:cubicBezTo>
                          <a:pt x="72" y="127"/>
                          <a:pt x="70" y="128"/>
                          <a:pt x="68" y="128"/>
                        </a:cubicBezTo>
                        <a:cubicBezTo>
                          <a:pt x="28" y="128"/>
                          <a:pt x="28" y="128"/>
                          <a:pt x="28" y="128"/>
                        </a:cubicBezTo>
                        <a:cubicBezTo>
                          <a:pt x="26" y="128"/>
                          <a:pt x="24" y="127"/>
                          <a:pt x="24" y="124"/>
                        </a:cubicBezTo>
                        <a:cubicBezTo>
                          <a:pt x="24" y="122"/>
                          <a:pt x="26" y="120"/>
                          <a:pt x="28" y="120"/>
                        </a:cubicBezTo>
                        <a:cubicBezTo>
                          <a:pt x="40" y="120"/>
                          <a:pt x="40" y="120"/>
                          <a:pt x="40" y="120"/>
                        </a:cubicBezTo>
                        <a:cubicBezTo>
                          <a:pt x="40" y="104"/>
                          <a:pt x="40" y="104"/>
                          <a:pt x="40" y="104"/>
                        </a:cubicBezTo>
                        <a:cubicBezTo>
                          <a:pt x="17" y="100"/>
                          <a:pt x="0" y="80"/>
                          <a:pt x="0" y="56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cubicBezTo>
                          <a:pt x="8" y="56"/>
                          <a:pt x="8" y="56"/>
                          <a:pt x="8" y="56"/>
                        </a:cubicBezTo>
                        <a:cubicBezTo>
                          <a:pt x="8" y="71"/>
                          <a:pt x="15" y="84"/>
                          <a:pt x="28" y="91"/>
                        </a:cubicBezTo>
                        <a:cubicBezTo>
                          <a:pt x="40" y="99"/>
                          <a:pt x="56" y="99"/>
                          <a:pt x="68" y="91"/>
                        </a:cubicBezTo>
                        <a:cubicBezTo>
                          <a:pt x="81" y="84"/>
                          <a:pt x="88" y="71"/>
                          <a:pt x="88" y="56"/>
                        </a:cubicBezTo>
                        <a:cubicBezTo>
                          <a:pt x="88" y="40"/>
                          <a:pt x="88" y="40"/>
                          <a:pt x="88" y="40"/>
                        </a:cubicBezTo>
                        <a:lnTo>
                          <a:pt x="96" y="40"/>
                        </a:lnTo>
                        <a:close/>
                        <a:moveTo>
                          <a:pt x="48" y="80"/>
                        </a:moveTo>
                        <a:cubicBezTo>
                          <a:pt x="61" y="80"/>
                          <a:pt x="72" y="70"/>
                          <a:pt x="72" y="56"/>
                        </a:cubicBezTo>
                        <a:cubicBezTo>
                          <a:pt x="72" y="24"/>
                          <a:pt x="72" y="24"/>
                          <a:pt x="72" y="24"/>
                        </a:cubicBezTo>
                        <a:cubicBezTo>
                          <a:pt x="72" y="11"/>
                          <a:pt x="61" y="0"/>
                          <a:pt x="48" y="0"/>
                        </a:cubicBezTo>
                        <a:cubicBezTo>
                          <a:pt x="35" y="0"/>
                          <a:pt x="24" y="11"/>
                          <a:pt x="24" y="24"/>
                        </a:cubicBezTo>
                        <a:cubicBezTo>
                          <a:pt x="24" y="56"/>
                          <a:pt x="24" y="56"/>
                          <a:pt x="24" y="56"/>
                        </a:cubicBezTo>
                        <a:cubicBezTo>
                          <a:pt x="24" y="70"/>
                          <a:pt x="35" y="80"/>
                          <a:pt x="48" y="8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>
                    <a:normAutofit fontScale="90000" lnSpcReduction="1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4" name="Oval 12"/>
                  <p:cNvSpPr>
                    <a:spLocks noChangeArrowheads="1"/>
                  </p:cNvSpPr>
                  <p:nvPr>
                    <p:custDataLst>
                      <p:tags r:id="rId19"/>
                    </p:custDataLst>
                  </p:nvPr>
                </p:nvSpPr>
                <p:spPr bwMode="auto">
                  <a:xfrm>
                    <a:off x="9369" y="5815"/>
                    <a:ext cx="346" cy="343"/>
                  </a:xfrm>
                  <a:prstGeom prst="ellips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1" name="Oval 13"/>
                  <p:cNvSpPr>
                    <a:spLocks noChangeArrowheads="1"/>
                  </p:cNvSpPr>
                  <p:nvPr>
                    <p:custDataLst>
                      <p:tags r:id="rId20"/>
                    </p:custDataLst>
                  </p:nvPr>
                </p:nvSpPr>
                <p:spPr bwMode="auto">
                  <a:xfrm>
                    <a:off x="9455" y="5903"/>
                    <a:ext cx="162" cy="17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2" name="Oval 8"/>
                  <p:cNvSpPr>
                    <a:spLocks noChangeArrowheads="1"/>
                  </p:cNvSpPr>
                  <p:nvPr>
                    <p:custDataLst>
                      <p:tags r:id="rId21"/>
                    </p:custDataLst>
                  </p:nvPr>
                </p:nvSpPr>
                <p:spPr bwMode="auto">
                  <a:xfrm>
                    <a:off x="5457" y="5815"/>
                    <a:ext cx="346" cy="343"/>
                  </a:xfrm>
                  <a:prstGeom prst="ellips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4" name="Oval 9"/>
                  <p:cNvSpPr>
                    <a:spLocks noChangeArrowheads="1"/>
                  </p:cNvSpPr>
                  <p:nvPr>
                    <p:custDataLst>
                      <p:tags r:id="rId22"/>
                    </p:custDataLst>
                  </p:nvPr>
                </p:nvSpPr>
                <p:spPr bwMode="auto">
                  <a:xfrm>
                    <a:off x="5548" y="5903"/>
                    <a:ext cx="163" cy="17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5" name="Oval 12"/>
                  <p:cNvSpPr>
                    <a:spLocks noChangeArrowheads="1"/>
                  </p:cNvSpPr>
                  <p:nvPr>
                    <p:custDataLst>
                      <p:tags r:id="rId23"/>
                    </p:custDataLst>
                  </p:nvPr>
                </p:nvSpPr>
                <p:spPr bwMode="auto">
                  <a:xfrm>
                    <a:off x="16892" y="5815"/>
                    <a:ext cx="346" cy="343"/>
                  </a:xfrm>
                  <a:prstGeom prst="ellipse">
                    <a:avLst/>
                  </a:prstGeom>
                  <a:noFill/>
                  <a:ln w="6350" cmpd="sng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6" name="Oval 13"/>
                  <p:cNvSpPr>
                    <a:spLocks noChangeArrowheads="1"/>
                  </p:cNvSpPr>
                  <p:nvPr>
                    <p:custDataLst>
                      <p:tags r:id="rId24"/>
                    </p:custDataLst>
                  </p:nvPr>
                </p:nvSpPr>
                <p:spPr bwMode="auto">
                  <a:xfrm>
                    <a:off x="16984" y="5903"/>
                    <a:ext cx="162" cy="17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txBody>
                  <a:bodyPr wrap="square">
                    <a:normAutofit fontScale="25000" lnSpcReduction="20000"/>
                  </a:bodyPr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62" name="文本框 61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4033" y="1465"/>
                    <a:ext cx="3326" cy="36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查阅文献，撰写主体内容，负责</a:t>
                    </a:r>
                    <a:r>
                      <a:rPr lang="en-US" altLang="zh-CN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WB </a:t>
                    </a:r>
                    <a:r>
                      <a:rPr lang="zh-CN" altLang="en-US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、</a:t>
                    </a:r>
                    <a:r>
                      <a:rPr lang="en-US" altLang="zh-CN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IHC</a:t>
                    </a:r>
                    <a:r>
                      <a:rPr lang="zh-CN" altLang="en-US" sz="16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、透射</a:t>
                    </a:r>
                    <a:r>
                      <a:rPr lang="en-US" altLang="zh-CN" sz="16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电镜</a:t>
                    </a: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等</a:t>
                    </a:r>
                    <a:endParaRPr lang="zh-CN" altLang="en-US" sz="16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endParaRPr lang="zh-CN" altLang="en-US" sz="16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64" name="文本框 63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7966" y="7405"/>
                    <a:ext cx="3183" cy="27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ct val="140000"/>
                      </a:lnSpc>
                    </a:pP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绘制流程图，观察细胞形态</a:t>
                    </a:r>
                    <a:r>
                      <a:rPr lang="zh-CN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，负责</a:t>
                    </a:r>
                    <a:r>
                      <a:rPr lang="en-US" altLang="zh-CN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Fe</a:t>
                    </a:r>
                    <a:r>
                      <a:rPr lang="en-US" altLang="zh-CN" sz="1600" b="1" baseline="30000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2+</a:t>
                    </a:r>
                    <a:r>
                      <a:rPr lang="zh-CN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、ROS</a:t>
                    </a:r>
                    <a:r>
                      <a:rPr lang="zh-CN" sz="16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荧光探针</a:t>
                    </a: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检测等</a:t>
                    </a:r>
                    <a:endParaRPr lang="zh-CN" altLang="en-US" sz="16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65" name="文本框 64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1807" y="1482"/>
                    <a:ext cx="2993" cy="29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ct val="150000"/>
                      </a:lnSpc>
                    </a:pP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查阅文献资料</a:t>
                    </a:r>
                    <a:r>
                      <a:rPr lang="en-US" altLang="zh-CN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,</a:t>
                    </a: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负责检测</a:t>
                    </a:r>
                    <a:r>
                      <a:rPr lang="zh-CN" altLang="en-US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GSH、MDA</a:t>
                    </a:r>
                    <a:r>
                      <a:rPr lang="zh-CN" altLang="en-US" sz="16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含量</a:t>
                    </a: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，分析实验数据等</a:t>
                    </a:r>
                    <a:endParaRPr lang="zh-CN" altLang="en-US" sz="16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76" name="文本框 75"/>
                  <p:cNvSpPr txBox="1"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5706" y="7293"/>
                    <a:ext cx="3058" cy="29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绘制立论机制图，细胞培养，负责</a:t>
                    </a:r>
                    <a:r>
                      <a:rPr lang="zh-CN" altLang="en-US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IF、</a:t>
                    </a:r>
                    <a:r>
                      <a:rPr lang="en-US" altLang="zh-CN" sz="1600" b="1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+mn-ea"/>
                      </a:rPr>
                      <a:t>FCM</a:t>
                    </a:r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rPr>
                      <a:t>，整理结果等</a:t>
                    </a:r>
                    <a:endParaRPr lang="zh-CN" altLang="en-US" sz="16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</p:grpSp>
          <p:sp>
            <p:nvSpPr>
              <p:cNvPr id="77" name="矩形 76"/>
              <p:cNvSpPr/>
              <p:nvPr>
                <p:custDataLst>
                  <p:tags r:id="rId29"/>
                </p:custDataLst>
              </p:nvPr>
            </p:nvSpPr>
            <p:spPr>
              <a:xfrm rot="10800000">
                <a:off x="12804" y="1137"/>
                <a:ext cx="2875" cy="3431"/>
              </a:xfrm>
              <a:prstGeom prst="rect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22000">
                      <a:srgbClr val="92A6CF">
                        <a:alpha val="100000"/>
                      </a:srgb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22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>
                <p:custDataLst>
                  <p:tags r:id="rId30"/>
                </p:custDataLst>
              </p:nvPr>
            </p:nvSpPr>
            <p:spPr>
              <a:xfrm>
                <a:off x="15883" y="5815"/>
                <a:ext cx="2875" cy="3431"/>
              </a:xfrm>
              <a:prstGeom prst="rect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22000">
                      <a:srgbClr val="92A6CF">
                        <a:alpha val="100000"/>
                      </a:srgb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22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835" y="5800"/>
                <a:ext cx="2875" cy="3431"/>
              </a:xfrm>
              <a:prstGeom prst="rect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22000">
                      <a:srgbClr val="92A6CF">
                        <a:alpha val="100000"/>
                      </a:srgb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22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>
                <p:custDataLst>
                  <p:tags r:id="rId32"/>
                </p:custDataLst>
              </p:nvPr>
            </p:nvSpPr>
            <p:spPr>
              <a:xfrm rot="10800000">
                <a:off x="6728" y="1107"/>
                <a:ext cx="2875" cy="3431"/>
              </a:xfrm>
              <a:prstGeom prst="rect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22000">
                      <a:srgbClr val="92A6CF">
                        <a:alpha val="100000"/>
                      </a:srgb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22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>
                <p:custDataLst>
                  <p:tags r:id="rId33"/>
                </p:custDataLst>
              </p:nvPr>
            </p:nvSpPr>
            <p:spPr>
              <a:xfrm>
                <a:off x="4487" y="5539"/>
                <a:ext cx="1579" cy="512"/>
              </a:xfrm>
              <a:prstGeom prst="rect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文本框 81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4539" y="5505"/>
                <a:ext cx="1475" cy="69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A</a:t>
                </a:r>
                <a:r>
                  <a:rPr lang="zh-CN" altLang="en-US" b="1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成员</a:t>
                </a:r>
                <a:endParaRPr lang="zh-CN" altLang="en-US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zh-CN" altLang="en-US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endParaRPr>
              </a:p>
              <a:p>
                <a:endParaRPr lang="zh-CN" altLang="en-US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endParaRPr>
              </a:p>
            </p:txBody>
          </p:sp>
          <p:sp>
            <p:nvSpPr>
              <p:cNvPr id="83" name="矩形 82"/>
              <p:cNvSpPr/>
              <p:nvPr>
                <p:custDataLst>
                  <p:tags r:id="rId35"/>
                </p:custDataLst>
              </p:nvPr>
            </p:nvSpPr>
            <p:spPr>
              <a:xfrm>
                <a:off x="16523" y="5539"/>
                <a:ext cx="1579" cy="512"/>
              </a:xfrm>
              <a:prstGeom prst="rect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3409" y="4257"/>
                <a:ext cx="1579" cy="512"/>
              </a:xfrm>
              <a:prstGeom prst="rect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498" y="5539"/>
                <a:ext cx="1579" cy="512"/>
              </a:xfrm>
              <a:prstGeom prst="rect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>
                <p:custDataLst>
                  <p:tags r:id="rId38"/>
                </p:custDataLst>
              </p:nvPr>
            </p:nvSpPr>
            <p:spPr>
              <a:xfrm>
                <a:off x="7383" y="4257"/>
                <a:ext cx="1579" cy="512"/>
              </a:xfrm>
              <a:prstGeom prst="rect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文本框 86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7537" y="4223"/>
                <a:ext cx="142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B</a:t>
                </a:r>
                <a:r>
                  <a:rPr lang="zh-CN" altLang="en-US" b="1">
                    <a:solidFill>
                      <a:schemeClr val="bg1"/>
                    </a:solidFill>
                  </a:rPr>
                  <a:t>成员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文本框 87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0617" y="5507"/>
                <a:ext cx="142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C</a:t>
                </a:r>
                <a:r>
                  <a:rPr lang="zh-CN" altLang="en-US" b="1">
                    <a:solidFill>
                      <a:schemeClr val="bg1"/>
                    </a:solidFill>
                  </a:rPr>
                  <a:t>成员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文本框 88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3545" y="4206"/>
                <a:ext cx="142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D</a:t>
                </a:r>
                <a:r>
                  <a:rPr lang="zh-CN" altLang="en-US" b="1">
                    <a:solidFill>
                      <a:schemeClr val="bg1"/>
                    </a:solidFill>
                  </a:rPr>
                  <a:t>成员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文本框 89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16660" y="5488"/>
                <a:ext cx="142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E</a:t>
                </a:r>
                <a:r>
                  <a:rPr lang="zh-CN" altLang="en-US" b="1">
                    <a:solidFill>
                      <a:schemeClr val="bg1"/>
                    </a:solidFill>
                  </a:rPr>
                  <a:t>成员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2641600" y="159485"/>
            <a:ext cx="4271010" cy="479325"/>
            <a:chOff x="4160" y="245"/>
            <a:chExt cx="6726" cy="916"/>
          </a:xfrm>
        </p:grpSpPr>
        <p:sp>
          <p:nvSpPr>
            <p:cNvPr id="21" name="同侧圆角矩形 20"/>
            <p:cNvSpPr/>
            <p:nvPr>
              <p:custDataLst>
                <p:tags r:id="rId43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>
              <p:custDataLst>
                <p:tags r:id="rId44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6.1</a:t>
              </a:r>
              <a:r>
                <a:rPr lang="en-US" altLang="zh-CN" sz="2400" b="1" spc="209">
                  <a:solidFill>
                    <a:schemeClr val="tx1"/>
                  </a:solidFill>
                  <a:uFillTx/>
                </a:rPr>
                <a:t>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</a:rPr>
                <a:t>团队成员分工</a:t>
              </a:r>
              <a:endParaRPr lang="zh-CN" altLang="en-US" sz="2400" b="1" spc="209">
                <a:solidFill>
                  <a:schemeClr val="tx1"/>
                </a:solidFill>
                <a:uFillTx/>
              </a:endParaRPr>
            </a:p>
          </p:txBody>
        </p:sp>
      </p:grpSp>
    </p:spTree>
    <p:custDataLst>
      <p:tags r:id="rId4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3975" y="-114300"/>
            <a:ext cx="2244725" cy="7233920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0" y="5788025"/>
            <a:ext cx="2191385" cy="566420"/>
            <a:chOff x="0" y="1278"/>
            <a:chExt cx="3191" cy="892"/>
          </a:xfrm>
        </p:grpSpPr>
        <p:sp>
          <p:nvSpPr>
            <p:cNvPr id="5" name="矩形 4"/>
            <p:cNvSpPr/>
            <p:nvPr/>
          </p:nvSpPr>
          <p:spPr>
            <a:xfrm>
              <a:off x="0" y="1278"/>
              <a:ext cx="3187" cy="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16200000">
              <a:off x="2959" y="1625"/>
              <a:ext cx="292" cy="172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75285" y="1838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研究背景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285" y="5036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研究结论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5285" y="3437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研究过程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75285" y="26384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</a:rPr>
              <a:t>技术路线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56540" y="5836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感悟及致谢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75285" y="4237355"/>
            <a:ext cx="1550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tx1"/>
                </a:solidFill>
              </a:rPr>
              <a:t>研究结果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305685" y="812800"/>
            <a:ext cx="4359044" cy="5531854"/>
            <a:chOff x="3631" y="1329"/>
            <a:chExt cx="6865" cy="8711"/>
          </a:xfrm>
        </p:grpSpPr>
        <p:sp>
          <p:nvSpPr>
            <p:cNvPr id="13" name="文本框 12"/>
            <p:cNvSpPr txBox="1"/>
            <p:nvPr>
              <p:custDataLst>
                <p:tags r:id="rId6"/>
              </p:custDataLst>
            </p:nvPr>
          </p:nvSpPr>
          <p:spPr>
            <a:xfrm>
              <a:off x="4465" y="2433"/>
              <a:ext cx="5652" cy="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en-US" altLang="zh-CN" sz="1600" b="1"/>
                <a:t>       </a:t>
              </a:r>
              <a:r>
                <a:rPr lang="zh-CN" altLang="en-US" sz="1600" b="1"/>
                <a:t>在实验过程中我们明白了</a:t>
              </a:r>
              <a:r>
                <a:rPr lang="zh-CN" altLang="en-US" sz="1600" b="1">
                  <a:solidFill>
                    <a:srgbClr val="C00000"/>
                  </a:solidFill>
                </a:rPr>
                <a:t>规范实验操作</a:t>
              </a:r>
              <a:r>
                <a:rPr lang="zh-CN" altLang="en-US" sz="1600" b="1"/>
                <a:t>的重要性，我们发现实验环节中的每一个失误都可能导致实验的失败。</a:t>
              </a:r>
              <a:r>
                <a:rPr lang="zh-CN" altLang="en-US" sz="1600" b="1">
                  <a:solidFill>
                    <a:schemeClr val="tx1"/>
                  </a:solidFill>
                </a:rPr>
                <a:t>面对困难与疑虑要</a:t>
              </a:r>
              <a:r>
                <a:rPr lang="zh-CN" altLang="en-US" sz="1600" b="1">
                  <a:solidFill>
                    <a:srgbClr val="C00000"/>
                  </a:solidFill>
                  <a:sym typeface="+mn-ea"/>
                </a:rPr>
                <a:t>坚持不懈、刨根究底，思考原因并进行总结改进。</a:t>
              </a:r>
              <a:endParaRPr lang="zh-CN" altLang="en-US" sz="1600" b="1">
                <a:solidFill>
                  <a:srgbClr val="C00000"/>
                </a:solidFill>
                <a:sym typeface="+mn-ea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3631" y="1329"/>
              <a:ext cx="6865" cy="8711"/>
              <a:chOff x="3451" y="1329"/>
              <a:chExt cx="6865" cy="8711"/>
            </a:xfrm>
          </p:grpSpPr>
          <p:grpSp>
            <p:nvGrpSpPr>
              <p:cNvPr id="549" name="组合 548"/>
              <p:cNvGrpSpPr/>
              <p:nvPr/>
            </p:nvGrpSpPr>
            <p:grpSpPr>
              <a:xfrm>
                <a:off x="3451" y="1329"/>
                <a:ext cx="6865" cy="8711"/>
                <a:chOff x="17097" y="28806"/>
                <a:chExt cx="11514" cy="13830"/>
              </a:xfrm>
            </p:grpSpPr>
            <p:grpSp>
              <p:nvGrpSpPr>
                <p:cNvPr id="550" name="组合 549"/>
                <p:cNvGrpSpPr/>
                <p:nvPr/>
              </p:nvGrpSpPr>
              <p:grpSpPr>
                <a:xfrm>
                  <a:off x="17659" y="28926"/>
                  <a:ext cx="10952" cy="13710"/>
                  <a:chOff x="2660" y="29191"/>
                  <a:chExt cx="11308" cy="12934"/>
                </a:xfrm>
              </p:grpSpPr>
              <p:sp>
                <p:nvSpPr>
                  <p:cNvPr id="551" name="矩形 550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2871" y="29345"/>
                    <a:ext cx="11097" cy="12780"/>
                  </a:xfrm>
                  <a:prstGeom prst="rect">
                    <a:avLst/>
                  </a:prstGeom>
                  <a:noFill/>
                  <a:ln w="9525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2" name="文本框 551"/>
                  <p:cNvSpPr txBox="1"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660" y="29191"/>
                    <a:ext cx="8295" cy="108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square" rtlCol="0">
                    <a:no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b="1">
                        <a:sym typeface="+mn-ea"/>
                      </a:rPr>
                      <a:t>严谨认真的科学态度</a:t>
                    </a:r>
                    <a:endParaRPr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ea"/>
                      <a:sym typeface="+mn-ea"/>
                    </a:endParaRPr>
                  </a:p>
                </p:txBody>
              </p:sp>
            </p:grpSp>
            <p:sp>
              <p:nvSpPr>
                <p:cNvPr id="561" name="Larme 211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7097" y="28806"/>
                  <a:ext cx="1518" cy="1380"/>
                </a:xfrm>
                <a:prstGeom prst="teardrop">
                  <a:avLst/>
                </a:prstGeom>
                <a:solidFill>
                  <a:srgbClr val="306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fr-FR" b="1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sp>
            <p:nvSpPr>
              <p:cNvPr id="21" name="文本框 2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548" y="1415"/>
                <a:ext cx="86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chemeClr val="bg1"/>
                    </a:solidFill>
                  </a:rPr>
                  <a:t>01</a:t>
                </a:r>
                <a:endParaRPr lang="en-US" altLang="zh-CN" sz="20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文本框 27"/>
            <p:cNvSpPr txBox="1"/>
            <p:nvPr>
              <p:custDataLst>
                <p:tags r:id="rId11"/>
              </p:custDataLst>
            </p:nvPr>
          </p:nvSpPr>
          <p:spPr>
            <a:xfrm>
              <a:off x="4344" y="6156"/>
              <a:ext cx="4411" cy="77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no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b="1">
                  <a:sym typeface="+mn-ea"/>
                </a:rPr>
                <a:t>困难重重但成就满满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30" name="Larme 211"/>
            <p:cNvSpPr/>
            <p:nvPr>
              <p:custDataLst>
                <p:tags r:id="rId12"/>
              </p:custDataLst>
            </p:nvPr>
          </p:nvSpPr>
          <p:spPr>
            <a:xfrm>
              <a:off x="3688" y="6070"/>
              <a:ext cx="905" cy="869"/>
            </a:xfrm>
            <a:prstGeom prst="teardrop">
              <a:avLst/>
            </a:prstGeom>
            <a:solidFill>
              <a:srgbClr val="30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fr-FR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3755" y="6202"/>
              <a:ext cx="86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</a:rPr>
                <a:t>02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6927850" y="606425"/>
            <a:ext cx="4784725" cy="6168390"/>
            <a:chOff x="11045" y="385"/>
            <a:chExt cx="7535" cy="9714"/>
          </a:xfrm>
        </p:grpSpPr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11924" y="1317"/>
              <a:ext cx="6435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600" b="1">
                  <a:sym typeface="+mn-ea"/>
                </a:rPr>
                <a:t>       </a:t>
              </a:r>
              <a:r>
                <a:rPr lang="zh-CN" altLang="en-US" sz="1600" b="1">
                  <a:sym typeface="+mn-ea"/>
                </a:rPr>
                <a:t>团队成员</a:t>
              </a:r>
              <a:r>
                <a:rPr lang="zh-CN" altLang="en-US" sz="1600" b="1">
                  <a:solidFill>
                    <a:srgbClr val="C00000"/>
                  </a:solidFill>
                  <a:sym typeface="+mn-ea"/>
                </a:rPr>
                <a:t>团结协作、相互帮助、鼓励</a:t>
              </a:r>
              <a:r>
                <a:rPr lang="zh-CN" altLang="en-US" sz="1600" b="1">
                  <a:sym typeface="+mn-ea"/>
                </a:rPr>
                <a:t>，也是我们不断攻克难关，顺利完成实验的重要原因。这不仅培养了我们之间的深厚友谊与信任，还收获了许多珍贵的回忆。</a:t>
              </a:r>
              <a:endParaRPr lang="zh-CN" altLang="en-US" sz="1600" b="1">
                <a:sym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11968" y="4489"/>
              <a:ext cx="6392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b="1"/>
                <a:t>       </a:t>
              </a:r>
              <a:r>
                <a:rPr lang="zh-CN" altLang="en-US" sz="1600" b="1"/>
                <a:t>在老师与师兄师姐的帮助下，</a:t>
              </a:r>
              <a:r>
                <a:rPr lang="zh-CN" altLang="en-US" sz="1600" b="1">
                  <a:sym typeface="+mn-ea"/>
                </a:rPr>
                <a:t>我们的</a:t>
              </a:r>
              <a:r>
                <a:rPr lang="zh-CN" altLang="en-US" sz="1600" b="1">
                  <a:solidFill>
                    <a:srgbClr val="C00000"/>
                  </a:solidFill>
                  <a:sym typeface="+mn-ea"/>
                </a:rPr>
                <a:t>实验技能愈发娴熟，对实验的理解更加深刻</a:t>
              </a:r>
              <a:r>
                <a:rPr lang="zh-CN" altLang="en-US" sz="1600" b="1">
                  <a:sym typeface="+mn-ea"/>
                </a:rPr>
                <a:t>。</a:t>
              </a:r>
              <a:r>
                <a:rPr lang="zh-CN" altLang="en-US" sz="1600" b="1"/>
                <a:t>我们收获良多，不断成长，取得明显进步，也更加坚定了我们的科研道路！</a:t>
              </a:r>
              <a:endParaRPr lang="zh-CN" altLang="en-US" sz="1600" b="1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1045" y="3546"/>
              <a:ext cx="5206" cy="889"/>
              <a:chOff x="11470" y="4056"/>
              <a:chExt cx="5206" cy="889"/>
            </a:xfrm>
          </p:grpSpPr>
          <p:sp>
            <p:nvSpPr>
              <p:cNvPr id="33" name="文本框 3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1888" y="4174"/>
                <a:ext cx="4788" cy="77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130000"/>
                  </a:lnSpc>
                </a:pPr>
                <a:r>
                  <a:rPr lang="zh-CN" altLang="en-US" b="1">
                    <a:sym typeface="+mn-ea"/>
                  </a:rPr>
                  <a:t>更加坚定科研的道路</a:t>
                </a:r>
                <a:endParaRPr lang="zh-CN" altLang="en-US" b="1">
                  <a:sym typeface="+mn-ea"/>
                </a:endParaRPr>
              </a:p>
            </p:txBody>
          </p:sp>
          <p:sp>
            <p:nvSpPr>
              <p:cNvPr id="31" name="Larme 211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470" y="4056"/>
                <a:ext cx="905" cy="869"/>
              </a:xfrm>
              <a:prstGeom prst="teardrop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fr-FR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1569" y="4188"/>
                <a:ext cx="86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chemeClr val="bg1"/>
                    </a:solidFill>
                  </a:rPr>
                  <a:t>04</a:t>
                </a:r>
                <a:endParaRPr lang="en-US" altLang="zh-CN" sz="20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1066" y="385"/>
              <a:ext cx="7514" cy="9714"/>
              <a:chOff x="3651" y="2169"/>
              <a:chExt cx="7514" cy="9714"/>
            </a:xfrm>
          </p:grpSpPr>
          <p:sp>
            <p:nvSpPr>
              <p:cNvPr id="23" name="矩形 22"/>
              <p:cNvSpPr/>
              <p:nvPr>
                <p:custDataLst>
                  <p:tags r:id="rId19"/>
                </p:custDataLst>
              </p:nvPr>
            </p:nvSpPr>
            <p:spPr>
              <a:xfrm>
                <a:off x="4108" y="2688"/>
                <a:ext cx="7057" cy="9195"/>
              </a:xfrm>
              <a:prstGeom prst="rect">
                <a:avLst/>
              </a:prstGeom>
              <a:noFill/>
              <a:ln w="952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3986" y="2229"/>
                <a:ext cx="4851" cy="77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130000"/>
                  </a:lnSpc>
                </a:pPr>
                <a:r>
                  <a:rPr lang="zh-CN" altLang="en-US" b="1">
                    <a:sym typeface="+mn-ea"/>
                  </a:rPr>
                  <a:t>收获深厚友谊与回忆</a:t>
                </a:r>
                <a:endParaRPr lang="zh-CN" altLang="en-US" b="1">
                  <a:sym typeface="+mn-ea"/>
                </a:endParaRPr>
              </a:p>
            </p:txBody>
          </p:sp>
          <p:sp>
            <p:nvSpPr>
              <p:cNvPr id="25" name="Larme 211"/>
              <p:cNvSpPr/>
              <p:nvPr>
                <p:custDataLst>
                  <p:tags r:id="rId21"/>
                </p:custDataLst>
              </p:nvPr>
            </p:nvSpPr>
            <p:spPr>
              <a:xfrm>
                <a:off x="3651" y="2169"/>
                <a:ext cx="905" cy="869"/>
              </a:xfrm>
              <a:prstGeom prst="teardrop">
                <a:avLst/>
              </a:prstGeom>
              <a:solidFill>
                <a:srgbClr val="306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fr-FR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788" y="2295"/>
                <a:ext cx="86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chemeClr val="bg1"/>
                    </a:solidFill>
                  </a:rPr>
                  <a:t>03</a:t>
                </a:r>
                <a:endParaRPr lang="en-US" altLang="zh-CN" sz="2000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2641600" y="159485"/>
            <a:ext cx="4271010" cy="479325"/>
            <a:chOff x="4160" y="245"/>
            <a:chExt cx="6726" cy="916"/>
          </a:xfrm>
        </p:grpSpPr>
        <p:sp>
          <p:nvSpPr>
            <p:cNvPr id="92" name="同侧圆角矩形 91"/>
            <p:cNvSpPr/>
            <p:nvPr>
              <p:custDataLst>
                <p:tags r:id="rId23"/>
              </p:custDataLst>
            </p:nvPr>
          </p:nvSpPr>
          <p:spPr>
            <a:xfrm rot="5400000">
              <a:off x="3831" y="608"/>
              <a:ext cx="881" cy="22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文本框 92"/>
            <p:cNvSpPr txBox="1"/>
            <p:nvPr>
              <p:custDataLst>
                <p:tags r:id="rId24"/>
              </p:custDataLst>
            </p:nvPr>
          </p:nvSpPr>
          <p:spPr>
            <a:xfrm>
              <a:off x="4486" y="245"/>
              <a:ext cx="6400" cy="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6.2   </a:t>
              </a:r>
              <a:r>
                <a:rPr lang="zh-CN" altLang="en-US" sz="2400" b="1" spc="209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rPr>
                <a:t>实验感悟</a:t>
              </a:r>
              <a:endParaRPr lang="zh-CN" altLang="en-US" sz="2400" b="1" spc="209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7328866" y="4778375"/>
            <a:ext cx="4282523" cy="1908115"/>
            <a:chOff x="11677" y="6985"/>
            <a:chExt cx="6744" cy="3005"/>
          </a:xfrm>
        </p:grpSpPr>
        <p:grpSp>
          <p:nvGrpSpPr>
            <p:cNvPr id="46" name="组合 45"/>
            <p:cNvGrpSpPr/>
            <p:nvPr/>
          </p:nvGrpSpPr>
          <p:grpSpPr>
            <a:xfrm>
              <a:off x="17765" y="9505"/>
              <a:ext cx="656" cy="485"/>
              <a:chOff x="13328" y="22141"/>
              <a:chExt cx="1151" cy="846"/>
            </a:xfrm>
          </p:grpSpPr>
          <p:sp>
            <p:nvSpPr>
              <p:cNvPr id="47" name="任意多边形: 形状 13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>
              <a:xfrm rot="10800000">
                <a:off x="14050" y="22267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solidFill>
                <a:schemeClr val="accent1">
                  <a:alpha val="35000"/>
                </a:schemeClr>
              </a:solidFill>
              <a:ln w="3175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48" name="任意多边形: 形状 14"/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>
              <a:xfrm rot="10800000">
                <a:off x="13482" y="22267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solidFill>
                <a:schemeClr val="accent1">
                  <a:alpha val="35000"/>
                </a:schemeClr>
              </a:solidFill>
              <a:ln w="3175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49" name="任意多边形: 形状 11"/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>
              <a:xfrm rot="10800000">
                <a:off x="13897" y="22141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50" name="任意多边形: 形状 12"/>
              <p:cNvSpPr>
                <a:spLocks noChangeAspect="1"/>
              </p:cNvSpPr>
              <p:nvPr>
                <p:custDataLst>
                  <p:tags r:id="rId28"/>
                </p:custDataLst>
              </p:nvPr>
            </p:nvSpPr>
            <p:spPr>
              <a:xfrm rot="10800000">
                <a:off x="13328" y="22141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67" name="文本框 66"/>
            <p:cNvSpPr txBox="1"/>
            <p:nvPr>
              <p:custDataLst>
                <p:tags r:id="rId29"/>
              </p:custDataLst>
            </p:nvPr>
          </p:nvSpPr>
          <p:spPr>
            <a:xfrm>
              <a:off x="11960" y="7616"/>
              <a:ext cx="6185" cy="20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b="1">
                  <a:solidFill>
                    <a:srgbClr val="C00000"/>
                  </a:solidFill>
                  <a:sym typeface="+mn-ea"/>
                </a:rPr>
                <a:t>       </a:t>
              </a:r>
              <a:r>
                <a:rPr lang="zh-CN" altLang="en-US" b="1">
                  <a:solidFill>
                    <a:srgbClr val="C00000"/>
                  </a:solidFill>
                  <a:sym typeface="+mn-ea"/>
                </a:rPr>
                <a:t>本次实验的顺利完成离不开老师、师兄师姐与实验室同伴们，真诚地感谢他们的帮助</a:t>
              </a:r>
              <a:r>
                <a:rPr lang="en-US" altLang="zh-CN" b="1">
                  <a:solidFill>
                    <a:srgbClr val="C00000"/>
                  </a:solidFill>
                  <a:sym typeface="+mn-ea"/>
                </a:rPr>
                <a:t> !</a:t>
              </a:r>
              <a:endParaRPr lang="zh-CN" altLang="en-US" b="1">
                <a:solidFill>
                  <a:srgbClr val="C00000"/>
                </a:solidFill>
              </a:endParaRPr>
            </a:p>
            <a:p>
              <a:pPr algn="just">
                <a:lnSpc>
                  <a:spcPct val="130000"/>
                </a:lnSpc>
              </a:pPr>
              <a:endParaRPr lang="zh-CN" altLang="en-US" b="1">
                <a:solidFill>
                  <a:srgbClr val="C00000"/>
                </a:solidFill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 flipH="1">
              <a:off x="11677" y="6985"/>
              <a:ext cx="628" cy="458"/>
              <a:chOff x="12658" y="22115"/>
              <a:chExt cx="1151" cy="846"/>
            </a:xfrm>
          </p:grpSpPr>
          <p:sp>
            <p:nvSpPr>
              <p:cNvPr id="69" name="任意多边形: 形状 13"/>
              <p:cNvSpPr>
                <a:spLocks noChangeAspect="1"/>
              </p:cNvSpPr>
              <p:nvPr>
                <p:custDataLst>
                  <p:tags r:id="rId30"/>
                </p:custDataLst>
              </p:nvPr>
            </p:nvSpPr>
            <p:spPr>
              <a:xfrm rot="10800000">
                <a:off x="13380" y="22241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solidFill>
                <a:schemeClr val="accent1">
                  <a:alpha val="35000"/>
                </a:schemeClr>
              </a:solidFill>
              <a:ln w="3175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0" name="任意多边形: 形状 14"/>
              <p:cNvSpPr>
                <a:spLocks noChangeAspect="1"/>
              </p:cNvSpPr>
              <p:nvPr>
                <p:custDataLst>
                  <p:tags r:id="rId31"/>
                </p:custDataLst>
              </p:nvPr>
            </p:nvSpPr>
            <p:spPr>
              <a:xfrm rot="10800000">
                <a:off x="12812" y="22241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solidFill>
                <a:schemeClr val="accent1">
                  <a:alpha val="35000"/>
                </a:schemeClr>
              </a:solidFill>
              <a:ln w="3175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1" name="任意多边形: 形状 11"/>
              <p:cNvSpPr>
                <a:spLocks noChangeAspect="1"/>
              </p:cNvSpPr>
              <p:nvPr>
                <p:custDataLst>
                  <p:tags r:id="rId32"/>
                </p:custDataLst>
              </p:nvPr>
            </p:nvSpPr>
            <p:spPr>
              <a:xfrm rot="10800000">
                <a:off x="13227" y="22115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2" name="任意多边形: 形状 12"/>
              <p:cNvSpPr>
                <a:spLocks noChangeAspect="1"/>
              </p:cNvSpPr>
              <p:nvPr>
                <p:custDataLst>
                  <p:tags r:id="rId33"/>
                </p:custDataLst>
              </p:nvPr>
            </p:nvSpPr>
            <p:spPr>
              <a:xfrm rot="10800000">
                <a:off x="12658" y="22115"/>
                <a:ext cx="429" cy="720"/>
              </a:xfrm>
              <a:custGeom>
                <a:avLst/>
                <a:gdLst>
                  <a:gd name="connsiteX0" fmla="*/ 207995 w 295275"/>
                  <a:gd name="connsiteY0" fmla="*/ 0 h 599179"/>
                  <a:gd name="connsiteX1" fmla="*/ 218480 w 295275"/>
                  <a:gd name="connsiteY1" fmla="*/ 17025 h 599179"/>
                  <a:gd name="connsiteX2" fmla="*/ 263922 w 295275"/>
                  <a:gd name="connsiteY2" fmla="*/ 59952 h 599179"/>
                  <a:gd name="connsiteX3" fmla="*/ 275967 w 295275"/>
                  <a:gd name="connsiteY3" fmla="*/ 66705 h 599179"/>
                  <a:gd name="connsiteX4" fmla="*/ 258864 w 295275"/>
                  <a:gd name="connsiteY4" fmla="*/ 77309 h 599179"/>
                  <a:gd name="connsiteX5" fmla="*/ 164932 w 295275"/>
                  <a:gd name="connsiteY5" fmla="*/ 229252 h 599179"/>
                  <a:gd name="connsiteX6" fmla="*/ 145322 w 295275"/>
                  <a:gd name="connsiteY6" fmla="*/ 303904 h 599179"/>
                  <a:gd name="connsiteX7" fmla="*/ 295275 w 295275"/>
                  <a:gd name="connsiteY7" fmla="*/ 303904 h 599179"/>
                  <a:gd name="connsiteX8" fmla="*/ 295275 w 295275"/>
                  <a:gd name="connsiteY8" fmla="*/ 599179 h 599179"/>
                  <a:gd name="connsiteX9" fmla="*/ 0 w 295275"/>
                  <a:gd name="connsiteY9" fmla="*/ 599179 h 599179"/>
                  <a:gd name="connsiteX10" fmla="*/ 0 w 295275"/>
                  <a:gd name="connsiteY10" fmla="*/ 303904 h 599179"/>
                  <a:gd name="connsiteX11" fmla="*/ 5952 w 295275"/>
                  <a:gd name="connsiteY11" fmla="*/ 269304 h 599179"/>
                  <a:gd name="connsiteX12" fmla="*/ 204540 w 295275"/>
                  <a:gd name="connsiteY12" fmla="*/ 547 h 599179"/>
                  <a:gd name="connsiteX0-1" fmla="*/ 207995 w 295275"/>
                  <a:gd name="connsiteY0-2" fmla="*/ 0 h 599179"/>
                  <a:gd name="connsiteX1-3" fmla="*/ 218480 w 295275"/>
                  <a:gd name="connsiteY1-4" fmla="*/ 17025 h 599179"/>
                  <a:gd name="connsiteX2-5" fmla="*/ 263922 w 295275"/>
                  <a:gd name="connsiteY2-6" fmla="*/ 59952 h 599179"/>
                  <a:gd name="connsiteX3-7" fmla="*/ 275967 w 295275"/>
                  <a:gd name="connsiteY3-8" fmla="*/ 66705 h 599179"/>
                  <a:gd name="connsiteX4-9" fmla="*/ 258864 w 295275"/>
                  <a:gd name="connsiteY4-10" fmla="*/ 77309 h 599179"/>
                  <a:gd name="connsiteX5-11" fmla="*/ 164932 w 295275"/>
                  <a:gd name="connsiteY5-12" fmla="*/ 229252 h 599179"/>
                  <a:gd name="connsiteX6-13" fmla="*/ 152376 w 295275"/>
                  <a:gd name="connsiteY6-14" fmla="*/ 303904 h 599179"/>
                  <a:gd name="connsiteX7-15" fmla="*/ 295275 w 295275"/>
                  <a:gd name="connsiteY7-16" fmla="*/ 303904 h 599179"/>
                  <a:gd name="connsiteX8-17" fmla="*/ 295275 w 295275"/>
                  <a:gd name="connsiteY8-18" fmla="*/ 599179 h 599179"/>
                  <a:gd name="connsiteX9-19" fmla="*/ 0 w 295275"/>
                  <a:gd name="connsiteY9-20" fmla="*/ 599179 h 599179"/>
                  <a:gd name="connsiteX10-21" fmla="*/ 0 w 295275"/>
                  <a:gd name="connsiteY10-22" fmla="*/ 303904 h 599179"/>
                  <a:gd name="connsiteX11-23" fmla="*/ 5952 w 295275"/>
                  <a:gd name="connsiteY11-24" fmla="*/ 269304 h 599179"/>
                  <a:gd name="connsiteX12-25" fmla="*/ 204540 w 295275"/>
                  <a:gd name="connsiteY12-26" fmla="*/ 547 h 599179"/>
                  <a:gd name="connsiteX13" fmla="*/ 207995 w 295275"/>
                  <a:gd name="connsiteY13" fmla="*/ 0 h 599179"/>
                  <a:gd name="connsiteX0-27" fmla="*/ 207995 w 295275"/>
                  <a:gd name="connsiteY0-28" fmla="*/ 0 h 599179"/>
                  <a:gd name="connsiteX1-29" fmla="*/ 218480 w 295275"/>
                  <a:gd name="connsiteY1-30" fmla="*/ 17025 h 599179"/>
                  <a:gd name="connsiteX2-31" fmla="*/ 263922 w 295275"/>
                  <a:gd name="connsiteY2-32" fmla="*/ 59952 h 599179"/>
                  <a:gd name="connsiteX3-33" fmla="*/ 275967 w 295275"/>
                  <a:gd name="connsiteY3-34" fmla="*/ 66705 h 599179"/>
                  <a:gd name="connsiteX4-35" fmla="*/ 258864 w 295275"/>
                  <a:gd name="connsiteY4-36" fmla="*/ 77309 h 599179"/>
                  <a:gd name="connsiteX5-37" fmla="*/ 164932 w 295275"/>
                  <a:gd name="connsiteY5-38" fmla="*/ 229252 h 599179"/>
                  <a:gd name="connsiteX6-39" fmla="*/ 152376 w 295275"/>
                  <a:gd name="connsiteY6-40" fmla="*/ 303904 h 599179"/>
                  <a:gd name="connsiteX7-41" fmla="*/ 295275 w 295275"/>
                  <a:gd name="connsiteY7-42" fmla="*/ 303904 h 599179"/>
                  <a:gd name="connsiteX8-43" fmla="*/ 295275 w 295275"/>
                  <a:gd name="connsiteY8-44" fmla="*/ 599179 h 599179"/>
                  <a:gd name="connsiteX9-45" fmla="*/ 0 w 295275"/>
                  <a:gd name="connsiteY9-46" fmla="*/ 599179 h 599179"/>
                  <a:gd name="connsiteX10-47" fmla="*/ 0 w 295275"/>
                  <a:gd name="connsiteY10-48" fmla="*/ 303904 h 599179"/>
                  <a:gd name="connsiteX11-49" fmla="*/ 5952 w 295275"/>
                  <a:gd name="connsiteY11-50" fmla="*/ 269304 h 599179"/>
                  <a:gd name="connsiteX12-51" fmla="*/ 204540 w 295275"/>
                  <a:gd name="connsiteY12-52" fmla="*/ 547 h 599179"/>
                  <a:gd name="connsiteX13-53" fmla="*/ 207995 w 295275"/>
                  <a:gd name="connsiteY13-54" fmla="*/ 0 h 599179"/>
                  <a:gd name="connsiteX0-55" fmla="*/ 207995 w 295275"/>
                  <a:gd name="connsiteY0-56" fmla="*/ 0 h 599179"/>
                  <a:gd name="connsiteX1-57" fmla="*/ 218480 w 295275"/>
                  <a:gd name="connsiteY1-58" fmla="*/ 17025 h 599179"/>
                  <a:gd name="connsiteX2-59" fmla="*/ 263922 w 295275"/>
                  <a:gd name="connsiteY2-60" fmla="*/ 59952 h 599179"/>
                  <a:gd name="connsiteX3-61" fmla="*/ 275967 w 295275"/>
                  <a:gd name="connsiteY3-62" fmla="*/ 66705 h 599179"/>
                  <a:gd name="connsiteX4-63" fmla="*/ 258864 w 295275"/>
                  <a:gd name="connsiteY4-64" fmla="*/ 77309 h 599179"/>
                  <a:gd name="connsiteX5-65" fmla="*/ 164932 w 295275"/>
                  <a:gd name="connsiteY5-66" fmla="*/ 229252 h 599179"/>
                  <a:gd name="connsiteX6-67" fmla="*/ 152376 w 295275"/>
                  <a:gd name="connsiteY6-68" fmla="*/ 303904 h 599179"/>
                  <a:gd name="connsiteX7-69" fmla="*/ 295275 w 295275"/>
                  <a:gd name="connsiteY7-70" fmla="*/ 303904 h 599179"/>
                  <a:gd name="connsiteX8-71" fmla="*/ 295275 w 295275"/>
                  <a:gd name="connsiteY8-72" fmla="*/ 599179 h 599179"/>
                  <a:gd name="connsiteX9-73" fmla="*/ 0 w 295275"/>
                  <a:gd name="connsiteY9-74" fmla="*/ 599179 h 599179"/>
                  <a:gd name="connsiteX10-75" fmla="*/ 0 w 295275"/>
                  <a:gd name="connsiteY10-76" fmla="*/ 303904 h 599179"/>
                  <a:gd name="connsiteX11-77" fmla="*/ 5952 w 295275"/>
                  <a:gd name="connsiteY11-78" fmla="*/ 269304 h 599179"/>
                  <a:gd name="connsiteX12-79" fmla="*/ 204540 w 295275"/>
                  <a:gd name="connsiteY12-80" fmla="*/ 547 h 599179"/>
                  <a:gd name="connsiteX13-81" fmla="*/ 207995 w 295275"/>
                  <a:gd name="connsiteY13-82" fmla="*/ 0 h 599179"/>
                  <a:gd name="connsiteX0-83" fmla="*/ 207995 w 295275"/>
                  <a:gd name="connsiteY0-84" fmla="*/ 0 h 599179"/>
                  <a:gd name="connsiteX1-85" fmla="*/ 218480 w 295275"/>
                  <a:gd name="connsiteY1-86" fmla="*/ 17025 h 599179"/>
                  <a:gd name="connsiteX2-87" fmla="*/ 263922 w 295275"/>
                  <a:gd name="connsiteY2-88" fmla="*/ 59952 h 599179"/>
                  <a:gd name="connsiteX3-89" fmla="*/ 275967 w 295275"/>
                  <a:gd name="connsiteY3-90" fmla="*/ 66705 h 599179"/>
                  <a:gd name="connsiteX4-91" fmla="*/ 258864 w 295275"/>
                  <a:gd name="connsiteY4-92" fmla="*/ 77309 h 599179"/>
                  <a:gd name="connsiteX5-93" fmla="*/ 152376 w 295275"/>
                  <a:gd name="connsiteY5-94" fmla="*/ 303904 h 599179"/>
                  <a:gd name="connsiteX6-95" fmla="*/ 295275 w 295275"/>
                  <a:gd name="connsiteY6-96" fmla="*/ 303904 h 599179"/>
                  <a:gd name="connsiteX7-97" fmla="*/ 295275 w 295275"/>
                  <a:gd name="connsiteY7-98" fmla="*/ 599179 h 599179"/>
                  <a:gd name="connsiteX8-99" fmla="*/ 0 w 295275"/>
                  <a:gd name="connsiteY8-100" fmla="*/ 599179 h 599179"/>
                  <a:gd name="connsiteX9-101" fmla="*/ 0 w 295275"/>
                  <a:gd name="connsiteY9-102" fmla="*/ 303904 h 599179"/>
                  <a:gd name="connsiteX10-103" fmla="*/ 5952 w 295275"/>
                  <a:gd name="connsiteY10-104" fmla="*/ 269304 h 599179"/>
                  <a:gd name="connsiteX11-105" fmla="*/ 204540 w 295275"/>
                  <a:gd name="connsiteY11-106" fmla="*/ 547 h 599179"/>
                  <a:gd name="connsiteX12-107" fmla="*/ 207995 w 295275"/>
                  <a:gd name="connsiteY12-108" fmla="*/ 0 h 599179"/>
                  <a:gd name="connsiteX0-109" fmla="*/ 207995 w 295275"/>
                  <a:gd name="connsiteY0-110" fmla="*/ 0 h 599179"/>
                  <a:gd name="connsiteX1-111" fmla="*/ 218480 w 295275"/>
                  <a:gd name="connsiteY1-112" fmla="*/ 17025 h 599179"/>
                  <a:gd name="connsiteX2-113" fmla="*/ 263922 w 295275"/>
                  <a:gd name="connsiteY2-114" fmla="*/ 59952 h 599179"/>
                  <a:gd name="connsiteX3-115" fmla="*/ 275967 w 295275"/>
                  <a:gd name="connsiteY3-116" fmla="*/ 66705 h 599179"/>
                  <a:gd name="connsiteX4-117" fmla="*/ 258864 w 295275"/>
                  <a:gd name="connsiteY4-118" fmla="*/ 77309 h 599179"/>
                  <a:gd name="connsiteX5-119" fmla="*/ 152376 w 295275"/>
                  <a:gd name="connsiteY5-120" fmla="*/ 303904 h 599179"/>
                  <a:gd name="connsiteX6-121" fmla="*/ 295275 w 295275"/>
                  <a:gd name="connsiteY6-122" fmla="*/ 303904 h 599179"/>
                  <a:gd name="connsiteX7-123" fmla="*/ 295275 w 295275"/>
                  <a:gd name="connsiteY7-124" fmla="*/ 599179 h 599179"/>
                  <a:gd name="connsiteX8-125" fmla="*/ 0 w 295275"/>
                  <a:gd name="connsiteY8-126" fmla="*/ 599179 h 599179"/>
                  <a:gd name="connsiteX9-127" fmla="*/ 0 w 295275"/>
                  <a:gd name="connsiteY9-128" fmla="*/ 303904 h 599179"/>
                  <a:gd name="connsiteX10-129" fmla="*/ 5952 w 295275"/>
                  <a:gd name="connsiteY10-130" fmla="*/ 269304 h 599179"/>
                  <a:gd name="connsiteX11-131" fmla="*/ 204540 w 295275"/>
                  <a:gd name="connsiteY11-132" fmla="*/ 547 h 599179"/>
                  <a:gd name="connsiteX12-133" fmla="*/ 207995 w 295275"/>
                  <a:gd name="connsiteY12-134" fmla="*/ 0 h 599179"/>
                  <a:gd name="connsiteX0-135" fmla="*/ 207995 w 295275"/>
                  <a:gd name="connsiteY0-136" fmla="*/ 0 h 599179"/>
                  <a:gd name="connsiteX1-137" fmla="*/ 218480 w 295275"/>
                  <a:gd name="connsiteY1-138" fmla="*/ 17025 h 599179"/>
                  <a:gd name="connsiteX2-139" fmla="*/ 263922 w 295275"/>
                  <a:gd name="connsiteY2-140" fmla="*/ 59952 h 599179"/>
                  <a:gd name="connsiteX3-141" fmla="*/ 275967 w 295275"/>
                  <a:gd name="connsiteY3-142" fmla="*/ 66705 h 599179"/>
                  <a:gd name="connsiteX4-143" fmla="*/ 152376 w 295275"/>
                  <a:gd name="connsiteY4-144" fmla="*/ 303904 h 599179"/>
                  <a:gd name="connsiteX5-145" fmla="*/ 295275 w 295275"/>
                  <a:gd name="connsiteY5-146" fmla="*/ 303904 h 599179"/>
                  <a:gd name="connsiteX6-147" fmla="*/ 295275 w 295275"/>
                  <a:gd name="connsiteY6-148" fmla="*/ 599179 h 599179"/>
                  <a:gd name="connsiteX7-149" fmla="*/ 0 w 295275"/>
                  <a:gd name="connsiteY7-150" fmla="*/ 599179 h 599179"/>
                  <a:gd name="connsiteX8-151" fmla="*/ 0 w 295275"/>
                  <a:gd name="connsiteY8-152" fmla="*/ 303904 h 599179"/>
                  <a:gd name="connsiteX9-153" fmla="*/ 5952 w 295275"/>
                  <a:gd name="connsiteY9-154" fmla="*/ 269304 h 599179"/>
                  <a:gd name="connsiteX10-155" fmla="*/ 204540 w 295275"/>
                  <a:gd name="connsiteY10-156" fmla="*/ 547 h 599179"/>
                  <a:gd name="connsiteX11-157" fmla="*/ 207995 w 295275"/>
                  <a:gd name="connsiteY11-158" fmla="*/ 0 h 599179"/>
                  <a:gd name="connsiteX0-159" fmla="*/ 207995 w 295275"/>
                  <a:gd name="connsiteY0-160" fmla="*/ 0 h 599179"/>
                  <a:gd name="connsiteX1-161" fmla="*/ 218480 w 295275"/>
                  <a:gd name="connsiteY1-162" fmla="*/ 17025 h 599179"/>
                  <a:gd name="connsiteX2-163" fmla="*/ 263922 w 295275"/>
                  <a:gd name="connsiteY2-164" fmla="*/ 59952 h 599179"/>
                  <a:gd name="connsiteX3-165" fmla="*/ 275967 w 295275"/>
                  <a:gd name="connsiteY3-166" fmla="*/ 66705 h 599179"/>
                  <a:gd name="connsiteX4-167" fmla="*/ 152376 w 295275"/>
                  <a:gd name="connsiteY4-168" fmla="*/ 303904 h 599179"/>
                  <a:gd name="connsiteX5-169" fmla="*/ 295275 w 295275"/>
                  <a:gd name="connsiteY5-170" fmla="*/ 303904 h 599179"/>
                  <a:gd name="connsiteX6-171" fmla="*/ 295275 w 295275"/>
                  <a:gd name="connsiteY6-172" fmla="*/ 599179 h 599179"/>
                  <a:gd name="connsiteX7-173" fmla="*/ 0 w 295275"/>
                  <a:gd name="connsiteY7-174" fmla="*/ 599179 h 599179"/>
                  <a:gd name="connsiteX8-175" fmla="*/ 0 w 295275"/>
                  <a:gd name="connsiteY8-176" fmla="*/ 303904 h 599179"/>
                  <a:gd name="connsiteX9-177" fmla="*/ 5952 w 295275"/>
                  <a:gd name="connsiteY9-178" fmla="*/ 269304 h 599179"/>
                  <a:gd name="connsiteX10-179" fmla="*/ 204540 w 295275"/>
                  <a:gd name="connsiteY10-180" fmla="*/ 547 h 599179"/>
                  <a:gd name="connsiteX11-181" fmla="*/ 207995 w 295275"/>
                  <a:gd name="connsiteY11-182" fmla="*/ 0 h 599179"/>
                  <a:gd name="connsiteX0-183" fmla="*/ 207995 w 295275"/>
                  <a:gd name="connsiteY0-184" fmla="*/ 0 h 599179"/>
                  <a:gd name="connsiteX1-185" fmla="*/ 218480 w 295275"/>
                  <a:gd name="connsiteY1-186" fmla="*/ 17025 h 599179"/>
                  <a:gd name="connsiteX2-187" fmla="*/ 263922 w 295275"/>
                  <a:gd name="connsiteY2-188" fmla="*/ 59952 h 599179"/>
                  <a:gd name="connsiteX3-189" fmla="*/ 275967 w 295275"/>
                  <a:gd name="connsiteY3-190" fmla="*/ 66705 h 599179"/>
                  <a:gd name="connsiteX4-191" fmla="*/ 152376 w 295275"/>
                  <a:gd name="connsiteY4-192" fmla="*/ 303904 h 599179"/>
                  <a:gd name="connsiteX5-193" fmla="*/ 295275 w 295275"/>
                  <a:gd name="connsiteY5-194" fmla="*/ 303904 h 599179"/>
                  <a:gd name="connsiteX6-195" fmla="*/ 295275 w 295275"/>
                  <a:gd name="connsiteY6-196" fmla="*/ 599179 h 599179"/>
                  <a:gd name="connsiteX7-197" fmla="*/ 0 w 295275"/>
                  <a:gd name="connsiteY7-198" fmla="*/ 599179 h 599179"/>
                  <a:gd name="connsiteX8-199" fmla="*/ 0 w 295275"/>
                  <a:gd name="connsiteY8-200" fmla="*/ 303904 h 599179"/>
                  <a:gd name="connsiteX9-201" fmla="*/ 5952 w 295275"/>
                  <a:gd name="connsiteY9-202" fmla="*/ 269304 h 599179"/>
                  <a:gd name="connsiteX10-203" fmla="*/ 204540 w 295275"/>
                  <a:gd name="connsiteY10-204" fmla="*/ 547 h 599179"/>
                  <a:gd name="connsiteX11-205" fmla="*/ 207995 w 295275"/>
                  <a:gd name="connsiteY11-206" fmla="*/ 0 h 599179"/>
                  <a:gd name="connsiteX0-207" fmla="*/ 207995 w 295275"/>
                  <a:gd name="connsiteY0-208" fmla="*/ 0 h 599179"/>
                  <a:gd name="connsiteX1-209" fmla="*/ 218480 w 295275"/>
                  <a:gd name="connsiteY1-210" fmla="*/ 17025 h 599179"/>
                  <a:gd name="connsiteX2-211" fmla="*/ 263922 w 295275"/>
                  <a:gd name="connsiteY2-212" fmla="*/ 59952 h 599179"/>
                  <a:gd name="connsiteX3-213" fmla="*/ 275967 w 295275"/>
                  <a:gd name="connsiteY3-214" fmla="*/ 66705 h 599179"/>
                  <a:gd name="connsiteX4-215" fmla="*/ 152376 w 295275"/>
                  <a:gd name="connsiteY4-216" fmla="*/ 303904 h 599179"/>
                  <a:gd name="connsiteX5-217" fmla="*/ 295275 w 295275"/>
                  <a:gd name="connsiteY5-218" fmla="*/ 303904 h 599179"/>
                  <a:gd name="connsiteX6-219" fmla="*/ 295275 w 295275"/>
                  <a:gd name="connsiteY6-220" fmla="*/ 599179 h 599179"/>
                  <a:gd name="connsiteX7-221" fmla="*/ 0 w 295275"/>
                  <a:gd name="connsiteY7-222" fmla="*/ 599179 h 599179"/>
                  <a:gd name="connsiteX8-223" fmla="*/ 0 w 295275"/>
                  <a:gd name="connsiteY8-224" fmla="*/ 303904 h 599179"/>
                  <a:gd name="connsiteX9-225" fmla="*/ 5952 w 295275"/>
                  <a:gd name="connsiteY9-226" fmla="*/ 269304 h 599179"/>
                  <a:gd name="connsiteX10-227" fmla="*/ 204540 w 295275"/>
                  <a:gd name="connsiteY10-228" fmla="*/ 547 h 599179"/>
                  <a:gd name="connsiteX11-229" fmla="*/ 207995 w 295275"/>
                  <a:gd name="connsiteY11-230" fmla="*/ 0 h 599179"/>
                  <a:gd name="connsiteX0-231" fmla="*/ 207995 w 295275"/>
                  <a:gd name="connsiteY0-232" fmla="*/ 0 h 599179"/>
                  <a:gd name="connsiteX1-233" fmla="*/ 218480 w 295275"/>
                  <a:gd name="connsiteY1-234" fmla="*/ 17025 h 599179"/>
                  <a:gd name="connsiteX2-235" fmla="*/ 263922 w 295275"/>
                  <a:gd name="connsiteY2-236" fmla="*/ 59952 h 599179"/>
                  <a:gd name="connsiteX3-237" fmla="*/ 275967 w 295275"/>
                  <a:gd name="connsiteY3-238" fmla="*/ 66705 h 599179"/>
                  <a:gd name="connsiteX4-239" fmla="*/ 152376 w 295275"/>
                  <a:gd name="connsiteY4-240" fmla="*/ 303904 h 599179"/>
                  <a:gd name="connsiteX5-241" fmla="*/ 295275 w 295275"/>
                  <a:gd name="connsiteY5-242" fmla="*/ 303904 h 599179"/>
                  <a:gd name="connsiteX6-243" fmla="*/ 295275 w 295275"/>
                  <a:gd name="connsiteY6-244" fmla="*/ 599179 h 599179"/>
                  <a:gd name="connsiteX7-245" fmla="*/ 0 w 295275"/>
                  <a:gd name="connsiteY7-246" fmla="*/ 599179 h 599179"/>
                  <a:gd name="connsiteX8-247" fmla="*/ 0 w 295275"/>
                  <a:gd name="connsiteY8-248" fmla="*/ 303904 h 599179"/>
                  <a:gd name="connsiteX9-249" fmla="*/ 204540 w 295275"/>
                  <a:gd name="connsiteY9-250" fmla="*/ 547 h 599179"/>
                  <a:gd name="connsiteX10-251" fmla="*/ 207995 w 295275"/>
                  <a:gd name="connsiteY10-252" fmla="*/ 0 h 599179"/>
                  <a:gd name="connsiteX0-253" fmla="*/ 207995 w 295275"/>
                  <a:gd name="connsiteY0-254" fmla="*/ 0 h 599179"/>
                  <a:gd name="connsiteX1-255" fmla="*/ 218480 w 295275"/>
                  <a:gd name="connsiteY1-256" fmla="*/ 17025 h 599179"/>
                  <a:gd name="connsiteX2-257" fmla="*/ 263922 w 295275"/>
                  <a:gd name="connsiteY2-258" fmla="*/ 59952 h 599179"/>
                  <a:gd name="connsiteX3-259" fmla="*/ 275967 w 295275"/>
                  <a:gd name="connsiteY3-260" fmla="*/ 66705 h 599179"/>
                  <a:gd name="connsiteX4-261" fmla="*/ 152376 w 295275"/>
                  <a:gd name="connsiteY4-262" fmla="*/ 303904 h 599179"/>
                  <a:gd name="connsiteX5-263" fmla="*/ 295275 w 295275"/>
                  <a:gd name="connsiteY5-264" fmla="*/ 303904 h 599179"/>
                  <a:gd name="connsiteX6-265" fmla="*/ 295275 w 295275"/>
                  <a:gd name="connsiteY6-266" fmla="*/ 599179 h 599179"/>
                  <a:gd name="connsiteX7-267" fmla="*/ 0 w 295275"/>
                  <a:gd name="connsiteY7-268" fmla="*/ 599179 h 599179"/>
                  <a:gd name="connsiteX8-269" fmla="*/ 0 w 295275"/>
                  <a:gd name="connsiteY8-270" fmla="*/ 303904 h 599179"/>
                  <a:gd name="connsiteX9-271" fmla="*/ 204540 w 295275"/>
                  <a:gd name="connsiteY9-272" fmla="*/ 547 h 599179"/>
                  <a:gd name="connsiteX10-273" fmla="*/ 207995 w 295275"/>
                  <a:gd name="connsiteY10-274" fmla="*/ 0 h 599179"/>
                  <a:gd name="connsiteX0-275" fmla="*/ 207995 w 295275"/>
                  <a:gd name="connsiteY0-276" fmla="*/ 0 h 599179"/>
                  <a:gd name="connsiteX1-277" fmla="*/ 218480 w 295275"/>
                  <a:gd name="connsiteY1-278" fmla="*/ 17025 h 599179"/>
                  <a:gd name="connsiteX2-279" fmla="*/ 263922 w 295275"/>
                  <a:gd name="connsiteY2-280" fmla="*/ 59952 h 599179"/>
                  <a:gd name="connsiteX3-281" fmla="*/ 275967 w 295275"/>
                  <a:gd name="connsiteY3-282" fmla="*/ 66705 h 599179"/>
                  <a:gd name="connsiteX4-283" fmla="*/ 152376 w 295275"/>
                  <a:gd name="connsiteY4-284" fmla="*/ 303904 h 599179"/>
                  <a:gd name="connsiteX5-285" fmla="*/ 295275 w 295275"/>
                  <a:gd name="connsiteY5-286" fmla="*/ 303904 h 599179"/>
                  <a:gd name="connsiteX6-287" fmla="*/ 295275 w 295275"/>
                  <a:gd name="connsiteY6-288" fmla="*/ 599179 h 599179"/>
                  <a:gd name="connsiteX7-289" fmla="*/ 0 w 295275"/>
                  <a:gd name="connsiteY7-290" fmla="*/ 599179 h 599179"/>
                  <a:gd name="connsiteX8-291" fmla="*/ 0 w 295275"/>
                  <a:gd name="connsiteY8-292" fmla="*/ 303904 h 599179"/>
                  <a:gd name="connsiteX9-293" fmla="*/ 207995 w 295275"/>
                  <a:gd name="connsiteY9-294" fmla="*/ 0 h 599179"/>
                  <a:gd name="connsiteX0-295" fmla="*/ 207995 w 295275"/>
                  <a:gd name="connsiteY0-296" fmla="*/ 0 h 599179"/>
                  <a:gd name="connsiteX1-297" fmla="*/ 218480 w 295275"/>
                  <a:gd name="connsiteY1-298" fmla="*/ 17025 h 599179"/>
                  <a:gd name="connsiteX2-299" fmla="*/ 263922 w 295275"/>
                  <a:gd name="connsiteY2-300" fmla="*/ 59952 h 599179"/>
                  <a:gd name="connsiteX3-301" fmla="*/ 275967 w 295275"/>
                  <a:gd name="connsiteY3-302" fmla="*/ 66705 h 599179"/>
                  <a:gd name="connsiteX4-303" fmla="*/ 152376 w 295275"/>
                  <a:gd name="connsiteY4-304" fmla="*/ 303904 h 599179"/>
                  <a:gd name="connsiteX5-305" fmla="*/ 295275 w 295275"/>
                  <a:gd name="connsiteY5-306" fmla="*/ 303904 h 599179"/>
                  <a:gd name="connsiteX6-307" fmla="*/ 295275 w 295275"/>
                  <a:gd name="connsiteY6-308" fmla="*/ 599179 h 599179"/>
                  <a:gd name="connsiteX7-309" fmla="*/ 0 w 295275"/>
                  <a:gd name="connsiteY7-310" fmla="*/ 599179 h 599179"/>
                  <a:gd name="connsiteX8-311" fmla="*/ 0 w 295275"/>
                  <a:gd name="connsiteY8-312" fmla="*/ 303904 h 599179"/>
                  <a:gd name="connsiteX9-313" fmla="*/ 207995 w 295275"/>
                  <a:gd name="connsiteY9-314" fmla="*/ 0 h 599179"/>
                  <a:gd name="connsiteX0-315" fmla="*/ 207995 w 295275"/>
                  <a:gd name="connsiteY0-316" fmla="*/ 0 h 599179"/>
                  <a:gd name="connsiteX1-317" fmla="*/ 218480 w 295275"/>
                  <a:gd name="connsiteY1-318" fmla="*/ 17025 h 599179"/>
                  <a:gd name="connsiteX2-319" fmla="*/ 263922 w 295275"/>
                  <a:gd name="connsiteY2-320" fmla="*/ 59952 h 599179"/>
                  <a:gd name="connsiteX3-321" fmla="*/ 275967 w 295275"/>
                  <a:gd name="connsiteY3-322" fmla="*/ 66705 h 599179"/>
                  <a:gd name="connsiteX4-323" fmla="*/ 152376 w 295275"/>
                  <a:gd name="connsiteY4-324" fmla="*/ 303904 h 599179"/>
                  <a:gd name="connsiteX5-325" fmla="*/ 295275 w 295275"/>
                  <a:gd name="connsiteY5-326" fmla="*/ 303904 h 599179"/>
                  <a:gd name="connsiteX6-327" fmla="*/ 295275 w 295275"/>
                  <a:gd name="connsiteY6-328" fmla="*/ 599179 h 599179"/>
                  <a:gd name="connsiteX7-329" fmla="*/ 0 w 295275"/>
                  <a:gd name="connsiteY7-330" fmla="*/ 599179 h 599179"/>
                  <a:gd name="connsiteX8-331" fmla="*/ 0 w 295275"/>
                  <a:gd name="connsiteY8-332" fmla="*/ 303904 h 599179"/>
                  <a:gd name="connsiteX9-333" fmla="*/ 207995 w 295275"/>
                  <a:gd name="connsiteY9-334" fmla="*/ 0 h 599179"/>
                  <a:gd name="connsiteX0-335" fmla="*/ 207995 w 295275"/>
                  <a:gd name="connsiteY0-336" fmla="*/ 0 h 599179"/>
                  <a:gd name="connsiteX1-337" fmla="*/ 218480 w 295275"/>
                  <a:gd name="connsiteY1-338" fmla="*/ 17025 h 599179"/>
                  <a:gd name="connsiteX2-339" fmla="*/ 263922 w 295275"/>
                  <a:gd name="connsiteY2-340" fmla="*/ 59952 h 599179"/>
                  <a:gd name="connsiteX3-341" fmla="*/ 275967 w 295275"/>
                  <a:gd name="connsiteY3-342" fmla="*/ 66705 h 599179"/>
                  <a:gd name="connsiteX4-343" fmla="*/ 152376 w 295275"/>
                  <a:gd name="connsiteY4-344" fmla="*/ 303904 h 599179"/>
                  <a:gd name="connsiteX5-345" fmla="*/ 295275 w 295275"/>
                  <a:gd name="connsiteY5-346" fmla="*/ 303904 h 599179"/>
                  <a:gd name="connsiteX6-347" fmla="*/ 295275 w 295275"/>
                  <a:gd name="connsiteY6-348" fmla="*/ 599179 h 599179"/>
                  <a:gd name="connsiteX7-349" fmla="*/ 0 w 295275"/>
                  <a:gd name="connsiteY7-350" fmla="*/ 599179 h 599179"/>
                  <a:gd name="connsiteX8-351" fmla="*/ 0 w 295275"/>
                  <a:gd name="connsiteY8-352" fmla="*/ 303904 h 599179"/>
                  <a:gd name="connsiteX9-353" fmla="*/ 207995 w 295275"/>
                  <a:gd name="connsiteY9-354" fmla="*/ 0 h 599179"/>
                  <a:gd name="connsiteX0-355" fmla="*/ 207995 w 295275"/>
                  <a:gd name="connsiteY0-356" fmla="*/ 0 h 599179"/>
                  <a:gd name="connsiteX1-357" fmla="*/ 218480 w 295275"/>
                  <a:gd name="connsiteY1-358" fmla="*/ 17025 h 599179"/>
                  <a:gd name="connsiteX2-359" fmla="*/ 263922 w 295275"/>
                  <a:gd name="connsiteY2-360" fmla="*/ 59952 h 599179"/>
                  <a:gd name="connsiteX3-361" fmla="*/ 275967 w 295275"/>
                  <a:gd name="connsiteY3-362" fmla="*/ 66705 h 599179"/>
                  <a:gd name="connsiteX4-363" fmla="*/ 152376 w 295275"/>
                  <a:gd name="connsiteY4-364" fmla="*/ 303904 h 599179"/>
                  <a:gd name="connsiteX5-365" fmla="*/ 295275 w 295275"/>
                  <a:gd name="connsiteY5-366" fmla="*/ 303904 h 599179"/>
                  <a:gd name="connsiteX6-367" fmla="*/ 295275 w 295275"/>
                  <a:gd name="connsiteY6-368" fmla="*/ 599179 h 599179"/>
                  <a:gd name="connsiteX7-369" fmla="*/ 0 w 295275"/>
                  <a:gd name="connsiteY7-370" fmla="*/ 599179 h 599179"/>
                  <a:gd name="connsiteX8-371" fmla="*/ 0 w 295275"/>
                  <a:gd name="connsiteY8-372" fmla="*/ 303904 h 599179"/>
                  <a:gd name="connsiteX9-373" fmla="*/ 207995 w 295275"/>
                  <a:gd name="connsiteY9-374" fmla="*/ 0 h 599179"/>
                  <a:gd name="connsiteX0-375" fmla="*/ 207995 w 295275"/>
                  <a:gd name="connsiteY0-376" fmla="*/ 0 h 599179"/>
                  <a:gd name="connsiteX1-377" fmla="*/ 218480 w 295275"/>
                  <a:gd name="connsiteY1-378" fmla="*/ 17025 h 599179"/>
                  <a:gd name="connsiteX2-379" fmla="*/ 263922 w 295275"/>
                  <a:gd name="connsiteY2-380" fmla="*/ 59952 h 599179"/>
                  <a:gd name="connsiteX3-381" fmla="*/ 275967 w 295275"/>
                  <a:gd name="connsiteY3-382" fmla="*/ 66705 h 599179"/>
                  <a:gd name="connsiteX4-383" fmla="*/ 152376 w 295275"/>
                  <a:gd name="connsiteY4-384" fmla="*/ 303904 h 599179"/>
                  <a:gd name="connsiteX5-385" fmla="*/ 295275 w 295275"/>
                  <a:gd name="connsiteY5-386" fmla="*/ 303904 h 599179"/>
                  <a:gd name="connsiteX6-387" fmla="*/ 295275 w 295275"/>
                  <a:gd name="connsiteY6-388" fmla="*/ 599179 h 599179"/>
                  <a:gd name="connsiteX7-389" fmla="*/ 0 w 295275"/>
                  <a:gd name="connsiteY7-390" fmla="*/ 599179 h 599179"/>
                  <a:gd name="connsiteX8-391" fmla="*/ 0 w 295275"/>
                  <a:gd name="connsiteY8-392" fmla="*/ 303904 h 599179"/>
                  <a:gd name="connsiteX9-393" fmla="*/ 207995 w 295275"/>
                  <a:gd name="connsiteY9-394" fmla="*/ 0 h 599179"/>
                  <a:gd name="connsiteX0-395" fmla="*/ 207995 w 295275"/>
                  <a:gd name="connsiteY0-396" fmla="*/ 0 h 599179"/>
                  <a:gd name="connsiteX1-397" fmla="*/ 218480 w 295275"/>
                  <a:gd name="connsiteY1-398" fmla="*/ 17025 h 599179"/>
                  <a:gd name="connsiteX2-399" fmla="*/ 263922 w 295275"/>
                  <a:gd name="connsiteY2-400" fmla="*/ 59952 h 599179"/>
                  <a:gd name="connsiteX3-401" fmla="*/ 275967 w 295275"/>
                  <a:gd name="connsiteY3-402" fmla="*/ 66705 h 599179"/>
                  <a:gd name="connsiteX4-403" fmla="*/ 152376 w 295275"/>
                  <a:gd name="connsiteY4-404" fmla="*/ 303904 h 599179"/>
                  <a:gd name="connsiteX5-405" fmla="*/ 295275 w 295275"/>
                  <a:gd name="connsiteY5-406" fmla="*/ 303904 h 599179"/>
                  <a:gd name="connsiteX6-407" fmla="*/ 295275 w 295275"/>
                  <a:gd name="connsiteY6-408" fmla="*/ 599179 h 599179"/>
                  <a:gd name="connsiteX7-409" fmla="*/ 0 w 295275"/>
                  <a:gd name="connsiteY7-410" fmla="*/ 599179 h 599179"/>
                  <a:gd name="connsiteX8-411" fmla="*/ 0 w 295275"/>
                  <a:gd name="connsiteY8-412" fmla="*/ 303904 h 599179"/>
                  <a:gd name="connsiteX9-413" fmla="*/ 207995 w 295275"/>
                  <a:gd name="connsiteY9-414" fmla="*/ 0 h 599179"/>
                  <a:gd name="connsiteX0-415" fmla="*/ 207995 w 295275"/>
                  <a:gd name="connsiteY0-416" fmla="*/ 0 h 599179"/>
                  <a:gd name="connsiteX1-417" fmla="*/ 218480 w 295275"/>
                  <a:gd name="connsiteY1-418" fmla="*/ 17025 h 599179"/>
                  <a:gd name="connsiteX2-419" fmla="*/ 263922 w 295275"/>
                  <a:gd name="connsiteY2-420" fmla="*/ 59952 h 599179"/>
                  <a:gd name="connsiteX3-421" fmla="*/ 275967 w 295275"/>
                  <a:gd name="connsiteY3-422" fmla="*/ 66705 h 599179"/>
                  <a:gd name="connsiteX4-423" fmla="*/ 152376 w 295275"/>
                  <a:gd name="connsiteY4-424" fmla="*/ 303904 h 599179"/>
                  <a:gd name="connsiteX5-425" fmla="*/ 295275 w 295275"/>
                  <a:gd name="connsiteY5-426" fmla="*/ 303904 h 599179"/>
                  <a:gd name="connsiteX6-427" fmla="*/ 295275 w 295275"/>
                  <a:gd name="connsiteY6-428" fmla="*/ 599179 h 599179"/>
                  <a:gd name="connsiteX7-429" fmla="*/ 0 w 295275"/>
                  <a:gd name="connsiteY7-430" fmla="*/ 599179 h 599179"/>
                  <a:gd name="connsiteX8-431" fmla="*/ 0 w 295275"/>
                  <a:gd name="connsiteY8-432" fmla="*/ 334942 h 599179"/>
                  <a:gd name="connsiteX9-433" fmla="*/ 207995 w 295275"/>
                  <a:gd name="connsiteY9-434" fmla="*/ 0 h 599179"/>
                  <a:gd name="connsiteX0-435" fmla="*/ 207995 w 295275"/>
                  <a:gd name="connsiteY0-436" fmla="*/ 0 h 599179"/>
                  <a:gd name="connsiteX1-437" fmla="*/ 218480 w 295275"/>
                  <a:gd name="connsiteY1-438" fmla="*/ 17025 h 599179"/>
                  <a:gd name="connsiteX2-439" fmla="*/ 263922 w 295275"/>
                  <a:gd name="connsiteY2-440" fmla="*/ 59952 h 599179"/>
                  <a:gd name="connsiteX3-441" fmla="*/ 275967 w 295275"/>
                  <a:gd name="connsiteY3-442" fmla="*/ 66705 h 599179"/>
                  <a:gd name="connsiteX4-443" fmla="*/ 152376 w 295275"/>
                  <a:gd name="connsiteY4-444" fmla="*/ 303904 h 599179"/>
                  <a:gd name="connsiteX5-445" fmla="*/ 295275 w 295275"/>
                  <a:gd name="connsiteY5-446" fmla="*/ 303904 h 599179"/>
                  <a:gd name="connsiteX6-447" fmla="*/ 295275 w 295275"/>
                  <a:gd name="connsiteY6-448" fmla="*/ 599179 h 599179"/>
                  <a:gd name="connsiteX7-449" fmla="*/ 0 w 295275"/>
                  <a:gd name="connsiteY7-450" fmla="*/ 599179 h 599179"/>
                  <a:gd name="connsiteX8-451" fmla="*/ 0 w 295275"/>
                  <a:gd name="connsiteY8-452" fmla="*/ 334942 h 599179"/>
                  <a:gd name="connsiteX9-453" fmla="*/ 207995 w 295275"/>
                  <a:gd name="connsiteY9-454" fmla="*/ 0 h 599179"/>
                  <a:gd name="connsiteX0-455" fmla="*/ 207995 w 295275"/>
                  <a:gd name="connsiteY0-456" fmla="*/ 0 h 599179"/>
                  <a:gd name="connsiteX1-457" fmla="*/ 218480 w 295275"/>
                  <a:gd name="connsiteY1-458" fmla="*/ 17025 h 599179"/>
                  <a:gd name="connsiteX2-459" fmla="*/ 263922 w 295275"/>
                  <a:gd name="connsiteY2-460" fmla="*/ 59952 h 599179"/>
                  <a:gd name="connsiteX3-461" fmla="*/ 275967 w 295275"/>
                  <a:gd name="connsiteY3-462" fmla="*/ 66705 h 599179"/>
                  <a:gd name="connsiteX4-463" fmla="*/ 152376 w 295275"/>
                  <a:gd name="connsiteY4-464" fmla="*/ 303904 h 599179"/>
                  <a:gd name="connsiteX5-465" fmla="*/ 295275 w 295275"/>
                  <a:gd name="connsiteY5-466" fmla="*/ 303904 h 599179"/>
                  <a:gd name="connsiteX6-467" fmla="*/ 295275 w 295275"/>
                  <a:gd name="connsiteY6-468" fmla="*/ 599179 h 599179"/>
                  <a:gd name="connsiteX7-469" fmla="*/ 0 w 295275"/>
                  <a:gd name="connsiteY7-470" fmla="*/ 599179 h 599179"/>
                  <a:gd name="connsiteX8-471" fmla="*/ 0 w 295275"/>
                  <a:gd name="connsiteY8-472" fmla="*/ 334942 h 599179"/>
                  <a:gd name="connsiteX9-473" fmla="*/ 207995 w 295275"/>
                  <a:gd name="connsiteY9-474" fmla="*/ 0 h 5991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295275" h="599179">
                    <a:moveTo>
                      <a:pt x="207995" y="0"/>
                    </a:moveTo>
                    <a:lnTo>
                      <a:pt x="218480" y="17025"/>
                    </a:lnTo>
                    <a:cubicBezTo>
                      <a:pt x="231034" y="32364"/>
                      <a:pt x="246314" y="46986"/>
                      <a:pt x="263922" y="59952"/>
                    </a:cubicBezTo>
                    <a:lnTo>
                      <a:pt x="275967" y="66705"/>
                    </a:lnTo>
                    <a:cubicBezTo>
                      <a:pt x="274744" y="66607"/>
                      <a:pt x="166924" y="148026"/>
                      <a:pt x="152376" y="303904"/>
                    </a:cubicBezTo>
                    <a:lnTo>
                      <a:pt x="295275" y="303904"/>
                    </a:lnTo>
                    <a:lnTo>
                      <a:pt x="295275" y="599179"/>
                    </a:lnTo>
                    <a:lnTo>
                      <a:pt x="0" y="599179"/>
                    </a:lnTo>
                    <a:lnTo>
                      <a:pt x="0" y="334942"/>
                    </a:lnTo>
                    <a:cubicBezTo>
                      <a:pt x="10368" y="113589"/>
                      <a:pt x="207637" y="2353"/>
                      <a:pt x="207995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45" name="图片 4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6003290" y="254000"/>
            <a:ext cx="1064260" cy="1059180"/>
          </a:xfrm>
          <a:prstGeom prst="rect">
            <a:avLst/>
          </a:prstGeom>
        </p:spPr>
      </p:pic>
    </p:spTree>
    <p:custDataLst>
      <p:tags r:id="rId3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600" dirty="0">
                <a:solidFill>
                  <a:schemeClr val="bg1"/>
                </a:solidFill>
                <a:latin typeface="+mn-ea"/>
                <a:cs typeface="+mn-ea"/>
              </a:rPr>
              <a:t>毕业论文答辩模板</a:t>
            </a:r>
            <a:endParaRPr lang="zh-CN" altLang="en-US" sz="4800" spc="6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600" dirty="0">
                <a:solidFill>
                  <a:schemeClr val="bg1"/>
                </a:solidFill>
                <a:latin typeface="Arial" panose="020B0604020202020204" pitchFamily="34" charset="0"/>
                <a:cs typeface="+mn-ea"/>
              </a:rPr>
              <a:t>Graduation thesis defense template</a:t>
            </a:r>
            <a:endParaRPr lang="zh-CN" altLang="en-US" sz="1400" spc="600" dirty="0">
              <a:solidFill>
                <a:schemeClr val="bg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614793" y="2411204"/>
            <a:ext cx="8959174" cy="1337893"/>
            <a:chOff x="2207567" y="2599267"/>
            <a:chExt cx="7771213" cy="1337893"/>
          </a:xfrm>
        </p:grpSpPr>
        <p:sp>
          <p:nvSpPr>
            <p:cNvPr id="52" name="文本框 51"/>
            <p:cNvSpPr txBox="1"/>
            <p:nvPr/>
          </p:nvSpPr>
          <p:spPr>
            <a:xfrm>
              <a:off x="2207567" y="2599267"/>
              <a:ext cx="777121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rgbClr val="FF000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探索</a:t>
              </a:r>
              <a:r>
                <a:rPr lang="zh-CN" altLang="en-US" sz="5400" b="1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无止境</a:t>
              </a:r>
              <a:r>
                <a:rPr lang="en-US" altLang="zh-CN" sz="5400" b="1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,</a:t>
              </a:r>
              <a:r>
                <a:rPr lang="zh-CN" altLang="en-US" sz="5400" b="1" spc="600" dirty="0">
                  <a:solidFill>
                    <a:srgbClr val="FF000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实践</a:t>
              </a:r>
              <a:r>
                <a:rPr lang="zh-CN" altLang="en-US" sz="5400" b="1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出真知</a:t>
              </a:r>
              <a:endParaRPr lang="zh-CN" altLang="en-US" sz="5400" b="1" spc="600" dirty="0">
                <a:solidFill>
                  <a:srgbClr val="122E66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157004" y="3629383"/>
              <a:ext cx="3877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rgbClr val="122E66"/>
                  </a:solidFill>
                  <a:latin typeface="Arial" panose="020B0604020202020204" pitchFamily="34" charset="0"/>
                  <a:cs typeface="+mn-ea"/>
                </a:rPr>
                <a:t>THANKS FOR LISTENING</a:t>
              </a:r>
              <a:endParaRPr lang="zh-CN" altLang="en-US" sz="1400" spc="600" dirty="0">
                <a:solidFill>
                  <a:srgbClr val="122E66"/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4435842" y="4130605"/>
            <a:ext cx="33197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长沙市口腔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医院丨牙体牙髓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科</a:t>
            </a:r>
            <a:endParaRPr lang="zh-CN" altLang="en-US" sz="1600" spc="300" dirty="0">
              <a:solidFill>
                <a:srgbClr val="122E66"/>
              </a:solidFill>
              <a:latin typeface="+mn-ea"/>
              <a:cs typeface="+mn-ea"/>
            </a:endParaRPr>
          </a:p>
        </p:txBody>
      </p:sp>
      <p:sp>
        <p:nvSpPr>
          <p:cNvPr id="65" name="流程图: 离页连接符 64"/>
          <p:cNvSpPr/>
          <p:nvPr/>
        </p:nvSpPr>
        <p:spPr>
          <a:xfrm>
            <a:off x="5519936" y="0"/>
            <a:ext cx="1152128" cy="1152128"/>
          </a:xfrm>
          <a:prstGeom prst="flowChartOffpageConnector">
            <a:avLst/>
          </a:pr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6" name="graduate-man-hand-drawn-person_57251"/>
          <p:cNvSpPr/>
          <p:nvPr/>
        </p:nvSpPr>
        <p:spPr>
          <a:xfrm>
            <a:off x="5877134" y="209548"/>
            <a:ext cx="437729" cy="609685"/>
          </a:xfrm>
          <a:custGeom>
            <a:avLst/>
            <a:gdLst>
              <a:gd name="connsiteX0" fmla="*/ 83809 w 434872"/>
              <a:gd name="connsiteY0" fmla="*/ 581569 h 605705"/>
              <a:gd name="connsiteX1" fmla="*/ 82167 w 434872"/>
              <a:gd name="connsiteY1" fmla="*/ 583678 h 605705"/>
              <a:gd name="connsiteX2" fmla="*/ 88503 w 434872"/>
              <a:gd name="connsiteY2" fmla="*/ 584146 h 605705"/>
              <a:gd name="connsiteX3" fmla="*/ 86156 w 434872"/>
              <a:gd name="connsiteY3" fmla="*/ 581569 h 605705"/>
              <a:gd name="connsiteX4" fmla="*/ 83809 w 434872"/>
              <a:gd name="connsiteY4" fmla="*/ 581569 h 605705"/>
              <a:gd name="connsiteX5" fmla="*/ 337748 w 434872"/>
              <a:gd name="connsiteY5" fmla="*/ 504504 h 605705"/>
              <a:gd name="connsiteX6" fmla="*/ 314252 w 434872"/>
              <a:gd name="connsiteY6" fmla="*/ 509630 h 605705"/>
              <a:gd name="connsiteX7" fmla="*/ 290786 w 434872"/>
              <a:gd name="connsiteY7" fmla="*/ 521112 h 605705"/>
              <a:gd name="connsiteX8" fmla="*/ 283746 w 434872"/>
              <a:gd name="connsiteY8" fmla="*/ 528611 h 605705"/>
              <a:gd name="connsiteX9" fmla="*/ 314487 w 434872"/>
              <a:gd name="connsiteY9" fmla="*/ 529783 h 605705"/>
              <a:gd name="connsiteX10" fmla="*/ 359308 w 434872"/>
              <a:gd name="connsiteY10" fmla="*/ 510802 h 605705"/>
              <a:gd name="connsiteX11" fmla="*/ 337748 w 434872"/>
              <a:gd name="connsiteY11" fmla="*/ 504504 h 605705"/>
              <a:gd name="connsiteX12" fmla="*/ 88737 w 434872"/>
              <a:gd name="connsiteY12" fmla="*/ 451049 h 605705"/>
              <a:gd name="connsiteX13" fmla="*/ 70668 w 434872"/>
              <a:gd name="connsiteY13" fmla="*/ 462999 h 605705"/>
              <a:gd name="connsiteX14" fmla="*/ 72076 w 434872"/>
              <a:gd name="connsiteY14" fmla="*/ 462296 h 605705"/>
              <a:gd name="connsiteX15" fmla="*/ 88972 w 434872"/>
              <a:gd name="connsiteY15" fmla="*/ 451517 h 605705"/>
              <a:gd name="connsiteX16" fmla="*/ 88737 w 434872"/>
              <a:gd name="connsiteY16" fmla="*/ 451049 h 605705"/>
              <a:gd name="connsiteX17" fmla="*/ 109153 w 434872"/>
              <a:gd name="connsiteY17" fmla="*/ 408635 h 605705"/>
              <a:gd name="connsiteX18" fmla="*/ 117367 w 434872"/>
              <a:gd name="connsiteY18" fmla="*/ 409104 h 605705"/>
              <a:gd name="connsiteX19" fmla="*/ 195511 w 434872"/>
              <a:gd name="connsiteY19" fmla="*/ 466280 h 605705"/>
              <a:gd name="connsiteX20" fmla="*/ 180023 w 434872"/>
              <a:gd name="connsiteY20" fmla="*/ 430428 h 605705"/>
              <a:gd name="connsiteX21" fmla="*/ 187532 w 434872"/>
              <a:gd name="connsiteY21" fmla="*/ 413556 h 605705"/>
              <a:gd name="connsiteX22" fmla="*/ 191052 w 434872"/>
              <a:gd name="connsiteY22" fmla="*/ 413322 h 605705"/>
              <a:gd name="connsiteX23" fmla="*/ 191521 w 434872"/>
              <a:gd name="connsiteY23" fmla="*/ 412619 h 605705"/>
              <a:gd name="connsiteX24" fmla="*/ 219212 w 434872"/>
              <a:gd name="connsiteY24" fmla="*/ 410510 h 605705"/>
              <a:gd name="connsiteX25" fmla="*/ 244087 w 434872"/>
              <a:gd name="connsiteY25" fmla="*/ 410744 h 605705"/>
              <a:gd name="connsiteX26" fmla="*/ 252535 w 434872"/>
              <a:gd name="connsiteY26" fmla="*/ 421523 h 605705"/>
              <a:gd name="connsiteX27" fmla="*/ 233527 w 434872"/>
              <a:gd name="connsiteY27" fmla="*/ 464405 h 605705"/>
              <a:gd name="connsiteX28" fmla="*/ 295948 w 434872"/>
              <a:gd name="connsiteY28" fmla="*/ 417305 h 605705"/>
              <a:gd name="connsiteX29" fmla="*/ 306508 w 434872"/>
              <a:gd name="connsiteY29" fmla="*/ 412150 h 605705"/>
              <a:gd name="connsiteX30" fmla="*/ 344524 w 434872"/>
              <a:gd name="connsiteY30" fmla="*/ 416837 h 605705"/>
              <a:gd name="connsiteX31" fmla="*/ 412578 w 434872"/>
              <a:gd name="connsiteY31" fmla="*/ 445190 h 605705"/>
              <a:gd name="connsiteX32" fmla="*/ 420556 w 434872"/>
              <a:gd name="connsiteY32" fmla="*/ 591411 h 605705"/>
              <a:gd name="connsiteX33" fmla="*/ 411404 w 434872"/>
              <a:gd name="connsiteY33" fmla="*/ 600549 h 605705"/>
              <a:gd name="connsiteX34" fmla="*/ 7543 w 434872"/>
              <a:gd name="connsiteY34" fmla="*/ 592582 h 605705"/>
              <a:gd name="connsiteX35" fmla="*/ 737 w 434872"/>
              <a:gd name="connsiteY35" fmla="*/ 583678 h 605705"/>
              <a:gd name="connsiteX36" fmla="*/ 10359 w 434872"/>
              <a:gd name="connsiteY36" fmla="*/ 466514 h 605705"/>
              <a:gd name="connsiteX37" fmla="*/ 104929 w 434872"/>
              <a:gd name="connsiteY37" fmla="*/ 409104 h 605705"/>
              <a:gd name="connsiteX38" fmla="*/ 109153 w 434872"/>
              <a:gd name="connsiteY38" fmla="*/ 408635 h 605705"/>
              <a:gd name="connsiteX39" fmla="*/ 303187 w 434872"/>
              <a:gd name="connsiteY39" fmla="*/ 227980 h 605705"/>
              <a:gd name="connsiteX40" fmla="*/ 205113 w 434872"/>
              <a:gd name="connsiteY40" fmla="*/ 235947 h 605705"/>
              <a:gd name="connsiteX41" fmla="*/ 119005 w 434872"/>
              <a:gd name="connsiteY41" fmla="*/ 235244 h 605705"/>
              <a:gd name="connsiteX42" fmla="*/ 125340 w 434872"/>
              <a:gd name="connsiteY42" fmla="*/ 264531 h 605705"/>
              <a:gd name="connsiteX43" fmla="*/ 175785 w 434872"/>
              <a:gd name="connsiteY43" fmla="*/ 353097 h 605705"/>
              <a:gd name="connsiteX44" fmla="*/ 286764 w 434872"/>
              <a:gd name="connsiteY44" fmla="*/ 322872 h 605705"/>
              <a:gd name="connsiteX45" fmla="*/ 301780 w 434872"/>
              <a:gd name="connsiteY45" fmla="*/ 239461 h 605705"/>
              <a:gd name="connsiteX46" fmla="*/ 303187 w 434872"/>
              <a:gd name="connsiteY46" fmla="*/ 227980 h 605705"/>
              <a:gd name="connsiteX47" fmla="*/ 216581 w 434872"/>
              <a:gd name="connsiteY47" fmla="*/ 118943 h 605705"/>
              <a:gd name="connsiteX48" fmla="*/ 347063 w 434872"/>
              <a:gd name="connsiteY48" fmla="*/ 119968 h 605705"/>
              <a:gd name="connsiteX49" fmla="*/ 354336 w 434872"/>
              <a:gd name="connsiteY49" fmla="*/ 134729 h 605705"/>
              <a:gd name="connsiteX50" fmla="*/ 347063 w 434872"/>
              <a:gd name="connsiteY50" fmla="*/ 144335 h 605705"/>
              <a:gd name="connsiteX51" fmla="*/ 346828 w 434872"/>
              <a:gd name="connsiteY51" fmla="*/ 178074 h 605705"/>
              <a:gd name="connsiteX52" fmla="*/ 345420 w 434872"/>
              <a:gd name="connsiteY52" fmla="*/ 197287 h 605705"/>
              <a:gd name="connsiteX53" fmla="*/ 322662 w 434872"/>
              <a:gd name="connsiteY53" fmla="*/ 220014 h 605705"/>
              <a:gd name="connsiteX54" fmla="*/ 320081 w 434872"/>
              <a:gd name="connsiteY54" fmla="*/ 239461 h 605705"/>
              <a:gd name="connsiteX55" fmla="*/ 306003 w 434872"/>
              <a:gd name="connsiteY55" fmla="*/ 326152 h 605705"/>
              <a:gd name="connsiteX56" fmla="*/ 191036 w 434872"/>
              <a:gd name="connsiteY56" fmla="*/ 385196 h 605705"/>
              <a:gd name="connsiteX57" fmla="*/ 118067 w 434872"/>
              <a:gd name="connsiteY57" fmla="*/ 296162 h 605705"/>
              <a:gd name="connsiteX58" fmla="*/ 102816 w 434872"/>
              <a:gd name="connsiteY58" fmla="*/ 230323 h 605705"/>
              <a:gd name="connsiteX59" fmla="*/ 94604 w 434872"/>
              <a:gd name="connsiteY59" fmla="*/ 226106 h 605705"/>
              <a:gd name="connsiteX60" fmla="*/ 76538 w 434872"/>
              <a:gd name="connsiteY60" fmla="*/ 143867 h 605705"/>
              <a:gd name="connsiteX61" fmla="*/ 77241 w 434872"/>
              <a:gd name="connsiteY61" fmla="*/ 134026 h 605705"/>
              <a:gd name="connsiteX62" fmla="*/ 86392 w 434872"/>
              <a:gd name="connsiteY62" fmla="*/ 131683 h 605705"/>
              <a:gd name="connsiteX63" fmla="*/ 86627 w 434872"/>
              <a:gd name="connsiteY63" fmla="*/ 132152 h 605705"/>
              <a:gd name="connsiteX64" fmla="*/ 216581 w 434872"/>
              <a:gd name="connsiteY64" fmla="*/ 118943 h 605705"/>
              <a:gd name="connsiteX65" fmla="*/ 210722 w 434872"/>
              <a:gd name="connsiteY65" fmla="*/ 19876 h 605705"/>
              <a:gd name="connsiteX66" fmla="*/ 201804 w 434872"/>
              <a:gd name="connsiteY66" fmla="*/ 21048 h 605705"/>
              <a:gd name="connsiteX67" fmla="*/ 209783 w 434872"/>
              <a:gd name="connsiteY67" fmla="*/ 22454 h 605705"/>
              <a:gd name="connsiteX68" fmla="*/ 210722 w 434872"/>
              <a:gd name="connsiteY68" fmla="*/ 19876 h 605705"/>
              <a:gd name="connsiteX69" fmla="*/ 197815 w 434872"/>
              <a:gd name="connsiteY69" fmla="*/ 2064 h 605705"/>
              <a:gd name="connsiteX70" fmla="*/ 374759 w 434872"/>
              <a:gd name="connsiteY70" fmla="*/ 90186 h 605705"/>
              <a:gd name="connsiteX71" fmla="*/ 378983 w 434872"/>
              <a:gd name="connsiteY71" fmla="*/ 99795 h 605705"/>
              <a:gd name="connsiteX72" fmla="*/ 394237 w 434872"/>
              <a:gd name="connsiteY72" fmla="*/ 175260 h 605705"/>
              <a:gd name="connsiteX73" fmla="*/ 396819 w 434872"/>
              <a:gd name="connsiteY73" fmla="*/ 213696 h 605705"/>
              <a:gd name="connsiteX74" fmla="*/ 395645 w 434872"/>
              <a:gd name="connsiteY74" fmla="*/ 240648 h 605705"/>
              <a:gd name="connsiteX75" fmla="*/ 400339 w 434872"/>
              <a:gd name="connsiteY75" fmla="*/ 247210 h 605705"/>
              <a:gd name="connsiteX76" fmla="*/ 398696 w 434872"/>
              <a:gd name="connsiteY76" fmla="*/ 256351 h 605705"/>
              <a:gd name="connsiteX77" fmla="*/ 385554 w 434872"/>
              <a:gd name="connsiteY77" fmla="*/ 261741 h 605705"/>
              <a:gd name="connsiteX78" fmla="*/ 378983 w 434872"/>
              <a:gd name="connsiteY78" fmla="*/ 242757 h 605705"/>
              <a:gd name="connsiteX79" fmla="*/ 377575 w 434872"/>
              <a:gd name="connsiteY79" fmla="*/ 194478 h 605705"/>
              <a:gd name="connsiteX80" fmla="*/ 368658 w 434872"/>
              <a:gd name="connsiteY80" fmla="*/ 109638 h 605705"/>
              <a:gd name="connsiteX81" fmla="*/ 359740 w 434872"/>
              <a:gd name="connsiteY81" fmla="*/ 107763 h 605705"/>
              <a:gd name="connsiteX82" fmla="*/ 355751 w 434872"/>
              <a:gd name="connsiteY82" fmla="*/ 106826 h 605705"/>
              <a:gd name="connsiteX83" fmla="*/ 340027 w 434872"/>
              <a:gd name="connsiteY83" fmla="*/ 104482 h 605705"/>
              <a:gd name="connsiteX84" fmla="*/ 312570 w 434872"/>
              <a:gd name="connsiteY84" fmla="*/ 102607 h 605705"/>
              <a:gd name="connsiteX85" fmla="*/ 235128 w 434872"/>
              <a:gd name="connsiteY85" fmla="*/ 99795 h 605705"/>
              <a:gd name="connsiteX86" fmla="*/ 40583 w 434872"/>
              <a:gd name="connsiteY86" fmla="*/ 109404 h 605705"/>
              <a:gd name="connsiteX87" fmla="*/ 33543 w 434872"/>
              <a:gd name="connsiteY87" fmla="*/ 92998 h 605705"/>
              <a:gd name="connsiteX88" fmla="*/ 34012 w 434872"/>
              <a:gd name="connsiteY88" fmla="*/ 90654 h 605705"/>
              <a:gd name="connsiteX89" fmla="*/ 62642 w 434872"/>
              <a:gd name="connsiteY89" fmla="*/ 75421 h 605705"/>
              <a:gd name="connsiteX90" fmla="*/ 109812 w 434872"/>
              <a:gd name="connsiteY90" fmla="*/ 48000 h 605705"/>
              <a:gd name="connsiteX91" fmla="*/ 197815 w 434872"/>
              <a:gd name="connsiteY91" fmla="*/ 2064 h 605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872" h="605705">
                <a:moveTo>
                  <a:pt x="83809" y="581569"/>
                </a:moveTo>
                <a:cubicBezTo>
                  <a:pt x="83340" y="582272"/>
                  <a:pt x="82871" y="582975"/>
                  <a:pt x="82167" y="583678"/>
                </a:cubicBezTo>
                <a:cubicBezTo>
                  <a:pt x="84279" y="583678"/>
                  <a:pt x="86391" y="583912"/>
                  <a:pt x="88503" y="584146"/>
                </a:cubicBezTo>
                <a:cubicBezTo>
                  <a:pt x="87564" y="583209"/>
                  <a:pt x="86860" y="582506"/>
                  <a:pt x="86156" y="581569"/>
                </a:cubicBezTo>
                <a:cubicBezTo>
                  <a:pt x="85452" y="581569"/>
                  <a:pt x="84748" y="581569"/>
                  <a:pt x="83809" y="581569"/>
                </a:cubicBezTo>
                <a:close/>
                <a:moveTo>
                  <a:pt x="337748" y="504504"/>
                </a:moveTo>
                <a:cubicBezTo>
                  <a:pt x="328860" y="505236"/>
                  <a:pt x="319649" y="507872"/>
                  <a:pt x="314252" y="509630"/>
                </a:cubicBezTo>
                <a:cubicBezTo>
                  <a:pt x="306039" y="512442"/>
                  <a:pt x="297826" y="515723"/>
                  <a:pt x="290786" y="521112"/>
                </a:cubicBezTo>
                <a:cubicBezTo>
                  <a:pt x="287735" y="523221"/>
                  <a:pt x="285623" y="526033"/>
                  <a:pt x="283746" y="528611"/>
                </a:cubicBezTo>
                <a:cubicBezTo>
                  <a:pt x="294071" y="527674"/>
                  <a:pt x="306039" y="529548"/>
                  <a:pt x="314487" y="529783"/>
                </a:cubicBezTo>
                <a:cubicBezTo>
                  <a:pt x="323404" y="530251"/>
                  <a:pt x="374796" y="532829"/>
                  <a:pt x="359308" y="510802"/>
                </a:cubicBezTo>
                <a:cubicBezTo>
                  <a:pt x="355201" y="504944"/>
                  <a:pt x="346636" y="503772"/>
                  <a:pt x="337748" y="504504"/>
                </a:cubicBezTo>
                <a:close/>
                <a:moveTo>
                  <a:pt x="88737" y="451049"/>
                </a:moveTo>
                <a:cubicBezTo>
                  <a:pt x="82167" y="454798"/>
                  <a:pt x="76065" y="458547"/>
                  <a:pt x="70668" y="462999"/>
                </a:cubicBezTo>
                <a:cubicBezTo>
                  <a:pt x="71137" y="462765"/>
                  <a:pt x="71607" y="462531"/>
                  <a:pt x="72076" y="462296"/>
                </a:cubicBezTo>
                <a:cubicBezTo>
                  <a:pt x="77239" y="458313"/>
                  <a:pt x="82871" y="454798"/>
                  <a:pt x="88972" y="451517"/>
                </a:cubicBezTo>
                <a:cubicBezTo>
                  <a:pt x="88737" y="451517"/>
                  <a:pt x="88737" y="451283"/>
                  <a:pt x="88737" y="451049"/>
                </a:cubicBezTo>
                <a:close/>
                <a:moveTo>
                  <a:pt x="109153" y="408635"/>
                </a:moveTo>
                <a:cubicBezTo>
                  <a:pt x="111031" y="406292"/>
                  <a:pt x="114785" y="405589"/>
                  <a:pt x="117367" y="409104"/>
                </a:cubicBezTo>
                <a:cubicBezTo>
                  <a:pt x="137079" y="435583"/>
                  <a:pt x="162657" y="460890"/>
                  <a:pt x="195511" y="466280"/>
                </a:cubicBezTo>
                <a:cubicBezTo>
                  <a:pt x="185185" y="458313"/>
                  <a:pt x="179553" y="444253"/>
                  <a:pt x="180023" y="430428"/>
                </a:cubicBezTo>
                <a:cubicBezTo>
                  <a:pt x="180257" y="424570"/>
                  <a:pt x="180257" y="415431"/>
                  <a:pt x="187532" y="413556"/>
                </a:cubicBezTo>
                <a:cubicBezTo>
                  <a:pt x="188705" y="413322"/>
                  <a:pt x="189879" y="413322"/>
                  <a:pt x="191052" y="413322"/>
                </a:cubicBezTo>
                <a:cubicBezTo>
                  <a:pt x="191287" y="413087"/>
                  <a:pt x="191287" y="412853"/>
                  <a:pt x="191521" y="412619"/>
                </a:cubicBezTo>
                <a:cubicBezTo>
                  <a:pt x="197857" y="407229"/>
                  <a:pt x="211468" y="410510"/>
                  <a:pt x="219212" y="410510"/>
                </a:cubicBezTo>
                <a:cubicBezTo>
                  <a:pt x="227426" y="410510"/>
                  <a:pt x="235874" y="410510"/>
                  <a:pt x="244087" y="410744"/>
                </a:cubicBezTo>
                <a:cubicBezTo>
                  <a:pt x="250188" y="410744"/>
                  <a:pt x="253474" y="416134"/>
                  <a:pt x="252535" y="421523"/>
                </a:cubicBezTo>
                <a:cubicBezTo>
                  <a:pt x="250423" y="434646"/>
                  <a:pt x="244791" y="453626"/>
                  <a:pt x="233527" y="464405"/>
                </a:cubicBezTo>
                <a:cubicBezTo>
                  <a:pt x="260983" y="458313"/>
                  <a:pt x="285388" y="444487"/>
                  <a:pt x="295948" y="417305"/>
                </a:cubicBezTo>
                <a:cubicBezTo>
                  <a:pt x="297591" y="413087"/>
                  <a:pt x="302754" y="410979"/>
                  <a:pt x="306508" y="412150"/>
                </a:cubicBezTo>
                <a:cubicBezTo>
                  <a:pt x="317772" y="407698"/>
                  <a:pt x="335372" y="414025"/>
                  <a:pt x="344524" y="416837"/>
                </a:cubicBezTo>
                <a:cubicBezTo>
                  <a:pt x="367287" y="423632"/>
                  <a:pt x="392866" y="431599"/>
                  <a:pt x="412578" y="445190"/>
                </a:cubicBezTo>
                <a:cubicBezTo>
                  <a:pt x="456695" y="475184"/>
                  <a:pt x="421964" y="549935"/>
                  <a:pt x="420556" y="591411"/>
                </a:cubicBezTo>
                <a:cubicBezTo>
                  <a:pt x="420322" y="596331"/>
                  <a:pt x="416567" y="600549"/>
                  <a:pt x="411404" y="600549"/>
                </a:cubicBezTo>
                <a:cubicBezTo>
                  <a:pt x="276940" y="601018"/>
                  <a:pt x="141068" y="616015"/>
                  <a:pt x="7543" y="592582"/>
                </a:cubicBezTo>
                <a:cubicBezTo>
                  <a:pt x="3553" y="591879"/>
                  <a:pt x="737" y="587427"/>
                  <a:pt x="737" y="583678"/>
                </a:cubicBezTo>
                <a:cubicBezTo>
                  <a:pt x="737" y="546185"/>
                  <a:pt x="-3956" y="502132"/>
                  <a:pt x="10359" y="466514"/>
                </a:cubicBezTo>
                <a:cubicBezTo>
                  <a:pt x="24908" y="430662"/>
                  <a:pt x="77239" y="429490"/>
                  <a:pt x="104929" y="409104"/>
                </a:cubicBezTo>
                <a:cubicBezTo>
                  <a:pt x="106103" y="408167"/>
                  <a:pt x="107745" y="408167"/>
                  <a:pt x="109153" y="408635"/>
                </a:cubicBezTo>
                <a:close/>
                <a:moveTo>
                  <a:pt x="303187" y="227980"/>
                </a:moveTo>
                <a:cubicBezTo>
                  <a:pt x="271982" y="237352"/>
                  <a:pt x="237023" y="235009"/>
                  <a:pt x="205113" y="235947"/>
                </a:cubicBezTo>
                <a:cubicBezTo>
                  <a:pt x="180008" y="236649"/>
                  <a:pt x="146691" y="241101"/>
                  <a:pt x="119005" y="235244"/>
                </a:cubicBezTo>
                <a:cubicBezTo>
                  <a:pt x="119474" y="245319"/>
                  <a:pt x="122055" y="255159"/>
                  <a:pt x="125340" y="264531"/>
                </a:cubicBezTo>
                <a:cubicBezTo>
                  <a:pt x="136133" y="295927"/>
                  <a:pt x="151618" y="329901"/>
                  <a:pt x="175785" y="353097"/>
                </a:cubicBezTo>
                <a:cubicBezTo>
                  <a:pt x="210510" y="386133"/>
                  <a:pt x="265882" y="361297"/>
                  <a:pt x="286764" y="322872"/>
                </a:cubicBezTo>
                <a:cubicBezTo>
                  <a:pt x="301310" y="296396"/>
                  <a:pt x="300841" y="268749"/>
                  <a:pt x="301780" y="239461"/>
                </a:cubicBezTo>
                <a:cubicBezTo>
                  <a:pt x="301780" y="235947"/>
                  <a:pt x="302484" y="231963"/>
                  <a:pt x="303187" y="227980"/>
                </a:cubicBezTo>
                <a:close/>
                <a:moveTo>
                  <a:pt x="216581" y="118943"/>
                </a:moveTo>
                <a:cubicBezTo>
                  <a:pt x="260485" y="117098"/>
                  <a:pt x="304478" y="117625"/>
                  <a:pt x="347063" y="119968"/>
                </a:cubicBezTo>
                <a:cubicBezTo>
                  <a:pt x="355275" y="120437"/>
                  <a:pt x="357621" y="129574"/>
                  <a:pt x="354336" y="134729"/>
                </a:cubicBezTo>
                <a:cubicBezTo>
                  <a:pt x="355275" y="139181"/>
                  <a:pt x="352225" y="144569"/>
                  <a:pt x="347063" y="144335"/>
                </a:cubicBezTo>
                <a:cubicBezTo>
                  <a:pt x="354336" y="144804"/>
                  <a:pt x="346828" y="169405"/>
                  <a:pt x="346828" y="178074"/>
                </a:cubicBezTo>
                <a:cubicBezTo>
                  <a:pt x="346828" y="184635"/>
                  <a:pt x="347063" y="190961"/>
                  <a:pt x="345420" y="197287"/>
                </a:cubicBezTo>
                <a:cubicBezTo>
                  <a:pt x="343074" y="207128"/>
                  <a:pt x="332281" y="214859"/>
                  <a:pt x="322662" y="220014"/>
                </a:cubicBezTo>
                <a:cubicBezTo>
                  <a:pt x="321723" y="227512"/>
                  <a:pt x="320315" y="234775"/>
                  <a:pt x="320081" y="239461"/>
                </a:cubicBezTo>
                <a:cubicBezTo>
                  <a:pt x="320081" y="268280"/>
                  <a:pt x="320315" y="300145"/>
                  <a:pt x="306003" y="326152"/>
                </a:cubicBezTo>
                <a:cubicBezTo>
                  <a:pt x="286998" y="361297"/>
                  <a:pt x="234442" y="403471"/>
                  <a:pt x="191036" y="385196"/>
                </a:cubicBezTo>
                <a:cubicBezTo>
                  <a:pt x="154903" y="370200"/>
                  <a:pt x="133083" y="330369"/>
                  <a:pt x="118067" y="296162"/>
                </a:cubicBezTo>
                <a:cubicBezTo>
                  <a:pt x="110559" y="279058"/>
                  <a:pt x="99062" y="251879"/>
                  <a:pt x="102816" y="230323"/>
                </a:cubicBezTo>
                <a:cubicBezTo>
                  <a:pt x="100000" y="228917"/>
                  <a:pt x="97185" y="227746"/>
                  <a:pt x="94604" y="226106"/>
                </a:cubicBezTo>
                <a:cubicBezTo>
                  <a:pt x="68091" y="210408"/>
                  <a:pt x="74191" y="172451"/>
                  <a:pt x="76538" y="143867"/>
                </a:cubicBezTo>
                <a:cubicBezTo>
                  <a:pt x="73018" y="141289"/>
                  <a:pt x="72549" y="135432"/>
                  <a:pt x="77241" y="134026"/>
                </a:cubicBezTo>
                <a:cubicBezTo>
                  <a:pt x="77476" y="129574"/>
                  <a:pt x="84046" y="126997"/>
                  <a:pt x="86392" y="131683"/>
                </a:cubicBezTo>
                <a:cubicBezTo>
                  <a:pt x="86392" y="131917"/>
                  <a:pt x="86627" y="131917"/>
                  <a:pt x="86627" y="132152"/>
                </a:cubicBezTo>
                <a:cubicBezTo>
                  <a:pt x="128860" y="125006"/>
                  <a:pt x="172676" y="120788"/>
                  <a:pt x="216581" y="118943"/>
                </a:cubicBezTo>
                <a:close/>
                <a:moveTo>
                  <a:pt x="210722" y="19876"/>
                </a:moveTo>
                <a:cubicBezTo>
                  <a:pt x="207671" y="20110"/>
                  <a:pt x="204855" y="20579"/>
                  <a:pt x="201804" y="21048"/>
                </a:cubicBezTo>
                <a:cubicBezTo>
                  <a:pt x="204620" y="21517"/>
                  <a:pt x="207202" y="21985"/>
                  <a:pt x="209783" y="22454"/>
                </a:cubicBezTo>
                <a:cubicBezTo>
                  <a:pt x="210018" y="21517"/>
                  <a:pt x="210252" y="20579"/>
                  <a:pt x="210722" y="19876"/>
                </a:cubicBezTo>
                <a:close/>
                <a:moveTo>
                  <a:pt x="197815" y="2064"/>
                </a:moveTo>
                <a:cubicBezTo>
                  <a:pt x="266809" y="-12935"/>
                  <a:pt x="322427" y="57609"/>
                  <a:pt x="374759" y="90186"/>
                </a:cubicBezTo>
                <a:cubicBezTo>
                  <a:pt x="378749" y="92764"/>
                  <a:pt x="379687" y="96513"/>
                  <a:pt x="378983" y="99795"/>
                </a:cubicBezTo>
                <a:cubicBezTo>
                  <a:pt x="387901" y="123934"/>
                  <a:pt x="392125" y="149714"/>
                  <a:pt x="394237" y="175260"/>
                </a:cubicBezTo>
                <a:cubicBezTo>
                  <a:pt x="395410" y="188150"/>
                  <a:pt x="396349" y="201040"/>
                  <a:pt x="396819" y="213696"/>
                </a:cubicBezTo>
                <a:cubicBezTo>
                  <a:pt x="396819" y="216743"/>
                  <a:pt x="395645" y="231742"/>
                  <a:pt x="395645" y="240648"/>
                </a:cubicBezTo>
                <a:cubicBezTo>
                  <a:pt x="398461" y="241585"/>
                  <a:pt x="400808" y="243695"/>
                  <a:pt x="400339" y="247210"/>
                </a:cubicBezTo>
                <a:cubicBezTo>
                  <a:pt x="400104" y="250491"/>
                  <a:pt x="399635" y="253069"/>
                  <a:pt x="398696" y="256351"/>
                </a:cubicBezTo>
                <a:cubicBezTo>
                  <a:pt x="397288" y="261507"/>
                  <a:pt x="390482" y="265022"/>
                  <a:pt x="385554" y="261741"/>
                </a:cubicBezTo>
                <a:cubicBezTo>
                  <a:pt x="377810" y="256351"/>
                  <a:pt x="378983" y="252132"/>
                  <a:pt x="378983" y="242757"/>
                </a:cubicBezTo>
                <a:cubicBezTo>
                  <a:pt x="378749" y="226586"/>
                  <a:pt x="378514" y="210649"/>
                  <a:pt x="377575" y="194478"/>
                </a:cubicBezTo>
                <a:cubicBezTo>
                  <a:pt x="375933" y="166120"/>
                  <a:pt x="371474" y="137762"/>
                  <a:pt x="368658" y="109638"/>
                </a:cubicBezTo>
                <a:cubicBezTo>
                  <a:pt x="365607" y="111279"/>
                  <a:pt x="361852" y="110341"/>
                  <a:pt x="359740" y="107763"/>
                </a:cubicBezTo>
                <a:cubicBezTo>
                  <a:pt x="359036" y="107529"/>
                  <a:pt x="357863" y="107294"/>
                  <a:pt x="355751" y="106826"/>
                </a:cubicBezTo>
                <a:cubicBezTo>
                  <a:pt x="350588" y="105888"/>
                  <a:pt x="345190" y="104951"/>
                  <a:pt x="340027" y="104482"/>
                </a:cubicBezTo>
                <a:cubicBezTo>
                  <a:pt x="330875" y="103544"/>
                  <a:pt x="321723" y="103076"/>
                  <a:pt x="312570" y="102607"/>
                </a:cubicBezTo>
                <a:cubicBezTo>
                  <a:pt x="286756" y="101670"/>
                  <a:pt x="260942" y="99795"/>
                  <a:pt x="235128" y="99795"/>
                </a:cubicBezTo>
                <a:cubicBezTo>
                  <a:pt x="170592" y="99326"/>
                  <a:pt x="104649" y="97685"/>
                  <a:pt x="40583" y="109404"/>
                </a:cubicBezTo>
                <a:cubicBezTo>
                  <a:pt x="30257" y="111279"/>
                  <a:pt x="25329" y="96982"/>
                  <a:pt x="33543" y="92998"/>
                </a:cubicBezTo>
                <a:cubicBezTo>
                  <a:pt x="33543" y="92061"/>
                  <a:pt x="33543" y="91357"/>
                  <a:pt x="34012" y="90654"/>
                </a:cubicBezTo>
                <a:cubicBezTo>
                  <a:pt x="40583" y="81749"/>
                  <a:pt x="53255" y="80342"/>
                  <a:pt x="62642" y="75421"/>
                </a:cubicBezTo>
                <a:cubicBezTo>
                  <a:pt x="78835" y="66983"/>
                  <a:pt x="94323" y="57375"/>
                  <a:pt x="109812" y="48000"/>
                </a:cubicBezTo>
                <a:cubicBezTo>
                  <a:pt x="136565" y="31594"/>
                  <a:pt x="166603" y="8861"/>
                  <a:pt x="197815" y="20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4139958" y="4913704"/>
            <a:ext cx="2465948" cy="379104"/>
            <a:chOff x="297350" y="5605502"/>
            <a:chExt cx="2465948" cy="379104"/>
          </a:xfrm>
        </p:grpSpPr>
        <p:sp>
          <p:nvSpPr>
            <p:cNvPr id="72" name="文本框 71"/>
            <p:cNvSpPr txBox="1"/>
            <p:nvPr/>
          </p:nvSpPr>
          <p:spPr>
            <a:xfrm>
              <a:off x="1780318" y="5616306"/>
              <a:ext cx="9829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spc="300" dirty="0">
                  <a:solidFill>
                    <a:srgbClr val="122E66"/>
                  </a:solidFill>
                  <a:latin typeface="+mn-ea"/>
                  <a:cs typeface="+mn-ea"/>
                </a:rPr>
                <a:t>赵晨曦</a:t>
              </a:r>
              <a:endParaRPr lang="zh-CN" altLang="en-US" b="1" spc="300" dirty="0">
                <a:solidFill>
                  <a:srgbClr val="122E66"/>
                </a:solidFill>
                <a:latin typeface="+mn-ea"/>
                <a:cs typeface="+mn-ea"/>
              </a:endParaRPr>
            </a:p>
          </p:txBody>
        </p:sp>
        <p:pic>
          <p:nvPicPr>
            <p:cNvPr id="70" name="图形 6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350" y="5605502"/>
              <a:ext cx="369332" cy="369332"/>
            </a:xfrm>
            <a:prstGeom prst="rect">
              <a:avLst/>
            </a:prstGeom>
          </p:spPr>
        </p:pic>
      </p:grpSp>
      <p:pic>
        <p:nvPicPr>
          <p:cNvPr id="3" name="图片 2" descr="changsha_stomatological_hospital_transpar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615" y="1268730"/>
            <a:ext cx="5185410" cy="11042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SPECIAL_SOURCE" val="bdnull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DIAGRAM_VIRTUALLY_FRAME" val="{&quot;height&quot;:344.9,&quot;left&quot;:260.1,&quot;top&quot;:87.75,&quot;width&quot;:609.95}"/>
</p:tagLst>
</file>

<file path=ppt/tags/tag434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35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36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DIAGRAM_VIRTUALLY_FRAME" val="{&quot;height&quot;:344.9,&quot;left&quot;:260.1,&quot;top&quot;:87.75,&quot;width&quot;:609.95}"/>
</p:tagLst>
</file>

<file path=ppt/tags/tag440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41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42.xml><?xml version="1.0" encoding="utf-8"?>
<p:tagLst xmlns:p="http://schemas.openxmlformats.org/presentationml/2006/main">
  <p:tag name="KSO_WM_BEAUTIFY_FLAG" val=""/>
  <p:tag name="KSO_WM_DIAGRAM_VIRTUALLY_FRAME" val="{&quot;height&quot;:344.9,&quot;left&quot;:260.1,&quot;top&quot;:87.75,&quot;width&quot;:609.95}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UNIT_TABLE_BEAUTIFY" val="smartTable{ffeb2589-ebe9-4eb8-b902-a81d174053dc}"/>
  <p:tag name="TABLE_ENDDRAG_ORIGIN_RECT" val="192*121"/>
  <p:tag name="TABLE_ENDDRAG_RECT" val="721*365*192*121"/>
</p:tagLst>
</file>

<file path=ppt/tags/tag4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i"/>
  <p:tag name="KSO_WM_UNIT_INDEX" val="1"/>
  <p:tag name="KSO_WM_UNIT_ID" val="diagram727_3*i*1"/>
  <p:tag name="KSO_WM_TEMPLATE_CATEGORY" val="diagram"/>
  <p:tag name="KSO_WM_TEMPLATE_INDEX" val="727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l_h_i"/>
  <p:tag name="KSO_WM_UNIT_INDEX" val="1_1_2"/>
  <p:tag name="KSO_WM_UNIT_ID" val="diagram727_3*l_h_i*1_1_2"/>
  <p:tag name="KSO_WM_TEMPLATE_CATEGORY" val="diagram"/>
  <p:tag name="KSO_WM_TEMPLATE_INDEX" val="72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l_h_i"/>
  <p:tag name="KSO_WM_UNIT_INDEX" val="1_1_3"/>
  <p:tag name="KSO_WM_UNIT_ID" val="diagram727_3*l_h_i*1_1_3"/>
  <p:tag name="KSO_WM_TEMPLATE_CATEGORY" val="diagram"/>
  <p:tag name="KSO_WM_TEMPLATE_INDEX" val="72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5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i"/>
  <p:tag name="KSO_WM_UNIT_INDEX" val="1"/>
  <p:tag name="KSO_WM_UNIT_ID" val="diagram727_3*i*1"/>
  <p:tag name="KSO_WM_TEMPLATE_CATEGORY" val="diagram"/>
  <p:tag name="KSO_WM_TEMPLATE_INDEX" val="727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l_h_i"/>
  <p:tag name="KSO_WM_UNIT_INDEX" val="1_1_2"/>
  <p:tag name="KSO_WM_UNIT_ID" val="diagram727_3*l_h_i*1_1_2"/>
  <p:tag name="KSO_WM_TEMPLATE_CATEGORY" val="diagram"/>
  <p:tag name="KSO_WM_TEMPLATE_INDEX" val="727"/>
  <p:tag name="KSO_WM_UNIT_LAYERLEVEL" val="1_1_1"/>
  <p:tag name="KSO_WM_TAG_VERSION" val="1.0"/>
  <p:tag name="KSO_WM_BEAUTIFY_FLAG" val="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l1-1"/>
  <p:tag name="KSO_WM_UNIT_TYPE" val="l_h_i"/>
  <p:tag name="KSO_WM_UNIT_INDEX" val="1_1_3"/>
  <p:tag name="KSO_WM_UNIT_ID" val="diagram727_3*l_h_i*1_1_3"/>
  <p:tag name="KSO_WM_TEMPLATE_CATEGORY" val="diagram"/>
  <p:tag name="KSO_WM_TEMPLATE_INDEX" val="727"/>
  <p:tag name="KSO_WM_UNIT_LAYERLEVEL" val="1_1_1"/>
  <p:tag name="KSO_WM_TAG_VERSION" val="1.0"/>
  <p:tag name="KSO_WM_BEAUTIFY_FLAG" val="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6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DIAGRAM_VIRTUALLY_FRAME" val="{&quot;height&quot;:453.2877165354331,&quot;left&quot;:190.5,&quot;top&quot;:85.1,&quot;width&quot;:756}"/>
</p:tagLst>
</file>

<file path=ppt/tags/tag614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15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0"/>
  <p:tag name="KSO_WM_UNIT_ID" val="custom20174105_26*i*0"/>
  <p:tag name="KSO_WM_TEMPLATE_CATEGORY" val="custom"/>
  <p:tag name="KSO_WM_TEMPLATE_INDEX" val="20174105"/>
  <p:tag name="KSO_WM_UNIT_LAYERLEVEL" val="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custom20174105_26*m_h_i*1_1_1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custom20174105_26*m_h_i*1_1_2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3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19.xml><?xml version="1.0" encoding="utf-8"?>
<p:tagLst xmlns:p="http://schemas.openxmlformats.org/presentationml/2006/main">
  <p:tag name="KSO_WM_UNIT_ISCONTENTSTITLE" val="0"/>
  <p:tag name="KSO_WM_UNIT_ISNUMDGMTITLE" val="0"/>
  <p:tag name="KSO_WM_UNIT_PRESET_TEXT" val="2010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custom20174105_26*m_h_a*1_1_1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custom20174105_26*m_h_i*1_1_4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custom20174105_26*m_h_i*1_3_4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5"/>
  <p:tag name="KSO_WM_UNIT_ID" val="custom20174105_26*m_h_i*1_3_5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custom20174105_26*m_h_i*1_5_2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custom20174105_26*m_h_i*1_5_3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3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4"/>
  <p:tag name="KSO_WM_UNIT_ID" val="custom20174105_26*m_h_i*1_5_4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custom20174105_26*m_h_i*1_4_1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custom20174105_26*m_h_i*1_4_2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3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custom20174105_26*m_h_i*1_2_1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custom20174105_26*m_h_i*1_2_2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3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1"/>
  <p:tag name="KSO_WM_UNIT_ID" val="custom20174105_26*m_h_i*1_6_1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custom20174105_26*m_h_i*1_6_2"/>
  <p:tag name="KSO_WM_TEMPLATE_CATEGORY" val="custom"/>
  <p:tag name="KSO_WM_TEMPLATE_INDEX" val="20174105"/>
  <p:tag name="KSO_WM_UNIT_LAYERLEVEL" val="1_1_1"/>
  <p:tag name="KSO_WM_TAG_VERSION" val="1.0"/>
  <p:tag name="KSO_WM_BEAUTIFY_FLAG" val=""/>
  <p:tag name="KSO_WM_UNIT_FILL_FORE_SCHEMECOLOR_INDEX" val="13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32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3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4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5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6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7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8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39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0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1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2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3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4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5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6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7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8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49.xml><?xml version="1.0" encoding="utf-8"?>
<p:tagLst xmlns:p="http://schemas.openxmlformats.org/presentationml/2006/main">
  <p:tag name="KSO_WM_BEAUTIFY_FLAG" val=""/>
  <p:tag name="KSO_WM_DIAGRAM_VIRTUALLY_FRAME" val="{&quot;height&quot;:453.2877165354331,&quot;left&quot;:190.5,&quot;top&quot;:85.1,&quot;width&quot;:756}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UNIT_COLOR_SCHEME_SHAPE_ID" val="14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194755_1*i*6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8.xml><?xml version="1.0" encoding="utf-8"?>
<p:tagLst xmlns:p="http://schemas.openxmlformats.org/presentationml/2006/main">
  <p:tag name="KSO_WM_UNIT_COLOR_SCHEME_SHAPE_ID" val="15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194755_1*i*4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UNIT_COLOR_SCHEME_SHAPE_ID" val="12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755_1*i*3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0.xml><?xml version="1.0" encoding="utf-8"?>
<p:tagLst xmlns:p="http://schemas.openxmlformats.org/presentationml/2006/main">
  <p:tag name="KSO_WM_UNIT_COLOR_SCHEME_SHAPE_ID" val="13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755_1*i*7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UNIT_COLOR_SCHEME_SHAPE_ID" val="14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194755_1*i*6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3.xml><?xml version="1.0" encoding="utf-8"?>
<p:tagLst xmlns:p="http://schemas.openxmlformats.org/presentationml/2006/main">
  <p:tag name="KSO_WM_UNIT_COLOR_SCHEME_SHAPE_ID" val="15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194755_1*i*4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4.xml><?xml version="1.0" encoding="utf-8"?>
<p:tagLst xmlns:p="http://schemas.openxmlformats.org/presentationml/2006/main">
  <p:tag name="KSO_WM_UNIT_COLOR_SCHEME_SHAPE_ID" val="12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755_1*i*3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5.xml><?xml version="1.0" encoding="utf-8"?>
<p:tagLst xmlns:p="http://schemas.openxmlformats.org/presentationml/2006/main">
  <p:tag name="KSO_WM_UNIT_COLOR_SCHEME_SHAPE_ID" val="13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755_1*i*7"/>
  <p:tag name="KSO_WM_TEMPLATE_CATEGORY" val="diagram"/>
  <p:tag name="KSO_WM_TEMPLATE_INDEX" val="20194755"/>
  <p:tag name="KSO_WM_UNIT_LAYERLEVEL" val="1"/>
  <p:tag name="KSO_WM_TAG_VERSION" val="1.0"/>
  <p:tag name="KSO_WM_BEAUTIFY_FLAG" val="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88.xml><?xml version="1.0" encoding="utf-8"?>
<p:tagLst xmlns:p="http://schemas.openxmlformats.org/presentationml/2006/main">
  <p:tag name="KSO_WM_SPECIAL_SOURCE" val="bdnull"/>
</p:tagLst>
</file>

<file path=ppt/tags/tag689.xml><?xml version="1.0" encoding="utf-8"?>
<p:tagLst xmlns:p="http://schemas.openxmlformats.org/presentationml/2006/main">
  <p:tag name="COMMONDATA" val="eyJoZGlkIjoiYWFjZGMxZDE5ODEyYWY2YWIwMjAxYzVkMzJmZjE0OWYifQ=="/>
  <p:tag name="KSO_WPP_MARK_KEY" val="14c36f27-41ba-4ea8-abf3-a6e5958107a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5581</Words>
  <Application>WPS 演示</Application>
  <PresentationFormat>宽屏</PresentationFormat>
  <Paragraphs>916</Paragraphs>
  <Slides>33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65" baseType="lpstr">
      <vt:lpstr>Arial</vt:lpstr>
      <vt:lpstr>宋体</vt:lpstr>
      <vt:lpstr>Wingdings</vt:lpstr>
      <vt:lpstr>Wingdings</vt:lpstr>
      <vt:lpstr>Calibri</vt:lpstr>
      <vt:lpstr>Times New Roman</vt:lpstr>
      <vt:lpstr>华光粗黑_CNKI</vt:lpstr>
      <vt:lpstr>黑体</vt:lpstr>
      <vt:lpstr>方正超粗黑简体</vt:lpstr>
      <vt:lpstr>微软雅黑</vt:lpstr>
      <vt:lpstr>Arial</vt:lpstr>
      <vt:lpstr>Perpetua Titling MT</vt:lpstr>
      <vt:lpstr>Impact</vt:lpstr>
      <vt:lpstr>Arial Unicode MS</vt:lpstr>
      <vt:lpstr>华光楷体_CNKI</vt:lpstr>
      <vt:lpstr>汉仪元隆黑-105W</vt:lpstr>
      <vt:lpstr>华文楷体</vt:lpstr>
      <vt:lpstr>华光楷体一_CNKI</vt:lpstr>
      <vt:lpstr>Times New Roman</vt:lpstr>
      <vt:lpstr>Calibri</vt:lpstr>
      <vt:lpstr>思源宋体 CN</vt:lpstr>
      <vt:lpstr>思源黑体 CN Heavy</vt:lpstr>
      <vt:lpstr>华光楷体_CNKI</vt:lpstr>
      <vt:lpstr>华光楷体一_CNKI</vt:lpstr>
      <vt:lpstr>华光粗黑_CNKI</vt:lpstr>
      <vt:lpstr>思源宋体 CN</vt:lpstr>
      <vt:lpstr>思源黑体 CN Heavy</vt:lpstr>
      <vt:lpstr>方正超粗黑简体</vt:lpstr>
      <vt:lpstr>汉仪元隆黑-105W</vt:lpstr>
      <vt:lpstr>KSOFBD29610E</vt:lpstr>
      <vt:lpstr>Segoe Print</vt:lpstr>
      <vt:lpstr>WPS</vt:lpstr>
      <vt:lpstr>基于SLC7A11/GSH/GPX4 信号通路 调控铁死亡探讨三七总皂苷 缓解口腔黏膜下纤维化的机制研究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80777</cp:lastModifiedBy>
  <cp:revision>201</cp:revision>
  <dcterms:created xsi:type="dcterms:W3CDTF">2019-06-19T02:08:00Z</dcterms:created>
  <dcterms:modified xsi:type="dcterms:W3CDTF">2026-10-04T14:31:49Z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E6004BA6570040D48C04C6E734EB0255_13</vt:lpwstr>
  </property>
</Properties>
</file>